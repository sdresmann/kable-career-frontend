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3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 2 — Building a Resume That Survives the Filter: Structure, Measurable Impact, and ATS Alignment" id="{81BCDB26-8A01-4436-B9D9-9CB523EF0920}">
          <p14:sldIdLst>
            <p14:sldId id="2561"/>
          </p14:sldIdLst>
        </p14:section>
        <p14:section name="The Resume as a Signal" id="{2DE35CF8-429D-4AE3-88E4-23650D9A64F1}">
          <p14:sldIdLst>
            <p14:sldId id="2562"/>
            <p14:sldId id="2563"/>
            <p14:sldId id="2564"/>
            <p14:sldId id="2565"/>
          </p14:sldIdLst>
        </p14:section>
        <p14:section name="How ATS Systems Parse and Filter" id="{CB537B37-E12C-4D73-A310-A7D02F5C13FF}">
          <p14:sldIdLst>
            <p14:sldId id="2566"/>
            <p14:sldId id="2567"/>
            <p14:sldId id="2568"/>
            <p14:sldId id="2569"/>
          </p14:sldIdLst>
        </p14:section>
        <p14:section name="Structure That Improves Scan-Ability" id="{56A55CC0-D51A-4E60-94B2-BC86B90A9B32}">
          <p14:sldIdLst>
            <p14:sldId id="2570"/>
            <p14:sldId id="2571"/>
            <p14:sldId id="2572"/>
            <p14:sldId id="2573"/>
          </p14:sldIdLst>
        </p14:section>
        <p14:section name="Measurable Impact vs. Responsibilities" id="{8B2D6F37-9D67-4C4A-878D-D1F170FCF9A1}">
          <p14:sldIdLst>
            <p14:sldId id="2574"/>
            <p14:sldId id="2575"/>
            <p14:sldId id="2576"/>
            <p14:sldId id="2577"/>
          </p14:sldIdLst>
        </p14:section>
        <p14:section name="Resume Alignment Strategy" id="{392208B6-BD4A-4158-8ED6-87525AD10AE9}">
          <p14:sldIdLst>
            <p14:sldId id="2578"/>
            <p14:sldId id="2579"/>
            <p14:sldId id="2580"/>
            <p14:sldId id="2581"/>
          </p14:sldIdLst>
        </p14:section>
        <p14:section name="Practical Resume Checklist" id="{D5F0428E-97B8-4478-A040-0E9C66E39FE5}">
          <p14:sldIdLst>
            <p14:sldId id="2582"/>
            <p14:sldId id="2583"/>
            <p14:sldId id="2584"/>
            <p14:sldId id="2585"/>
          </p14:sldIdLst>
        </p14:section>
        <p14:section name="Conclusion" id="{3674D13C-9D04-4071-A9E7-39DD8E392E56}">
          <p14:sldIdLst>
            <p14:sldId id="2586"/>
            <p14:sldId id="25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70FA3-61BD-4326-AA42-1E9A8D7EC167}" v="23" dt="2026-02-25T20:01:41.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89969" autoAdjust="0"/>
  </p:normalViewPr>
  <p:slideViewPr>
    <p:cSldViewPr>
      <p:cViewPr varScale="1">
        <p:scale>
          <a:sx n="65" d="100"/>
          <a:sy n="65" d="100"/>
        </p:scale>
        <p:origin x="960" y="60"/>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FD55B4-7C4E-4B28-B174-6E8E4792063C}"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27C3CEF3-4DAD-43C0-BF5D-E4B17133713D}">
      <dgm:prSet/>
      <dgm:spPr/>
      <dgm:t>
        <a:bodyPr/>
        <a:lstStyle/>
        <a:p>
          <a:pPr>
            <a:lnSpc>
              <a:spcPct val="100000"/>
            </a:lnSpc>
            <a:defRPr b="1"/>
          </a:pPr>
          <a:r>
            <a:rPr lang="en-US"/>
            <a:t>Rapid Signaling Tool</a:t>
          </a:r>
        </a:p>
      </dgm:t>
    </dgm:pt>
    <dgm:pt modelId="{3AFD1084-F51A-445A-B6E7-C75A3A3E5BEE}" type="parTrans" cxnId="{448941B4-D93D-4691-9E69-56202CC991DC}">
      <dgm:prSet/>
      <dgm:spPr/>
      <dgm:t>
        <a:bodyPr/>
        <a:lstStyle/>
        <a:p>
          <a:endParaRPr lang="en-US"/>
        </a:p>
      </dgm:t>
    </dgm:pt>
    <dgm:pt modelId="{B12BF8D1-4032-4E7C-988C-E40414D78060}" type="sibTrans" cxnId="{448941B4-D93D-4691-9E69-56202CC991DC}">
      <dgm:prSet/>
      <dgm:spPr/>
      <dgm:t>
        <a:bodyPr/>
        <a:lstStyle/>
        <a:p>
          <a:pPr>
            <a:lnSpc>
              <a:spcPct val="100000"/>
            </a:lnSpc>
            <a:defRPr b="1"/>
          </a:pPr>
          <a:endParaRPr lang="en-US"/>
        </a:p>
      </dgm:t>
    </dgm:pt>
    <dgm:pt modelId="{5E3A9B5A-1EC2-43AF-99C2-A1B5E2277C2B}">
      <dgm:prSet/>
      <dgm:spPr/>
      <dgm:t>
        <a:bodyPr/>
        <a:lstStyle/>
        <a:p>
          <a:pPr>
            <a:lnSpc>
              <a:spcPct val="100000"/>
            </a:lnSpc>
          </a:pPr>
          <a:r>
            <a:rPr lang="en-US"/>
            <a:t>Resumes act as quick signals enabling recruiters to assess candidate fit within seconds in high-volume settings.</a:t>
          </a:r>
        </a:p>
      </dgm:t>
    </dgm:pt>
    <dgm:pt modelId="{2836D40B-7514-4349-8EBC-A1CB5AC24A81}" type="parTrans" cxnId="{358980CE-14CE-49F0-8901-F8A11C13A6F3}">
      <dgm:prSet/>
      <dgm:spPr/>
      <dgm:t>
        <a:bodyPr/>
        <a:lstStyle/>
        <a:p>
          <a:endParaRPr lang="en-US"/>
        </a:p>
      </dgm:t>
    </dgm:pt>
    <dgm:pt modelId="{7F0DA210-65EA-413F-A255-CE3D09736EFC}" type="sibTrans" cxnId="{358980CE-14CE-49F0-8901-F8A11C13A6F3}">
      <dgm:prSet/>
      <dgm:spPr/>
      <dgm:t>
        <a:bodyPr/>
        <a:lstStyle/>
        <a:p>
          <a:endParaRPr lang="en-US"/>
        </a:p>
      </dgm:t>
    </dgm:pt>
    <dgm:pt modelId="{88B77C66-3B77-4E76-A9B1-3A9E5D88DA74}">
      <dgm:prSet/>
      <dgm:spPr/>
      <dgm:t>
        <a:bodyPr/>
        <a:lstStyle/>
        <a:p>
          <a:pPr>
            <a:lnSpc>
              <a:spcPct val="100000"/>
            </a:lnSpc>
            <a:defRPr b="1"/>
          </a:pPr>
          <a:r>
            <a:rPr lang="en-US"/>
            <a:t>Structured Formatting Importance</a:t>
          </a:r>
        </a:p>
      </dgm:t>
    </dgm:pt>
    <dgm:pt modelId="{AF889597-6739-431A-A65D-9177CB54467C}" type="parTrans" cxnId="{46A8EB3A-F5C6-4DCB-AECC-12C2B19AC835}">
      <dgm:prSet/>
      <dgm:spPr/>
      <dgm:t>
        <a:bodyPr/>
        <a:lstStyle/>
        <a:p>
          <a:endParaRPr lang="en-US"/>
        </a:p>
      </dgm:t>
    </dgm:pt>
    <dgm:pt modelId="{B0C76A1C-EC83-4BC2-AB63-119D5A1ACC86}" type="sibTrans" cxnId="{46A8EB3A-F5C6-4DCB-AECC-12C2B19AC835}">
      <dgm:prSet/>
      <dgm:spPr/>
      <dgm:t>
        <a:bodyPr/>
        <a:lstStyle/>
        <a:p>
          <a:pPr>
            <a:lnSpc>
              <a:spcPct val="100000"/>
            </a:lnSpc>
            <a:defRPr b="1"/>
          </a:pPr>
          <a:endParaRPr lang="en-US"/>
        </a:p>
      </dgm:t>
    </dgm:pt>
    <dgm:pt modelId="{36009A9F-A040-4C6F-99BD-E837DE5A8651}">
      <dgm:prSet/>
      <dgm:spPr/>
      <dgm:t>
        <a:bodyPr/>
        <a:lstStyle/>
        <a:p>
          <a:pPr>
            <a:lnSpc>
              <a:spcPct val="100000"/>
            </a:lnSpc>
          </a:pPr>
          <a:r>
            <a:rPr lang="en-US"/>
            <a:t>Clear headings and chronological work history reduce cognitive effort and improve information retrieval.</a:t>
          </a:r>
        </a:p>
      </dgm:t>
    </dgm:pt>
    <dgm:pt modelId="{486AEA58-B451-4809-BE79-7E72B7890C1D}" type="parTrans" cxnId="{B0EA45B0-2EB8-4AF5-84BA-3B6F54BB2E33}">
      <dgm:prSet/>
      <dgm:spPr/>
      <dgm:t>
        <a:bodyPr/>
        <a:lstStyle/>
        <a:p>
          <a:endParaRPr lang="en-US"/>
        </a:p>
      </dgm:t>
    </dgm:pt>
    <dgm:pt modelId="{7645453C-1955-4AD3-9159-5794127C1539}" type="sibTrans" cxnId="{B0EA45B0-2EB8-4AF5-84BA-3B6F54BB2E33}">
      <dgm:prSet/>
      <dgm:spPr/>
      <dgm:t>
        <a:bodyPr/>
        <a:lstStyle/>
        <a:p>
          <a:endParaRPr lang="en-US"/>
        </a:p>
      </dgm:t>
    </dgm:pt>
    <dgm:pt modelId="{5457107B-754B-4F1F-8D5F-75AEB175F458}">
      <dgm:prSet/>
      <dgm:spPr/>
      <dgm:t>
        <a:bodyPr/>
        <a:lstStyle/>
        <a:p>
          <a:pPr>
            <a:lnSpc>
              <a:spcPct val="100000"/>
            </a:lnSpc>
            <a:defRPr b="1"/>
          </a:pPr>
          <a:r>
            <a:rPr lang="en-US"/>
            <a:t>Alignment with Job Qualifications</a:t>
          </a:r>
        </a:p>
      </dgm:t>
    </dgm:pt>
    <dgm:pt modelId="{EDB3E225-75EE-436D-A8C2-47ABF6D181A8}" type="parTrans" cxnId="{8B58D50B-9273-4AF2-9C90-495ED68A714D}">
      <dgm:prSet/>
      <dgm:spPr/>
      <dgm:t>
        <a:bodyPr/>
        <a:lstStyle/>
        <a:p>
          <a:endParaRPr lang="en-US"/>
        </a:p>
      </dgm:t>
    </dgm:pt>
    <dgm:pt modelId="{FC7011D9-C86D-4CD3-83AE-5F48E0939010}" type="sibTrans" cxnId="{8B58D50B-9273-4AF2-9C90-495ED68A714D}">
      <dgm:prSet/>
      <dgm:spPr/>
      <dgm:t>
        <a:bodyPr/>
        <a:lstStyle/>
        <a:p>
          <a:pPr>
            <a:lnSpc>
              <a:spcPct val="100000"/>
            </a:lnSpc>
            <a:defRPr b="1"/>
          </a:pPr>
          <a:endParaRPr lang="en-US"/>
        </a:p>
      </dgm:t>
    </dgm:pt>
    <dgm:pt modelId="{C4E1D22E-04B5-43B1-B74F-82C44C279340}">
      <dgm:prSet/>
      <dgm:spPr/>
      <dgm:t>
        <a:bodyPr/>
        <a:lstStyle/>
        <a:p>
          <a:pPr>
            <a:lnSpc>
              <a:spcPct val="100000"/>
            </a:lnSpc>
          </a:pPr>
          <a:r>
            <a:rPr lang="en-US"/>
            <a:t>Resumes should clearly communicate qualifications to match job requirements and aid recruiter decision-making.</a:t>
          </a:r>
        </a:p>
      </dgm:t>
    </dgm:pt>
    <dgm:pt modelId="{4DAC79E1-2EA0-4850-BCB3-9B3C48F6A5E8}" type="parTrans" cxnId="{40BC17EA-D789-4722-95B8-F4EFD65C618B}">
      <dgm:prSet/>
      <dgm:spPr/>
      <dgm:t>
        <a:bodyPr/>
        <a:lstStyle/>
        <a:p>
          <a:endParaRPr lang="en-US"/>
        </a:p>
      </dgm:t>
    </dgm:pt>
    <dgm:pt modelId="{8C303F4C-5543-4F99-BB68-6DAF30C6B999}" type="sibTrans" cxnId="{40BC17EA-D789-4722-95B8-F4EFD65C618B}">
      <dgm:prSet/>
      <dgm:spPr/>
      <dgm:t>
        <a:bodyPr/>
        <a:lstStyle/>
        <a:p>
          <a:endParaRPr lang="en-US"/>
        </a:p>
      </dgm:t>
    </dgm:pt>
    <dgm:pt modelId="{400B824E-1DDD-407F-A83E-24522193DD34}">
      <dgm:prSet/>
      <dgm:spPr/>
      <dgm:t>
        <a:bodyPr/>
        <a:lstStyle/>
        <a:p>
          <a:pPr>
            <a:lnSpc>
              <a:spcPct val="100000"/>
            </a:lnSpc>
            <a:defRPr b="1"/>
          </a:pPr>
          <a:r>
            <a:rPr lang="en-US"/>
            <a:t>Impact on Hiring Outcomes</a:t>
          </a:r>
        </a:p>
      </dgm:t>
    </dgm:pt>
    <dgm:pt modelId="{DC3451AC-2D35-4E1C-890E-9DD2CAA9E8FA}" type="parTrans" cxnId="{EE916A4E-C35F-4A3A-BF07-49B301E45EBB}">
      <dgm:prSet/>
      <dgm:spPr/>
      <dgm:t>
        <a:bodyPr/>
        <a:lstStyle/>
        <a:p>
          <a:endParaRPr lang="en-US"/>
        </a:p>
      </dgm:t>
    </dgm:pt>
    <dgm:pt modelId="{5597BD93-9E5E-4CEB-970F-6D18C2BDFDB8}" type="sibTrans" cxnId="{EE916A4E-C35F-4A3A-BF07-49B301E45EBB}">
      <dgm:prSet/>
      <dgm:spPr/>
      <dgm:t>
        <a:bodyPr/>
        <a:lstStyle/>
        <a:p>
          <a:endParaRPr lang="en-US"/>
        </a:p>
      </dgm:t>
    </dgm:pt>
    <dgm:pt modelId="{4AC899C6-783C-4731-9D81-8E78E5551EE0}">
      <dgm:prSet/>
      <dgm:spPr/>
      <dgm:t>
        <a:bodyPr/>
        <a:lstStyle/>
        <a:p>
          <a:pPr>
            <a:lnSpc>
              <a:spcPct val="100000"/>
            </a:lnSpc>
          </a:pPr>
          <a:r>
            <a:rPr lang="en-US"/>
            <a:t>Easy-to-navigate resumes increase chances of advancing to later evaluation stages in hiring.</a:t>
          </a:r>
        </a:p>
      </dgm:t>
    </dgm:pt>
    <dgm:pt modelId="{C62A33C6-7457-4261-BEED-EE78584CF732}" type="parTrans" cxnId="{4323F78C-7900-458C-A55C-371B39A7D46D}">
      <dgm:prSet/>
      <dgm:spPr/>
      <dgm:t>
        <a:bodyPr/>
        <a:lstStyle/>
        <a:p>
          <a:endParaRPr lang="en-US"/>
        </a:p>
      </dgm:t>
    </dgm:pt>
    <dgm:pt modelId="{9B606DE2-9BB5-4BEF-9A5F-8F5102280ACE}" type="sibTrans" cxnId="{4323F78C-7900-458C-A55C-371B39A7D46D}">
      <dgm:prSet/>
      <dgm:spPr/>
      <dgm:t>
        <a:bodyPr/>
        <a:lstStyle/>
        <a:p>
          <a:endParaRPr lang="en-US"/>
        </a:p>
      </dgm:t>
    </dgm:pt>
    <dgm:pt modelId="{B895BFDB-A04F-471F-A9AB-236A13FFFDCD}" type="pres">
      <dgm:prSet presAssocID="{87FD55B4-7C4E-4B28-B174-6E8E4792063C}" presName="Name0" presStyleCnt="0">
        <dgm:presLayoutVars>
          <dgm:dir/>
          <dgm:resizeHandles val="exact"/>
        </dgm:presLayoutVars>
      </dgm:prSet>
      <dgm:spPr/>
    </dgm:pt>
    <dgm:pt modelId="{9D86F5CB-BCCF-4867-A9A0-1DFB230885A5}" type="pres">
      <dgm:prSet presAssocID="{27C3CEF3-4DAD-43C0-BF5D-E4B17133713D}" presName="compNode" presStyleCnt="0"/>
      <dgm:spPr/>
    </dgm:pt>
    <dgm:pt modelId="{B24E3C85-F177-4D6C-B6E9-76B822D1AC85}" type="pres">
      <dgm:prSet presAssocID="{27C3CEF3-4DAD-43C0-BF5D-E4B17133713D}" presName="pictRect" presStyleLbl="revTx" presStyleIdx="0" presStyleCnt="8">
        <dgm:presLayoutVars>
          <dgm:chMax val="0"/>
          <dgm:bulletEnabled/>
        </dgm:presLayoutVars>
      </dgm:prSet>
      <dgm:spPr/>
    </dgm:pt>
    <dgm:pt modelId="{12443543-98BA-4C11-B99C-24E118A57D34}" type="pres">
      <dgm:prSet presAssocID="{27C3CEF3-4DAD-43C0-BF5D-E4B17133713D}" presName="textRect" presStyleLbl="revTx" presStyleIdx="1" presStyleCnt="8">
        <dgm:presLayoutVars>
          <dgm:bulletEnabled/>
        </dgm:presLayoutVars>
      </dgm:prSet>
      <dgm:spPr/>
    </dgm:pt>
    <dgm:pt modelId="{B08A49F4-1454-4FB5-9C35-9264DE8B1657}" type="pres">
      <dgm:prSet presAssocID="{B12BF8D1-4032-4E7C-988C-E40414D78060}" presName="sibTrans" presStyleLbl="sibTrans2D1" presStyleIdx="0" presStyleCnt="0"/>
      <dgm:spPr/>
    </dgm:pt>
    <dgm:pt modelId="{DEC46F4E-FB75-4EDD-85B6-2C81FBC0CFBB}" type="pres">
      <dgm:prSet presAssocID="{88B77C66-3B77-4E76-A9B1-3A9E5D88DA74}" presName="compNode" presStyleCnt="0"/>
      <dgm:spPr/>
    </dgm:pt>
    <dgm:pt modelId="{3A313194-2A6B-4202-BDC8-C1A2F1294512}" type="pres">
      <dgm:prSet presAssocID="{88B77C66-3B77-4E76-A9B1-3A9E5D88DA74}" presName="pictRect" presStyleLbl="revTx" presStyleIdx="2" presStyleCnt="8">
        <dgm:presLayoutVars>
          <dgm:chMax val="0"/>
          <dgm:bulletEnabled/>
        </dgm:presLayoutVars>
      </dgm:prSet>
      <dgm:spPr/>
    </dgm:pt>
    <dgm:pt modelId="{9EA68906-58A9-4D9C-9119-09A877393A8C}" type="pres">
      <dgm:prSet presAssocID="{88B77C66-3B77-4E76-A9B1-3A9E5D88DA74}" presName="textRect" presStyleLbl="revTx" presStyleIdx="3" presStyleCnt="8">
        <dgm:presLayoutVars>
          <dgm:bulletEnabled/>
        </dgm:presLayoutVars>
      </dgm:prSet>
      <dgm:spPr/>
    </dgm:pt>
    <dgm:pt modelId="{08BC50F2-295A-466B-9C81-D0EC1584A6A3}" type="pres">
      <dgm:prSet presAssocID="{B0C76A1C-EC83-4BC2-AB63-119D5A1ACC86}" presName="sibTrans" presStyleLbl="sibTrans2D1" presStyleIdx="0" presStyleCnt="0"/>
      <dgm:spPr/>
    </dgm:pt>
    <dgm:pt modelId="{EE035C7C-5606-4BCE-8E97-91D0B097DE3F}" type="pres">
      <dgm:prSet presAssocID="{5457107B-754B-4F1F-8D5F-75AEB175F458}" presName="compNode" presStyleCnt="0"/>
      <dgm:spPr/>
    </dgm:pt>
    <dgm:pt modelId="{8DB38EC3-10D3-49A5-AB77-7C92CDB71209}" type="pres">
      <dgm:prSet presAssocID="{5457107B-754B-4F1F-8D5F-75AEB175F458}" presName="pictRect" presStyleLbl="revTx" presStyleIdx="4" presStyleCnt="8">
        <dgm:presLayoutVars>
          <dgm:chMax val="0"/>
          <dgm:bulletEnabled/>
        </dgm:presLayoutVars>
      </dgm:prSet>
      <dgm:spPr/>
    </dgm:pt>
    <dgm:pt modelId="{AEF005F0-589B-4093-9364-D9CD77A5800F}" type="pres">
      <dgm:prSet presAssocID="{5457107B-754B-4F1F-8D5F-75AEB175F458}" presName="textRect" presStyleLbl="revTx" presStyleIdx="5" presStyleCnt="8">
        <dgm:presLayoutVars>
          <dgm:bulletEnabled/>
        </dgm:presLayoutVars>
      </dgm:prSet>
      <dgm:spPr/>
    </dgm:pt>
    <dgm:pt modelId="{0033C930-EB58-4FBF-B2DC-77F75D11F7CC}" type="pres">
      <dgm:prSet presAssocID="{FC7011D9-C86D-4CD3-83AE-5F48E0939010}" presName="sibTrans" presStyleLbl="sibTrans2D1" presStyleIdx="0" presStyleCnt="0"/>
      <dgm:spPr/>
    </dgm:pt>
    <dgm:pt modelId="{09470022-12FD-4ADB-AF94-4AA0175D8056}" type="pres">
      <dgm:prSet presAssocID="{400B824E-1DDD-407F-A83E-24522193DD34}" presName="compNode" presStyleCnt="0"/>
      <dgm:spPr/>
    </dgm:pt>
    <dgm:pt modelId="{E5D360DD-3BA5-4915-BE3F-598BE9A94AED}" type="pres">
      <dgm:prSet presAssocID="{400B824E-1DDD-407F-A83E-24522193DD34}" presName="pictRect" presStyleLbl="revTx" presStyleIdx="6" presStyleCnt="8">
        <dgm:presLayoutVars>
          <dgm:chMax val="0"/>
          <dgm:bulletEnabled/>
        </dgm:presLayoutVars>
      </dgm:prSet>
      <dgm:spPr/>
    </dgm:pt>
    <dgm:pt modelId="{10BC16CC-DF22-481A-BFAA-35B2E42B2559}" type="pres">
      <dgm:prSet presAssocID="{400B824E-1DDD-407F-A83E-24522193DD34}" presName="textRect" presStyleLbl="revTx" presStyleIdx="7" presStyleCnt="8">
        <dgm:presLayoutVars>
          <dgm:bulletEnabled/>
        </dgm:presLayoutVars>
      </dgm:prSet>
      <dgm:spPr/>
    </dgm:pt>
  </dgm:ptLst>
  <dgm:cxnLst>
    <dgm:cxn modelId="{8B58D50B-9273-4AF2-9C90-495ED68A714D}" srcId="{87FD55B4-7C4E-4B28-B174-6E8E4792063C}" destId="{5457107B-754B-4F1F-8D5F-75AEB175F458}" srcOrd="2" destOrd="0" parTransId="{EDB3E225-75EE-436D-A8C2-47ABF6D181A8}" sibTransId="{FC7011D9-C86D-4CD3-83AE-5F48E0939010}"/>
    <dgm:cxn modelId="{D79D1A2A-FC7A-4034-9FD3-9FB075C55FC8}" type="presOf" srcId="{4AC899C6-783C-4731-9D81-8E78E5551EE0}" destId="{10BC16CC-DF22-481A-BFAA-35B2E42B2559}" srcOrd="0" destOrd="0" presId="urn:microsoft.com/office/officeart/2024/3/layout/hArchList1"/>
    <dgm:cxn modelId="{FEE65438-6E09-41B7-96F2-D4E6D7FAD294}" type="presOf" srcId="{87FD55B4-7C4E-4B28-B174-6E8E4792063C}" destId="{B895BFDB-A04F-471F-A9AB-236A13FFFDCD}" srcOrd="0" destOrd="0" presId="urn:microsoft.com/office/officeart/2024/3/layout/hArchList1"/>
    <dgm:cxn modelId="{46A8EB3A-F5C6-4DCB-AECC-12C2B19AC835}" srcId="{87FD55B4-7C4E-4B28-B174-6E8E4792063C}" destId="{88B77C66-3B77-4E76-A9B1-3A9E5D88DA74}" srcOrd="1" destOrd="0" parTransId="{AF889597-6739-431A-A65D-9177CB54467C}" sibTransId="{B0C76A1C-EC83-4BC2-AB63-119D5A1ACC86}"/>
    <dgm:cxn modelId="{E1437F63-E59A-4A9E-A6C0-977F602DA28F}" type="presOf" srcId="{B0C76A1C-EC83-4BC2-AB63-119D5A1ACC86}" destId="{08BC50F2-295A-466B-9C81-D0EC1584A6A3}" srcOrd="0" destOrd="0" presId="urn:microsoft.com/office/officeart/2024/3/layout/hArchList1"/>
    <dgm:cxn modelId="{A7456546-25A7-4049-82AD-24F070BFC907}" type="presOf" srcId="{C4E1D22E-04B5-43B1-B74F-82C44C279340}" destId="{AEF005F0-589B-4093-9364-D9CD77A5800F}" srcOrd="0" destOrd="0" presId="urn:microsoft.com/office/officeart/2024/3/layout/hArchList1"/>
    <dgm:cxn modelId="{E79AF64C-A734-4034-AD38-3D3F6216328C}" type="presOf" srcId="{B12BF8D1-4032-4E7C-988C-E40414D78060}" destId="{B08A49F4-1454-4FB5-9C35-9264DE8B1657}" srcOrd="0" destOrd="0" presId="urn:microsoft.com/office/officeart/2024/3/layout/hArchList1"/>
    <dgm:cxn modelId="{EE916A4E-C35F-4A3A-BF07-49B301E45EBB}" srcId="{87FD55B4-7C4E-4B28-B174-6E8E4792063C}" destId="{400B824E-1DDD-407F-A83E-24522193DD34}" srcOrd="3" destOrd="0" parTransId="{DC3451AC-2D35-4E1C-890E-9DD2CAA9E8FA}" sibTransId="{5597BD93-9E5E-4CEB-970F-6D18C2BDFDB8}"/>
    <dgm:cxn modelId="{D154E06E-F7E9-4457-A520-D6D52A9C42A8}" type="presOf" srcId="{88B77C66-3B77-4E76-A9B1-3A9E5D88DA74}" destId="{3A313194-2A6B-4202-BDC8-C1A2F1294512}" srcOrd="0" destOrd="0" presId="urn:microsoft.com/office/officeart/2024/3/layout/hArchList1"/>
    <dgm:cxn modelId="{ABF8E557-E636-4CB1-8BF1-CC43B18F0BD3}" type="presOf" srcId="{FC7011D9-C86D-4CD3-83AE-5F48E0939010}" destId="{0033C930-EB58-4FBF-B2DC-77F75D11F7CC}" srcOrd="0" destOrd="0" presId="urn:microsoft.com/office/officeart/2024/3/layout/hArchList1"/>
    <dgm:cxn modelId="{4323F78C-7900-458C-A55C-371B39A7D46D}" srcId="{400B824E-1DDD-407F-A83E-24522193DD34}" destId="{4AC899C6-783C-4731-9D81-8E78E5551EE0}" srcOrd="0" destOrd="0" parTransId="{C62A33C6-7457-4261-BEED-EE78584CF732}" sibTransId="{9B606DE2-9BB5-4BEF-9A5F-8F5102280ACE}"/>
    <dgm:cxn modelId="{400A758E-207F-4A86-8FEB-85C35A8DD981}" type="presOf" srcId="{400B824E-1DDD-407F-A83E-24522193DD34}" destId="{E5D360DD-3BA5-4915-BE3F-598BE9A94AED}" srcOrd="0" destOrd="0" presId="urn:microsoft.com/office/officeart/2024/3/layout/hArchList1"/>
    <dgm:cxn modelId="{B0EA45B0-2EB8-4AF5-84BA-3B6F54BB2E33}" srcId="{88B77C66-3B77-4E76-A9B1-3A9E5D88DA74}" destId="{36009A9F-A040-4C6F-99BD-E837DE5A8651}" srcOrd="0" destOrd="0" parTransId="{486AEA58-B451-4809-BE79-7E72B7890C1D}" sibTransId="{7645453C-1955-4AD3-9159-5794127C1539}"/>
    <dgm:cxn modelId="{448941B4-D93D-4691-9E69-56202CC991DC}" srcId="{87FD55B4-7C4E-4B28-B174-6E8E4792063C}" destId="{27C3CEF3-4DAD-43C0-BF5D-E4B17133713D}" srcOrd="0" destOrd="0" parTransId="{3AFD1084-F51A-445A-B6E7-C75A3A3E5BEE}" sibTransId="{B12BF8D1-4032-4E7C-988C-E40414D78060}"/>
    <dgm:cxn modelId="{4C9A44B7-78B6-4538-ACC7-D79494A1F8C1}" type="presOf" srcId="{27C3CEF3-4DAD-43C0-BF5D-E4B17133713D}" destId="{B24E3C85-F177-4D6C-B6E9-76B822D1AC85}" srcOrd="0" destOrd="0" presId="urn:microsoft.com/office/officeart/2024/3/layout/hArchList1"/>
    <dgm:cxn modelId="{204E96C8-D170-4333-A71F-040004AF0A9E}" type="presOf" srcId="{36009A9F-A040-4C6F-99BD-E837DE5A8651}" destId="{9EA68906-58A9-4D9C-9119-09A877393A8C}" srcOrd="0" destOrd="0" presId="urn:microsoft.com/office/officeart/2024/3/layout/hArchList1"/>
    <dgm:cxn modelId="{E11E5FC9-7301-43AB-8158-12127E14F2F7}" type="presOf" srcId="{5457107B-754B-4F1F-8D5F-75AEB175F458}" destId="{8DB38EC3-10D3-49A5-AB77-7C92CDB71209}" srcOrd="0" destOrd="0" presId="urn:microsoft.com/office/officeart/2024/3/layout/hArchList1"/>
    <dgm:cxn modelId="{358980CE-14CE-49F0-8901-F8A11C13A6F3}" srcId="{27C3CEF3-4DAD-43C0-BF5D-E4B17133713D}" destId="{5E3A9B5A-1EC2-43AF-99C2-A1B5E2277C2B}" srcOrd="0" destOrd="0" parTransId="{2836D40B-7514-4349-8EBC-A1CB5AC24A81}" sibTransId="{7F0DA210-65EA-413F-A255-CE3D09736EFC}"/>
    <dgm:cxn modelId="{40BC17EA-D789-4722-95B8-F4EFD65C618B}" srcId="{5457107B-754B-4F1F-8D5F-75AEB175F458}" destId="{C4E1D22E-04B5-43B1-B74F-82C44C279340}" srcOrd="0" destOrd="0" parTransId="{4DAC79E1-2EA0-4850-BCB3-9B3C48F6A5E8}" sibTransId="{8C303F4C-5543-4F99-BB68-6DAF30C6B999}"/>
    <dgm:cxn modelId="{5A1C0CF0-5869-4D89-9627-E95E67E74F9C}" type="presOf" srcId="{5E3A9B5A-1EC2-43AF-99C2-A1B5E2277C2B}" destId="{12443543-98BA-4C11-B99C-24E118A57D34}" srcOrd="0" destOrd="0" presId="urn:microsoft.com/office/officeart/2024/3/layout/hArchList1"/>
    <dgm:cxn modelId="{E0928BF6-0407-4114-B20F-84CB63D730EF}" type="presParOf" srcId="{B895BFDB-A04F-471F-A9AB-236A13FFFDCD}" destId="{9D86F5CB-BCCF-4867-A9A0-1DFB230885A5}" srcOrd="0" destOrd="0" presId="urn:microsoft.com/office/officeart/2024/3/layout/hArchList1"/>
    <dgm:cxn modelId="{F9AEA3F9-0F84-4819-9298-6704903F4D6C}" type="presParOf" srcId="{9D86F5CB-BCCF-4867-A9A0-1DFB230885A5}" destId="{B24E3C85-F177-4D6C-B6E9-76B822D1AC85}" srcOrd="0" destOrd="0" presId="urn:microsoft.com/office/officeart/2024/3/layout/hArchList1"/>
    <dgm:cxn modelId="{2247AC16-92E2-487A-80F1-25F4BBFF396B}" type="presParOf" srcId="{9D86F5CB-BCCF-4867-A9A0-1DFB230885A5}" destId="{12443543-98BA-4C11-B99C-24E118A57D34}" srcOrd="1" destOrd="0" presId="urn:microsoft.com/office/officeart/2024/3/layout/hArchList1"/>
    <dgm:cxn modelId="{4E669B41-79B0-4660-B6BE-227AF0AA5077}" type="presParOf" srcId="{B895BFDB-A04F-471F-A9AB-236A13FFFDCD}" destId="{B08A49F4-1454-4FB5-9C35-9264DE8B1657}" srcOrd="1" destOrd="0" presId="urn:microsoft.com/office/officeart/2024/3/layout/hArchList1"/>
    <dgm:cxn modelId="{E340C448-2F91-4FB2-85AF-C7771B61D6C9}" type="presParOf" srcId="{B895BFDB-A04F-471F-A9AB-236A13FFFDCD}" destId="{DEC46F4E-FB75-4EDD-85B6-2C81FBC0CFBB}" srcOrd="2" destOrd="0" presId="urn:microsoft.com/office/officeart/2024/3/layout/hArchList1"/>
    <dgm:cxn modelId="{A5748795-9549-4D18-A5F3-94FA58D402AF}" type="presParOf" srcId="{DEC46F4E-FB75-4EDD-85B6-2C81FBC0CFBB}" destId="{3A313194-2A6B-4202-BDC8-C1A2F1294512}" srcOrd="0" destOrd="0" presId="urn:microsoft.com/office/officeart/2024/3/layout/hArchList1"/>
    <dgm:cxn modelId="{F9D74044-655A-4FD3-B8F0-D48A7E91BF02}" type="presParOf" srcId="{DEC46F4E-FB75-4EDD-85B6-2C81FBC0CFBB}" destId="{9EA68906-58A9-4D9C-9119-09A877393A8C}" srcOrd="1" destOrd="0" presId="urn:microsoft.com/office/officeart/2024/3/layout/hArchList1"/>
    <dgm:cxn modelId="{3017650A-B311-4625-8703-5CE22000F58D}" type="presParOf" srcId="{B895BFDB-A04F-471F-A9AB-236A13FFFDCD}" destId="{08BC50F2-295A-466B-9C81-D0EC1584A6A3}" srcOrd="3" destOrd="0" presId="urn:microsoft.com/office/officeart/2024/3/layout/hArchList1"/>
    <dgm:cxn modelId="{90A76C21-6758-421A-9FF3-7FADB31A62A6}" type="presParOf" srcId="{B895BFDB-A04F-471F-A9AB-236A13FFFDCD}" destId="{EE035C7C-5606-4BCE-8E97-91D0B097DE3F}" srcOrd="4" destOrd="0" presId="urn:microsoft.com/office/officeart/2024/3/layout/hArchList1"/>
    <dgm:cxn modelId="{05348CF6-5B2B-4BF7-832D-15DA0E5F551F}" type="presParOf" srcId="{EE035C7C-5606-4BCE-8E97-91D0B097DE3F}" destId="{8DB38EC3-10D3-49A5-AB77-7C92CDB71209}" srcOrd="0" destOrd="0" presId="urn:microsoft.com/office/officeart/2024/3/layout/hArchList1"/>
    <dgm:cxn modelId="{A9DDBD62-B99D-4BDE-806C-7C613E0EAAB1}" type="presParOf" srcId="{EE035C7C-5606-4BCE-8E97-91D0B097DE3F}" destId="{AEF005F0-589B-4093-9364-D9CD77A5800F}" srcOrd="1" destOrd="0" presId="urn:microsoft.com/office/officeart/2024/3/layout/hArchList1"/>
    <dgm:cxn modelId="{08AFCE93-778A-46CD-8577-FF37F354D770}" type="presParOf" srcId="{B895BFDB-A04F-471F-A9AB-236A13FFFDCD}" destId="{0033C930-EB58-4FBF-B2DC-77F75D11F7CC}" srcOrd="5" destOrd="0" presId="urn:microsoft.com/office/officeart/2024/3/layout/hArchList1"/>
    <dgm:cxn modelId="{0EA038A0-8E93-495A-B2D5-6C975C77AC04}" type="presParOf" srcId="{B895BFDB-A04F-471F-A9AB-236A13FFFDCD}" destId="{09470022-12FD-4ADB-AF94-4AA0175D8056}" srcOrd="6" destOrd="0" presId="urn:microsoft.com/office/officeart/2024/3/layout/hArchList1"/>
    <dgm:cxn modelId="{D8368FF3-FDFB-45E9-BA47-7028043A5A9D}" type="presParOf" srcId="{09470022-12FD-4ADB-AF94-4AA0175D8056}" destId="{E5D360DD-3BA5-4915-BE3F-598BE9A94AED}" srcOrd="0" destOrd="0" presId="urn:microsoft.com/office/officeart/2024/3/layout/hArchList1"/>
    <dgm:cxn modelId="{1D2279D1-69CB-4AD7-A24E-36B1A329641E}" type="presParOf" srcId="{09470022-12FD-4ADB-AF94-4AA0175D8056}" destId="{10BC16CC-DF22-481A-BFAA-35B2E42B2559}"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F143C9-A0A6-4352-982B-DBB63E1951CC}"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8BDBC04-22CE-4121-95B5-28C404D8EB86}">
      <dgm:prSet/>
      <dgm:spPr/>
      <dgm:t>
        <a:bodyPr/>
        <a:lstStyle/>
        <a:p>
          <a:pPr>
            <a:lnSpc>
              <a:spcPct val="100000"/>
            </a:lnSpc>
            <a:defRPr b="1"/>
          </a:pPr>
          <a:r>
            <a:rPr lang="en-US"/>
            <a:t>Formatting Causes Parsing Errors</a:t>
          </a:r>
        </a:p>
      </dgm:t>
    </dgm:pt>
    <dgm:pt modelId="{68D964FF-4EC8-41CF-817D-66B597080874}" type="parTrans" cxnId="{2C2CAC58-518B-4725-A672-29CEA2B7F8BD}">
      <dgm:prSet/>
      <dgm:spPr/>
      <dgm:t>
        <a:bodyPr/>
        <a:lstStyle/>
        <a:p>
          <a:endParaRPr lang="en-US"/>
        </a:p>
      </dgm:t>
    </dgm:pt>
    <dgm:pt modelId="{83FABB89-B942-46D2-BFD2-8062EAD4A42C}" type="sibTrans" cxnId="{2C2CAC58-518B-4725-A672-29CEA2B7F8BD}">
      <dgm:prSet/>
      <dgm:spPr/>
      <dgm:t>
        <a:bodyPr/>
        <a:lstStyle/>
        <a:p>
          <a:pPr>
            <a:lnSpc>
              <a:spcPct val="100000"/>
            </a:lnSpc>
            <a:defRPr b="1"/>
          </a:pPr>
          <a:endParaRPr lang="en-US"/>
        </a:p>
      </dgm:t>
    </dgm:pt>
    <dgm:pt modelId="{96E49B17-138B-4841-BD70-98711DDA5D76}">
      <dgm:prSet/>
      <dgm:spPr/>
      <dgm:t>
        <a:bodyPr/>
        <a:lstStyle/>
        <a:p>
          <a:pPr>
            <a:lnSpc>
              <a:spcPct val="100000"/>
            </a:lnSpc>
          </a:pPr>
          <a:r>
            <a:rPr lang="en-US"/>
            <a:t>Text boxes, columns, tables, and images disrupt ATS reading order, causing skipped or merged content.</a:t>
          </a:r>
        </a:p>
      </dgm:t>
    </dgm:pt>
    <dgm:pt modelId="{8CD024AF-4424-4F6A-AE31-0968FED9181B}" type="parTrans" cxnId="{CF347AEA-0ED6-49CB-844E-B8261BA43121}">
      <dgm:prSet/>
      <dgm:spPr/>
      <dgm:t>
        <a:bodyPr/>
        <a:lstStyle/>
        <a:p>
          <a:endParaRPr lang="en-US"/>
        </a:p>
      </dgm:t>
    </dgm:pt>
    <dgm:pt modelId="{8CE068FC-ACC5-4021-B71F-959ED4B94BFB}" type="sibTrans" cxnId="{CF347AEA-0ED6-49CB-844E-B8261BA43121}">
      <dgm:prSet/>
      <dgm:spPr/>
      <dgm:t>
        <a:bodyPr/>
        <a:lstStyle/>
        <a:p>
          <a:endParaRPr lang="en-US"/>
        </a:p>
      </dgm:t>
    </dgm:pt>
    <dgm:pt modelId="{46BA77CD-12E7-4D76-9664-2573129FAFE1}">
      <dgm:prSet/>
      <dgm:spPr/>
      <dgm:t>
        <a:bodyPr/>
        <a:lstStyle/>
        <a:p>
          <a:pPr>
            <a:lnSpc>
              <a:spcPct val="100000"/>
            </a:lnSpc>
            <a:defRPr b="1"/>
          </a:pPr>
          <a:r>
            <a:rPr lang="en-US"/>
            <a:t>Unconventional Headers Impact Parsing</a:t>
          </a:r>
        </a:p>
      </dgm:t>
    </dgm:pt>
    <dgm:pt modelId="{975B618B-7FDD-4286-A048-81A61D3D9B50}" type="parTrans" cxnId="{15E510B0-A0FA-4B6C-8B4F-FF618BBD5F7C}">
      <dgm:prSet/>
      <dgm:spPr/>
      <dgm:t>
        <a:bodyPr/>
        <a:lstStyle/>
        <a:p>
          <a:endParaRPr lang="en-US"/>
        </a:p>
      </dgm:t>
    </dgm:pt>
    <dgm:pt modelId="{FFD7F16D-E42C-4B05-9D18-4D47757E7BF4}" type="sibTrans" cxnId="{15E510B0-A0FA-4B6C-8B4F-FF618BBD5F7C}">
      <dgm:prSet/>
      <dgm:spPr/>
      <dgm:t>
        <a:bodyPr/>
        <a:lstStyle/>
        <a:p>
          <a:pPr>
            <a:lnSpc>
              <a:spcPct val="100000"/>
            </a:lnSpc>
            <a:defRPr b="1"/>
          </a:pPr>
          <a:endParaRPr lang="en-US"/>
        </a:p>
      </dgm:t>
    </dgm:pt>
    <dgm:pt modelId="{EE5FB0F4-4E38-4D42-BFF2-344878FFFF34}">
      <dgm:prSet/>
      <dgm:spPr/>
      <dgm:t>
        <a:bodyPr/>
        <a:lstStyle/>
        <a:p>
          <a:pPr>
            <a:lnSpc>
              <a:spcPct val="100000"/>
            </a:lnSpc>
          </a:pPr>
          <a:r>
            <a:rPr lang="en-US"/>
            <a:t>Creative or non-standard section headers can mislead ATS, leading to missing or fragmented data.</a:t>
          </a:r>
        </a:p>
      </dgm:t>
    </dgm:pt>
    <dgm:pt modelId="{641F01F4-EE29-46B3-8EC2-68A89542CA01}" type="parTrans" cxnId="{ED7A8633-C00A-41F3-A9E8-F3A82D0293F0}">
      <dgm:prSet/>
      <dgm:spPr/>
      <dgm:t>
        <a:bodyPr/>
        <a:lstStyle/>
        <a:p>
          <a:endParaRPr lang="en-US"/>
        </a:p>
      </dgm:t>
    </dgm:pt>
    <dgm:pt modelId="{B6C1816A-56A6-4DF3-BC56-354F25114CF8}" type="sibTrans" cxnId="{ED7A8633-C00A-41F3-A9E8-F3A82D0293F0}">
      <dgm:prSet/>
      <dgm:spPr/>
      <dgm:t>
        <a:bodyPr/>
        <a:lstStyle/>
        <a:p>
          <a:endParaRPr lang="en-US"/>
        </a:p>
      </dgm:t>
    </dgm:pt>
    <dgm:pt modelId="{F06C49F5-9DEE-47A7-9132-09C4DD9473C3}">
      <dgm:prSet/>
      <dgm:spPr/>
      <dgm:t>
        <a:bodyPr/>
        <a:lstStyle/>
        <a:p>
          <a:pPr>
            <a:lnSpc>
              <a:spcPct val="100000"/>
            </a:lnSpc>
            <a:defRPr b="1"/>
          </a:pPr>
          <a:r>
            <a:rPr lang="en-US"/>
            <a:t>Critical Information in Headers/Footers</a:t>
          </a:r>
        </a:p>
      </dgm:t>
    </dgm:pt>
    <dgm:pt modelId="{6FB7680B-DF23-4311-9A21-F3B7622948A1}" type="parTrans" cxnId="{429D9BD1-00DC-43DB-8AC1-13DF8A0D2098}">
      <dgm:prSet/>
      <dgm:spPr/>
      <dgm:t>
        <a:bodyPr/>
        <a:lstStyle/>
        <a:p>
          <a:endParaRPr lang="en-US"/>
        </a:p>
      </dgm:t>
    </dgm:pt>
    <dgm:pt modelId="{C731E562-72A3-41E2-96B5-ADBFCD2C2ACB}" type="sibTrans" cxnId="{429D9BD1-00DC-43DB-8AC1-13DF8A0D2098}">
      <dgm:prSet/>
      <dgm:spPr/>
      <dgm:t>
        <a:bodyPr/>
        <a:lstStyle/>
        <a:p>
          <a:pPr>
            <a:lnSpc>
              <a:spcPct val="100000"/>
            </a:lnSpc>
            <a:defRPr b="1"/>
          </a:pPr>
          <a:endParaRPr lang="en-US"/>
        </a:p>
      </dgm:t>
    </dgm:pt>
    <dgm:pt modelId="{E03AF6B2-696B-4B3E-B605-6482FEFA7017}">
      <dgm:prSet/>
      <dgm:spPr/>
      <dgm:t>
        <a:bodyPr/>
        <a:lstStyle/>
        <a:p>
          <a:pPr>
            <a:lnSpc>
              <a:spcPct val="100000"/>
            </a:lnSpc>
          </a:pPr>
          <a:r>
            <a:rPr lang="en-US"/>
            <a:t>Important details placed in headers or footers may be completely missed by ATS parsing systems.</a:t>
          </a:r>
        </a:p>
      </dgm:t>
    </dgm:pt>
    <dgm:pt modelId="{20DDDA34-D01C-48C7-B9F4-45202C144D64}" type="parTrans" cxnId="{0D112CEA-259B-4402-9A52-A009F93A9BA7}">
      <dgm:prSet/>
      <dgm:spPr/>
      <dgm:t>
        <a:bodyPr/>
        <a:lstStyle/>
        <a:p>
          <a:endParaRPr lang="en-US"/>
        </a:p>
      </dgm:t>
    </dgm:pt>
    <dgm:pt modelId="{02D30EE1-5242-4835-866B-98E8B431E87D}" type="sibTrans" cxnId="{0D112CEA-259B-4402-9A52-A009F93A9BA7}">
      <dgm:prSet/>
      <dgm:spPr/>
      <dgm:t>
        <a:bodyPr/>
        <a:lstStyle/>
        <a:p>
          <a:endParaRPr lang="en-US"/>
        </a:p>
      </dgm:t>
    </dgm:pt>
    <dgm:pt modelId="{11471B83-EECE-4B01-8EAF-5BB8C2040777}">
      <dgm:prSet/>
      <dgm:spPr/>
      <dgm:t>
        <a:bodyPr/>
        <a:lstStyle/>
        <a:p>
          <a:pPr>
            <a:lnSpc>
              <a:spcPct val="100000"/>
            </a:lnSpc>
            <a:defRPr b="1"/>
          </a:pPr>
          <a:r>
            <a:rPr lang="en-US"/>
            <a:t>Standard Formatting Benefits</a:t>
          </a:r>
        </a:p>
      </dgm:t>
    </dgm:pt>
    <dgm:pt modelId="{AAD4D6D4-753E-48E9-9AA4-0FEED901B0CF}" type="parTrans" cxnId="{FE01397A-DF87-4E70-9F03-DA0118E8BF69}">
      <dgm:prSet/>
      <dgm:spPr/>
      <dgm:t>
        <a:bodyPr/>
        <a:lstStyle/>
        <a:p>
          <a:endParaRPr lang="en-US"/>
        </a:p>
      </dgm:t>
    </dgm:pt>
    <dgm:pt modelId="{CA4922C2-E8EB-414F-A886-FDBAADBA1D1C}" type="sibTrans" cxnId="{FE01397A-DF87-4E70-9F03-DA0118E8BF69}">
      <dgm:prSet/>
      <dgm:spPr/>
      <dgm:t>
        <a:bodyPr/>
        <a:lstStyle/>
        <a:p>
          <a:endParaRPr lang="en-US"/>
        </a:p>
      </dgm:t>
    </dgm:pt>
    <dgm:pt modelId="{4D587FB6-9052-405B-9D7C-66C2241B9A9C}">
      <dgm:prSet/>
      <dgm:spPr/>
      <dgm:t>
        <a:bodyPr/>
        <a:lstStyle/>
        <a:p>
          <a:pPr>
            <a:lnSpc>
              <a:spcPct val="100000"/>
            </a:lnSpc>
          </a:pPr>
          <a:r>
            <a:rPr lang="en-US"/>
            <a:t>Using standard resume formatting improves parsing accuracy and boosts relevance matching for job qualifications.</a:t>
          </a:r>
        </a:p>
      </dgm:t>
    </dgm:pt>
    <dgm:pt modelId="{AE72F069-5EC2-4CBD-AFF9-A04B0BE8B738}" type="parTrans" cxnId="{961CDA51-5718-4E85-8F21-5B038CAF0ECC}">
      <dgm:prSet/>
      <dgm:spPr/>
      <dgm:t>
        <a:bodyPr/>
        <a:lstStyle/>
        <a:p>
          <a:endParaRPr lang="en-US"/>
        </a:p>
      </dgm:t>
    </dgm:pt>
    <dgm:pt modelId="{36CC92F1-3D7F-4D1E-BC7C-1551A66FA81B}" type="sibTrans" cxnId="{961CDA51-5718-4E85-8F21-5B038CAF0ECC}">
      <dgm:prSet/>
      <dgm:spPr/>
      <dgm:t>
        <a:bodyPr/>
        <a:lstStyle/>
        <a:p>
          <a:endParaRPr lang="en-US"/>
        </a:p>
      </dgm:t>
    </dgm:pt>
    <dgm:pt modelId="{D3BCF6A9-C43E-42CE-A5CE-2FD82BC195A9}" type="pres">
      <dgm:prSet presAssocID="{B2F143C9-A0A6-4352-982B-DBB63E1951CC}" presName="Name0" presStyleCnt="0">
        <dgm:presLayoutVars>
          <dgm:dir/>
          <dgm:resizeHandles val="exact"/>
        </dgm:presLayoutVars>
      </dgm:prSet>
      <dgm:spPr/>
    </dgm:pt>
    <dgm:pt modelId="{7593CD45-961C-469C-B35F-93C783BE9CF4}" type="pres">
      <dgm:prSet presAssocID="{98BDBC04-22CE-4121-95B5-28C404D8EB86}" presName="compNode" presStyleCnt="0"/>
      <dgm:spPr/>
    </dgm:pt>
    <dgm:pt modelId="{FA6DCC57-8FFE-4402-A71F-8737669A7061}" type="pres">
      <dgm:prSet presAssocID="{98BDBC04-22CE-4121-95B5-28C404D8EB86}" presName="pictRect" presStyleLbl="revTx" presStyleIdx="0" presStyleCnt="8">
        <dgm:presLayoutVars>
          <dgm:chMax val="0"/>
          <dgm:bulletEnabled/>
        </dgm:presLayoutVars>
      </dgm:prSet>
      <dgm:spPr/>
    </dgm:pt>
    <dgm:pt modelId="{05EA2035-C05F-4675-8799-30105AA9B00A}" type="pres">
      <dgm:prSet presAssocID="{98BDBC04-22CE-4121-95B5-28C404D8EB86}" presName="textRect" presStyleLbl="revTx" presStyleIdx="1" presStyleCnt="8">
        <dgm:presLayoutVars>
          <dgm:bulletEnabled/>
        </dgm:presLayoutVars>
      </dgm:prSet>
      <dgm:spPr/>
    </dgm:pt>
    <dgm:pt modelId="{D7E60E87-9C43-435A-8733-5736A1343605}" type="pres">
      <dgm:prSet presAssocID="{83FABB89-B942-46D2-BFD2-8062EAD4A42C}" presName="sibTrans" presStyleLbl="sibTrans2D1" presStyleIdx="0" presStyleCnt="0"/>
      <dgm:spPr/>
    </dgm:pt>
    <dgm:pt modelId="{7AD80C15-900D-47F9-884D-82E7CD99AF5A}" type="pres">
      <dgm:prSet presAssocID="{46BA77CD-12E7-4D76-9664-2573129FAFE1}" presName="compNode" presStyleCnt="0"/>
      <dgm:spPr/>
    </dgm:pt>
    <dgm:pt modelId="{E6EECF42-7EFF-489A-AB5B-896DF5A7A9C2}" type="pres">
      <dgm:prSet presAssocID="{46BA77CD-12E7-4D76-9664-2573129FAFE1}" presName="pictRect" presStyleLbl="revTx" presStyleIdx="2" presStyleCnt="8">
        <dgm:presLayoutVars>
          <dgm:chMax val="0"/>
          <dgm:bulletEnabled/>
        </dgm:presLayoutVars>
      </dgm:prSet>
      <dgm:spPr/>
    </dgm:pt>
    <dgm:pt modelId="{AB905312-7887-4C08-BDF6-22149BF4B674}" type="pres">
      <dgm:prSet presAssocID="{46BA77CD-12E7-4D76-9664-2573129FAFE1}" presName="textRect" presStyleLbl="revTx" presStyleIdx="3" presStyleCnt="8">
        <dgm:presLayoutVars>
          <dgm:bulletEnabled/>
        </dgm:presLayoutVars>
      </dgm:prSet>
      <dgm:spPr/>
    </dgm:pt>
    <dgm:pt modelId="{20DDBBD3-D2B1-406E-9F84-FBAF49BCE556}" type="pres">
      <dgm:prSet presAssocID="{FFD7F16D-E42C-4B05-9D18-4D47757E7BF4}" presName="sibTrans" presStyleLbl="sibTrans2D1" presStyleIdx="0" presStyleCnt="0"/>
      <dgm:spPr/>
    </dgm:pt>
    <dgm:pt modelId="{4B80B47D-C6CC-4F32-AC97-7482E5F59F5C}" type="pres">
      <dgm:prSet presAssocID="{F06C49F5-9DEE-47A7-9132-09C4DD9473C3}" presName="compNode" presStyleCnt="0"/>
      <dgm:spPr/>
    </dgm:pt>
    <dgm:pt modelId="{8F14C257-E51A-4186-A428-DADD614B7879}" type="pres">
      <dgm:prSet presAssocID="{F06C49F5-9DEE-47A7-9132-09C4DD9473C3}" presName="pictRect" presStyleLbl="revTx" presStyleIdx="4" presStyleCnt="8">
        <dgm:presLayoutVars>
          <dgm:chMax val="0"/>
          <dgm:bulletEnabled/>
        </dgm:presLayoutVars>
      </dgm:prSet>
      <dgm:spPr/>
    </dgm:pt>
    <dgm:pt modelId="{E08E7C22-6276-4D9E-BEDD-55A4E85BF3AF}" type="pres">
      <dgm:prSet presAssocID="{F06C49F5-9DEE-47A7-9132-09C4DD9473C3}" presName="textRect" presStyleLbl="revTx" presStyleIdx="5" presStyleCnt="8">
        <dgm:presLayoutVars>
          <dgm:bulletEnabled/>
        </dgm:presLayoutVars>
      </dgm:prSet>
      <dgm:spPr/>
    </dgm:pt>
    <dgm:pt modelId="{618BEB05-725B-4FD0-A577-F7DA88E702AC}" type="pres">
      <dgm:prSet presAssocID="{C731E562-72A3-41E2-96B5-ADBFCD2C2ACB}" presName="sibTrans" presStyleLbl="sibTrans2D1" presStyleIdx="0" presStyleCnt="0"/>
      <dgm:spPr/>
    </dgm:pt>
    <dgm:pt modelId="{F28CEF8B-3998-4C64-BF06-E1C62AF728D8}" type="pres">
      <dgm:prSet presAssocID="{11471B83-EECE-4B01-8EAF-5BB8C2040777}" presName="compNode" presStyleCnt="0"/>
      <dgm:spPr/>
    </dgm:pt>
    <dgm:pt modelId="{9894709C-EF0F-423A-80C1-81EFCAEA9E05}" type="pres">
      <dgm:prSet presAssocID="{11471B83-EECE-4B01-8EAF-5BB8C2040777}" presName="pictRect" presStyleLbl="revTx" presStyleIdx="6" presStyleCnt="8">
        <dgm:presLayoutVars>
          <dgm:chMax val="0"/>
          <dgm:bulletEnabled/>
        </dgm:presLayoutVars>
      </dgm:prSet>
      <dgm:spPr/>
    </dgm:pt>
    <dgm:pt modelId="{8FAA4F43-1963-4AC2-878A-1F9767B50B57}" type="pres">
      <dgm:prSet presAssocID="{11471B83-EECE-4B01-8EAF-5BB8C2040777}" presName="textRect" presStyleLbl="revTx" presStyleIdx="7" presStyleCnt="8">
        <dgm:presLayoutVars>
          <dgm:bulletEnabled/>
        </dgm:presLayoutVars>
      </dgm:prSet>
      <dgm:spPr/>
    </dgm:pt>
  </dgm:ptLst>
  <dgm:cxnLst>
    <dgm:cxn modelId="{B6C27128-6109-4BC2-AE98-3FE716E803C9}" type="presOf" srcId="{EE5FB0F4-4E38-4D42-BFF2-344878FFFF34}" destId="{AB905312-7887-4C08-BDF6-22149BF4B674}" srcOrd="0" destOrd="0" presId="urn:microsoft.com/office/officeart/2024/3/layout/hArchList1"/>
    <dgm:cxn modelId="{ED7A8633-C00A-41F3-A9E8-F3A82D0293F0}" srcId="{46BA77CD-12E7-4D76-9664-2573129FAFE1}" destId="{EE5FB0F4-4E38-4D42-BFF2-344878FFFF34}" srcOrd="0" destOrd="0" parTransId="{641F01F4-EE29-46B3-8EC2-68A89542CA01}" sibTransId="{B6C1816A-56A6-4DF3-BC56-354F25114CF8}"/>
    <dgm:cxn modelId="{6407D439-39D9-4E5D-A45F-3C2CA0AF450E}" type="presOf" srcId="{E03AF6B2-696B-4B3E-B605-6482FEFA7017}" destId="{E08E7C22-6276-4D9E-BEDD-55A4E85BF3AF}" srcOrd="0" destOrd="0" presId="urn:microsoft.com/office/officeart/2024/3/layout/hArchList1"/>
    <dgm:cxn modelId="{4D5CF13E-F05E-4FD0-A410-5A0065AF9431}" type="presOf" srcId="{98BDBC04-22CE-4121-95B5-28C404D8EB86}" destId="{FA6DCC57-8FFE-4402-A71F-8737669A7061}" srcOrd="0" destOrd="0" presId="urn:microsoft.com/office/officeart/2024/3/layout/hArchList1"/>
    <dgm:cxn modelId="{0C37C544-F323-4E8A-984D-ECC58A0D03C4}" type="presOf" srcId="{B2F143C9-A0A6-4352-982B-DBB63E1951CC}" destId="{D3BCF6A9-C43E-42CE-A5CE-2FD82BC195A9}" srcOrd="0" destOrd="0" presId="urn:microsoft.com/office/officeart/2024/3/layout/hArchList1"/>
    <dgm:cxn modelId="{72E73848-5825-481E-B305-20DABACF7CE2}" type="presOf" srcId="{FFD7F16D-E42C-4B05-9D18-4D47757E7BF4}" destId="{20DDBBD3-D2B1-406E-9F84-FBAF49BCE556}" srcOrd="0" destOrd="0" presId="urn:microsoft.com/office/officeart/2024/3/layout/hArchList1"/>
    <dgm:cxn modelId="{54AB374C-978F-400C-B8A0-C5BE127B3984}" type="presOf" srcId="{46BA77CD-12E7-4D76-9664-2573129FAFE1}" destId="{E6EECF42-7EFF-489A-AB5B-896DF5A7A9C2}" srcOrd="0" destOrd="0" presId="urn:microsoft.com/office/officeart/2024/3/layout/hArchList1"/>
    <dgm:cxn modelId="{961CDA51-5718-4E85-8F21-5B038CAF0ECC}" srcId="{11471B83-EECE-4B01-8EAF-5BB8C2040777}" destId="{4D587FB6-9052-405B-9D7C-66C2241B9A9C}" srcOrd="0" destOrd="0" parTransId="{AE72F069-5EC2-4CBD-AFF9-A04B0BE8B738}" sibTransId="{36CC92F1-3D7F-4D1E-BC7C-1551A66FA81B}"/>
    <dgm:cxn modelId="{AC46EC73-0031-4FD9-A429-DF977B734964}" type="presOf" srcId="{C731E562-72A3-41E2-96B5-ADBFCD2C2ACB}" destId="{618BEB05-725B-4FD0-A577-F7DA88E702AC}" srcOrd="0" destOrd="0" presId="urn:microsoft.com/office/officeart/2024/3/layout/hArchList1"/>
    <dgm:cxn modelId="{2C2CAC58-518B-4725-A672-29CEA2B7F8BD}" srcId="{B2F143C9-A0A6-4352-982B-DBB63E1951CC}" destId="{98BDBC04-22CE-4121-95B5-28C404D8EB86}" srcOrd="0" destOrd="0" parTransId="{68D964FF-4EC8-41CF-817D-66B597080874}" sibTransId="{83FABB89-B942-46D2-BFD2-8062EAD4A42C}"/>
    <dgm:cxn modelId="{FE01397A-DF87-4E70-9F03-DA0118E8BF69}" srcId="{B2F143C9-A0A6-4352-982B-DBB63E1951CC}" destId="{11471B83-EECE-4B01-8EAF-5BB8C2040777}" srcOrd="3" destOrd="0" parTransId="{AAD4D6D4-753E-48E9-9AA4-0FEED901B0CF}" sibTransId="{CA4922C2-E8EB-414F-A886-FDBAADBA1D1C}"/>
    <dgm:cxn modelId="{68231B8F-EF00-4A58-95D8-93D7E775D301}" type="presOf" srcId="{96E49B17-138B-4841-BD70-98711DDA5D76}" destId="{05EA2035-C05F-4675-8799-30105AA9B00A}" srcOrd="0" destOrd="0" presId="urn:microsoft.com/office/officeart/2024/3/layout/hArchList1"/>
    <dgm:cxn modelId="{B6F95999-1F9C-4112-955E-9F21A0A6205D}" type="presOf" srcId="{11471B83-EECE-4B01-8EAF-5BB8C2040777}" destId="{9894709C-EF0F-423A-80C1-81EFCAEA9E05}" srcOrd="0" destOrd="0" presId="urn:microsoft.com/office/officeart/2024/3/layout/hArchList1"/>
    <dgm:cxn modelId="{15E510B0-A0FA-4B6C-8B4F-FF618BBD5F7C}" srcId="{B2F143C9-A0A6-4352-982B-DBB63E1951CC}" destId="{46BA77CD-12E7-4D76-9664-2573129FAFE1}" srcOrd="1" destOrd="0" parTransId="{975B618B-7FDD-4286-A048-81A61D3D9B50}" sibTransId="{FFD7F16D-E42C-4B05-9D18-4D47757E7BF4}"/>
    <dgm:cxn modelId="{429D9BD1-00DC-43DB-8AC1-13DF8A0D2098}" srcId="{B2F143C9-A0A6-4352-982B-DBB63E1951CC}" destId="{F06C49F5-9DEE-47A7-9132-09C4DD9473C3}" srcOrd="2" destOrd="0" parTransId="{6FB7680B-DF23-4311-9A21-F3B7622948A1}" sibTransId="{C731E562-72A3-41E2-96B5-ADBFCD2C2ACB}"/>
    <dgm:cxn modelId="{16EBD0E1-A7AB-4360-8527-3905C61F7895}" type="presOf" srcId="{4D587FB6-9052-405B-9D7C-66C2241B9A9C}" destId="{8FAA4F43-1963-4AC2-878A-1F9767B50B57}" srcOrd="0" destOrd="0" presId="urn:microsoft.com/office/officeart/2024/3/layout/hArchList1"/>
    <dgm:cxn modelId="{CCEA93E3-6419-40F4-ACF0-E10C3E30BED0}" type="presOf" srcId="{83FABB89-B942-46D2-BFD2-8062EAD4A42C}" destId="{D7E60E87-9C43-435A-8733-5736A1343605}" srcOrd="0" destOrd="0" presId="urn:microsoft.com/office/officeart/2024/3/layout/hArchList1"/>
    <dgm:cxn modelId="{DC0EF2E7-9491-4A21-BA65-26BBD09EADF9}" type="presOf" srcId="{F06C49F5-9DEE-47A7-9132-09C4DD9473C3}" destId="{8F14C257-E51A-4186-A428-DADD614B7879}" srcOrd="0" destOrd="0" presId="urn:microsoft.com/office/officeart/2024/3/layout/hArchList1"/>
    <dgm:cxn modelId="{0D112CEA-259B-4402-9A52-A009F93A9BA7}" srcId="{F06C49F5-9DEE-47A7-9132-09C4DD9473C3}" destId="{E03AF6B2-696B-4B3E-B605-6482FEFA7017}" srcOrd="0" destOrd="0" parTransId="{20DDDA34-D01C-48C7-B9F4-45202C144D64}" sibTransId="{02D30EE1-5242-4835-866B-98E8B431E87D}"/>
    <dgm:cxn modelId="{CF347AEA-0ED6-49CB-844E-B8261BA43121}" srcId="{98BDBC04-22CE-4121-95B5-28C404D8EB86}" destId="{96E49B17-138B-4841-BD70-98711DDA5D76}" srcOrd="0" destOrd="0" parTransId="{8CD024AF-4424-4F6A-AE31-0968FED9181B}" sibTransId="{8CE068FC-ACC5-4021-B71F-959ED4B94BFB}"/>
    <dgm:cxn modelId="{78F5BCD4-15E3-4F41-9D13-9849E9546106}" type="presParOf" srcId="{D3BCF6A9-C43E-42CE-A5CE-2FD82BC195A9}" destId="{7593CD45-961C-469C-B35F-93C783BE9CF4}" srcOrd="0" destOrd="0" presId="urn:microsoft.com/office/officeart/2024/3/layout/hArchList1"/>
    <dgm:cxn modelId="{F65D4ADF-778C-4EA8-B745-3103BE18831A}" type="presParOf" srcId="{7593CD45-961C-469C-B35F-93C783BE9CF4}" destId="{FA6DCC57-8FFE-4402-A71F-8737669A7061}" srcOrd="0" destOrd="0" presId="urn:microsoft.com/office/officeart/2024/3/layout/hArchList1"/>
    <dgm:cxn modelId="{825B7448-8DDA-4D7D-AAF5-EA8448D5643D}" type="presParOf" srcId="{7593CD45-961C-469C-B35F-93C783BE9CF4}" destId="{05EA2035-C05F-4675-8799-30105AA9B00A}" srcOrd="1" destOrd="0" presId="urn:microsoft.com/office/officeart/2024/3/layout/hArchList1"/>
    <dgm:cxn modelId="{30137A5B-AF73-426B-9793-C3348D75F4DF}" type="presParOf" srcId="{D3BCF6A9-C43E-42CE-A5CE-2FD82BC195A9}" destId="{D7E60E87-9C43-435A-8733-5736A1343605}" srcOrd="1" destOrd="0" presId="urn:microsoft.com/office/officeart/2024/3/layout/hArchList1"/>
    <dgm:cxn modelId="{F5820635-533B-440A-A0B8-B3AC3A5E735F}" type="presParOf" srcId="{D3BCF6A9-C43E-42CE-A5CE-2FD82BC195A9}" destId="{7AD80C15-900D-47F9-884D-82E7CD99AF5A}" srcOrd="2" destOrd="0" presId="urn:microsoft.com/office/officeart/2024/3/layout/hArchList1"/>
    <dgm:cxn modelId="{4292CBB7-9077-41B8-B8A6-764C9428098C}" type="presParOf" srcId="{7AD80C15-900D-47F9-884D-82E7CD99AF5A}" destId="{E6EECF42-7EFF-489A-AB5B-896DF5A7A9C2}" srcOrd="0" destOrd="0" presId="urn:microsoft.com/office/officeart/2024/3/layout/hArchList1"/>
    <dgm:cxn modelId="{D6C82432-50DE-4DF9-8EB1-7EBDD2F22FED}" type="presParOf" srcId="{7AD80C15-900D-47F9-884D-82E7CD99AF5A}" destId="{AB905312-7887-4C08-BDF6-22149BF4B674}" srcOrd="1" destOrd="0" presId="urn:microsoft.com/office/officeart/2024/3/layout/hArchList1"/>
    <dgm:cxn modelId="{BC5E71B9-3975-4B25-BC01-B050686EB7F1}" type="presParOf" srcId="{D3BCF6A9-C43E-42CE-A5CE-2FD82BC195A9}" destId="{20DDBBD3-D2B1-406E-9F84-FBAF49BCE556}" srcOrd="3" destOrd="0" presId="urn:microsoft.com/office/officeart/2024/3/layout/hArchList1"/>
    <dgm:cxn modelId="{07B7CD00-8876-49B7-A21B-CA093FDFE3A6}" type="presParOf" srcId="{D3BCF6A9-C43E-42CE-A5CE-2FD82BC195A9}" destId="{4B80B47D-C6CC-4F32-AC97-7482E5F59F5C}" srcOrd="4" destOrd="0" presId="urn:microsoft.com/office/officeart/2024/3/layout/hArchList1"/>
    <dgm:cxn modelId="{1DB50A08-5037-4940-8863-D3F4CD5557AA}" type="presParOf" srcId="{4B80B47D-C6CC-4F32-AC97-7482E5F59F5C}" destId="{8F14C257-E51A-4186-A428-DADD614B7879}" srcOrd="0" destOrd="0" presId="urn:microsoft.com/office/officeart/2024/3/layout/hArchList1"/>
    <dgm:cxn modelId="{CF52BCBD-A853-44A4-BF83-EFED93DE920A}" type="presParOf" srcId="{4B80B47D-C6CC-4F32-AC97-7482E5F59F5C}" destId="{E08E7C22-6276-4D9E-BEDD-55A4E85BF3AF}" srcOrd="1" destOrd="0" presId="urn:microsoft.com/office/officeart/2024/3/layout/hArchList1"/>
    <dgm:cxn modelId="{C7832272-83E0-4E2D-A4D7-F58FA53E3436}" type="presParOf" srcId="{D3BCF6A9-C43E-42CE-A5CE-2FD82BC195A9}" destId="{618BEB05-725B-4FD0-A577-F7DA88E702AC}" srcOrd="5" destOrd="0" presId="urn:microsoft.com/office/officeart/2024/3/layout/hArchList1"/>
    <dgm:cxn modelId="{F4C97F18-07C0-4192-8C0C-0A07528E47BE}" type="presParOf" srcId="{D3BCF6A9-C43E-42CE-A5CE-2FD82BC195A9}" destId="{F28CEF8B-3998-4C64-BF06-E1C62AF728D8}" srcOrd="6" destOrd="0" presId="urn:microsoft.com/office/officeart/2024/3/layout/hArchList1"/>
    <dgm:cxn modelId="{79EB6920-49FB-42B6-81CC-BB7895CA5338}" type="presParOf" srcId="{F28CEF8B-3998-4C64-BF06-E1C62AF728D8}" destId="{9894709C-EF0F-423A-80C1-81EFCAEA9E05}" srcOrd="0" destOrd="0" presId="urn:microsoft.com/office/officeart/2024/3/layout/hArchList1"/>
    <dgm:cxn modelId="{ED5AEF56-3887-40E8-971C-784EE7E47B99}" type="presParOf" srcId="{F28CEF8B-3998-4C64-BF06-E1C62AF728D8}" destId="{8FAA4F43-1963-4AC2-878A-1F9767B50B5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BD4C74-0CF0-415F-B7D3-4D7C9C863119}"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C3F1223-1132-4786-A342-85EC2374A7F0}">
      <dgm:prSet/>
      <dgm:spPr/>
      <dgm:t>
        <a:bodyPr/>
        <a:lstStyle/>
        <a:p>
          <a:pPr>
            <a:lnSpc>
              <a:spcPct val="100000"/>
            </a:lnSpc>
            <a:defRPr b="1"/>
          </a:pPr>
          <a:r>
            <a:rPr lang="en-US"/>
            <a:t>Role of Visual Hierarchy</a:t>
          </a:r>
        </a:p>
      </dgm:t>
    </dgm:pt>
    <dgm:pt modelId="{8A5ABF37-66E5-4096-96E1-791D1C183AE7}" type="parTrans" cxnId="{A6DC7DF6-D8D6-42EF-957B-66D19C9C4BB6}">
      <dgm:prSet/>
      <dgm:spPr/>
      <dgm:t>
        <a:bodyPr/>
        <a:lstStyle/>
        <a:p>
          <a:endParaRPr lang="en-US"/>
        </a:p>
      </dgm:t>
    </dgm:pt>
    <dgm:pt modelId="{38B388DA-E7DD-4121-946A-3F8AF8859F28}" type="sibTrans" cxnId="{A6DC7DF6-D8D6-42EF-957B-66D19C9C4BB6}">
      <dgm:prSet/>
      <dgm:spPr/>
      <dgm:t>
        <a:bodyPr/>
        <a:lstStyle/>
        <a:p>
          <a:pPr>
            <a:lnSpc>
              <a:spcPct val="100000"/>
            </a:lnSpc>
            <a:defRPr b="1"/>
          </a:pPr>
          <a:endParaRPr lang="en-US"/>
        </a:p>
      </dgm:t>
    </dgm:pt>
    <dgm:pt modelId="{B6367400-BCF4-4344-9F0E-058581C4F6D8}">
      <dgm:prSet/>
      <dgm:spPr/>
      <dgm:t>
        <a:bodyPr/>
        <a:lstStyle/>
        <a:p>
          <a:pPr>
            <a:lnSpc>
              <a:spcPct val="100000"/>
            </a:lnSpc>
          </a:pPr>
          <a:r>
            <a:rPr lang="en-US"/>
            <a:t>Visual hierarchy directs readers by highlighting the most important resume information with clear formatting and spacing.</a:t>
          </a:r>
        </a:p>
      </dgm:t>
    </dgm:pt>
    <dgm:pt modelId="{4F003E65-71C0-4F7E-AEF0-BD6ED713462A}" type="parTrans" cxnId="{B954370C-1216-46EA-851D-47DCBEE53EEA}">
      <dgm:prSet/>
      <dgm:spPr/>
      <dgm:t>
        <a:bodyPr/>
        <a:lstStyle/>
        <a:p>
          <a:endParaRPr lang="en-US"/>
        </a:p>
      </dgm:t>
    </dgm:pt>
    <dgm:pt modelId="{C7E35E04-8A8C-4EC0-9383-FA122B4C36F9}" type="sibTrans" cxnId="{B954370C-1216-46EA-851D-47DCBEE53EEA}">
      <dgm:prSet/>
      <dgm:spPr/>
      <dgm:t>
        <a:bodyPr/>
        <a:lstStyle/>
        <a:p>
          <a:endParaRPr lang="en-US"/>
        </a:p>
      </dgm:t>
    </dgm:pt>
    <dgm:pt modelId="{1BD63272-5AF5-4133-B81B-832923AA026E}">
      <dgm:prSet/>
      <dgm:spPr/>
      <dgm:t>
        <a:bodyPr/>
        <a:lstStyle/>
        <a:p>
          <a:pPr>
            <a:lnSpc>
              <a:spcPct val="100000"/>
            </a:lnSpc>
            <a:defRPr b="1"/>
          </a:pPr>
          <a:r>
            <a:rPr lang="en-US"/>
            <a:t>Impact of Information Density</a:t>
          </a:r>
        </a:p>
      </dgm:t>
    </dgm:pt>
    <dgm:pt modelId="{AC1A70EA-59A3-49CC-8755-EA8B3D0AC62E}" type="parTrans" cxnId="{7B35E543-D764-4F61-AD10-7357F8E41A08}">
      <dgm:prSet/>
      <dgm:spPr/>
      <dgm:t>
        <a:bodyPr/>
        <a:lstStyle/>
        <a:p>
          <a:endParaRPr lang="en-US"/>
        </a:p>
      </dgm:t>
    </dgm:pt>
    <dgm:pt modelId="{ABD69453-C47E-4B41-BC49-B6F16533931A}" type="sibTrans" cxnId="{7B35E543-D764-4F61-AD10-7357F8E41A08}">
      <dgm:prSet/>
      <dgm:spPr/>
      <dgm:t>
        <a:bodyPr/>
        <a:lstStyle/>
        <a:p>
          <a:pPr>
            <a:lnSpc>
              <a:spcPct val="100000"/>
            </a:lnSpc>
            <a:defRPr b="1"/>
          </a:pPr>
          <a:endParaRPr lang="en-US"/>
        </a:p>
      </dgm:t>
    </dgm:pt>
    <dgm:pt modelId="{B0E61937-A0D2-41F8-A328-DF0404D29F8B}">
      <dgm:prSet/>
      <dgm:spPr/>
      <dgm:t>
        <a:bodyPr/>
        <a:lstStyle/>
        <a:p>
          <a:pPr>
            <a:lnSpc>
              <a:spcPct val="100000"/>
            </a:lnSpc>
          </a:pPr>
          <a:r>
            <a:rPr lang="en-US"/>
            <a:t>High information density overwhelms readers, making content harder to understand and slowing decision making.</a:t>
          </a:r>
        </a:p>
      </dgm:t>
    </dgm:pt>
    <dgm:pt modelId="{A2E756BC-00E7-408F-83D6-A96CFE7502C3}" type="parTrans" cxnId="{E19EAA29-5D4C-4FF6-951E-7A1CABC07AC1}">
      <dgm:prSet/>
      <dgm:spPr/>
      <dgm:t>
        <a:bodyPr/>
        <a:lstStyle/>
        <a:p>
          <a:endParaRPr lang="en-US"/>
        </a:p>
      </dgm:t>
    </dgm:pt>
    <dgm:pt modelId="{91CFE8E9-8404-4092-AD68-84DD62047AB7}" type="sibTrans" cxnId="{E19EAA29-5D4C-4FF6-951E-7A1CABC07AC1}">
      <dgm:prSet/>
      <dgm:spPr/>
      <dgm:t>
        <a:bodyPr/>
        <a:lstStyle/>
        <a:p>
          <a:endParaRPr lang="en-US"/>
        </a:p>
      </dgm:t>
    </dgm:pt>
    <dgm:pt modelId="{E8AA253B-4BA9-43BC-AF8B-96DB02A99766}">
      <dgm:prSet/>
      <dgm:spPr/>
      <dgm:t>
        <a:bodyPr/>
        <a:lstStyle/>
        <a:p>
          <a:pPr>
            <a:lnSpc>
              <a:spcPct val="100000"/>
            </a:lnSpc>
            <a:defRPr b="1"/>
          </a:pPr>
          <a:r>
            <a:rPr lang="en-US"/>
            <a:t>Optimizing for Entry-Level Resumes</a:t>
          </a:r>
        </a:p>
      </dgm:t>
    </dgm:pt>
    <dgm:pt modelId="{CA7E24E3-D90B-4483-9B04-DA3A4D0A81CD}" type="parTrans" cxnId="{8366D1BB-C780-429E-9726-3C25E4E23A6F}">
      <dgm:prSet/>
      <dgm:spPr/>
      <dgm:t>
        <a:bodyPr/>
        <a:lstStyle/>
        <a:p>
          <a:endParaRPr lang="en-US"/>
        </a:p>
      </dgm:t>
    </dgm:pt>
    <dgm:pt modelId="{7A0ADA85-1ADA-48EE-BCE4-F9E3B8A16D44}" type="sibTrans" cxnId="{8366D1BB-C780-429E-9726-3C25E4E23A6F}">
      <dgm:prSet/>
      <dgm:spPr/>
      <dgm:t>
        <a:bodyPr/>
        <a:lstStyle/>
        <a:p>
          <a:pPr>
            <a:lnSpc>
              <a:spcPct val="100000"/>
            </a:lnSpc>
            <a:defRPr b="1"/>
          </a:pPr>
          <a:endParaRPr lang="en-US"/>
        </a:p>
      </dgm:t>
    </dgm:pt>
    <dgm:pt modelId="{CD1B33CE-B4D6-4486-9507-74CAB00E16BB}">
      <dgm:prSet/>
      <dgm:spPr/>
      <dgm:t>
        <a:bodyPr/>
        <a:lstStyle/>
        <a:p>
          <a:pPr>
            <a:lnSpc>
              <a:spcPct val="100000"/>
            </a:lnSpc>
          </a:pPr>
          <a:r>
            <a:rPr lang="en-US"/>
            <a:t>Reducing density ensures skills and outcomes are clear, supporting equitable evaluation and faster recruiter review.</a:t>
          </a:r>
        </a:p>
      </dgm:t>
    </dgm:pt>
    <dgm:pt modelId="{81769A59-7987-4DBD-B50D-0B1001D27F39}" type="parTrans" cxnId="{17A09977-A5A3-4763-808C-A80B6F67B10A}">
      <dgm:prSet/>
      <dgm:spPr/>
      <dgm:t>
        <a:bodyPr/>
        <a:lstStyle/>
        <a:p>
          <a:endParaRPr lang="en-US"/>
        </a:p>
      </dgm:t>
    </dgm:pt>
    <dgm:pt modelId="{5C9FB646-DBBC-40FB-A79E-68FAFB8EB9F3}" type="sibTrans" cxnId="{17A09977-A5A3-4763-808C-A80B6F67B10A}">
      <dgm:prSet/>
      <dgm:spPr/>
      <dgm:t>
        <a:bodyPr/>
        <a:lstStyle/>
        <a:p>
          <a:endParaRPr lang="en-US"/>
        </a:p>
      </dgm:t>
    </dgm:pt>
    <dgm:pt modelId="{F2A7B4CB-11EB-4D7A-A1F6-2C6AC2E48267}">
      <dgm:prSet/>
      <dgm:spPr/>
      <dgm:t>
        <a:bodyPr/>
        <a:lstStyle/>
        <a:p>
          <a:pPr>
            <a:lnSpc>
              <a:spcPct val="100000"/>
            </a:lnSpc>
            <a:defRPr b="1"/>
          </a:pPr>
          <a:r>
            <a:rPr lang="en-US"/>
            <a:t>Enhancing Readability</a:t>
          </a:r>
        </a:p>
      </dgm:t>
    </dgm:pt>
    <dgm:pt modelId="{0646E1D5-61B9-45EC-9ED2-EAF301E69510}" type="parTrans" cxnId="{404C2CC2-4E67-446D-B969-3B00CC23A9DE}">
      <dgm:prSet/>
      <dgm:spPr/>
      <dgm:t>
        <a:bodyPr/>
        <a:lstStyle/>
        <a:p>
          <a:endParaRPr lang="en-US"/>
        </a:p>
      </dgm:t>
    </dgm:pt>
    <dgm:pt modelId="{1AEC66A3-F30E-44FC-9715-3D4A4EE746D3}" type="sibTrans" cxnId="{404C2CC2-4E67-446D-B969-3B00CC23A9DE}">
      <dgm:prSet/>
      <dgm:spPr/>
      <dgm:t>
        <a:bodyPr/>
        <a:lstStyle/>
        <a:p>
          <a:endParaRPr lang="en-US"/>
        </a:p>
      </dgm:t>
    </dgm:pt>
    <dgm:pt modelId="{B6F28F6E-BBB5-4EE3-A91F-B24ECFA7B86E}">
      <dgm:prSet/>
      <dgm:spPr/>
      <dgm:t>
        <a:bodyPr/>
        <a:lstStyle/>
        <a:p>
          <a:pPr>
            <a:lnSpc>
              <a:spcPct val="100000"/>
            </a:lnSpc>
          </a:pPr>
          <a:r>
            <a:rPr lang="en-US"/>
            <a:t>Consistent spacing, minimal bolding, and parallel bullet points improve readability and effectiveness of resumes.</a:t>
          </a:r>
        </a:p>
      </dgm:t>
    </dgm:pt>
    <dgm:pt modelId="{5A485709-1255-4D25-8405-337FE2DB2476}" type="parTrans" cxnId="{7CF40D74-28E6-42A1-82FB-7C8D93389B06}">
      <dgm:prSet/>
      <dgm:spPr/>
      <dgm:t>
        <a:bodyPr/>
        <a:lstStyle/>
        <a:p>
          <a:endParaRPr lang="en-US"/>
        </a:p>
      </dgm:t>
    </dgm:pt>
    <dgm:pt modelId="{C4754077-EE7C-4499-ACD6-616FD205AFC4}" type="sibTrans" cxnId="{7CF40D74-28E6-42A1-82FB-7C8D93389B06}">
      <dgm:prSet/>
      <dgm:spPr/>
      <dgm:t>
        <a:bodyPr/>
        <a:lstStyle/>
        <a:p>
          <a:endParaRPr lang="en-US"/>
        </a:p>
      </dgm:t>
    </dgm:pt>
    <dgm:pt modelId="{C003E186-2A45-4E03-B25D-D9EE9148315F}" type="pres">
      <dgm:prSet presAssocID="{41BD4C74-0CF0-415F-B7D3-4D7C9C863119}" presName="Name0" presStyleCnt="0">
        <dgm:presLayoutVars>
          <dgm:dir/>
          <dgm:resizeHandles val="exact"/>
        </dgm:presLayoutVars>
      </dgm:prSet>
      <dgm:spPr/>
    </dgm:pt>
    <dgm:pt modelId="{AFB05942-BC7E-4D8E-8FE0-B2A452B4B83C}" type="pres">
      <dgm:prSet presAssocID="{7C3F1223-1132-4786-A342-85EC2374A7F0}" presName="compNode" presStyleCnt="0"/>
      <dgm:spPr/>
    </dgm:pt>
    <dgm:pt modelId="{00F73D93-5BB8-433E-A96F-5C8FEA63E517}" type="pres">
      <dgm:prSet presAssocID="{7C3F1223-1132-4786-A342-85EC2374A7F0}" presName="pictRect" presStyleLbl="revTx" presStyleIdx="0" presStyleCnt="8">
        <dgm:presLayoutVars>
          <dgm:chMax val="0"/>
          <dgm:bulletEnabled/>
        </dgm:presLayoutVars>
      </dgm:prSet>
      <dgm:spPr/>
    </dgm:pt>
    <dgm:pt modelId="{DEA1A2ED-5C07-4174-B9C7-C16B182143A0}" type="pres">
      <dgm:prSet presAssocID="{7C3F1223-1132-4786-A342-85EC2374A7F0}" presName="textRect" presStyleLbl="revTx" presStyleIdx="1" presStyleCnt="8">
        <dgm:presLayoutVars>
          <dgm:bulletEnabled/>
        </dgm:presLayoutVars>
      </dgm:prSet>
      <dgm:spPr/>
    </dgm:pt>
    <dgm:pt modelId="{AD1AE3AA-2F2C-4E02-8266-13F43CDA0B27}" type="pres">
      <dgm:prSet presAssocID="{38B388DA-E7DD-4121-946A-3F8AF8859F28}" presName="sibTrans" presStyleLbl="sibTrans2D1" presStyleIdx="0" presStyleCnt="0"/>
      <dgm:spPr/>
    </dgm:pt>
    <dgm:pt modelId="{A8D51341-3760-4396-B71D-63E34F5E2266}" type="pres">
      <dgm:prSet presAssocID="{1BD63272-5AF5-4133-B81B-832923AA026E}" presName="compNode" presStyleCnt="0"/>
      <dgm:spPr/>
    </dgm:pt>
    <dgm:pt modelId="{F1D19DBA-38CF-40AD-B9F7-09B31BDE0857}" type="pres">
      <dgm:prSet presAssocID="{1BD63272-5AF5-4133-B81B-832923AA026E}" presName="pictRect" presStyleLbl="revTx" presStyleIdx="2" presStyleCnt="8">
        <dgm:presLayoutVars>
          <dgm:chMax val="0"/>
          <dgm:bulletEnabled/>
        </dgm:presLayoutVars>
      </dgm:prSet>
      <dgm:spPr/>
    </dgm:pt>
    <dgm:pt modelId="{055DF95B-8806-4767-8F35-B105444F5EA0}" type="pres">
      <dgm:prSet presAssocID="{1BD63272-5AF5-4133-B81B-832923AA026E}" presName="textRect" presStyleLbl="revTx" presStyleIdx="3" presStyleCnt="8">
        <dgm:presLayoutVars>
          <dgm:bulletEnabled/>
        </dgm:presLayoutVars>
      </dgm:prSet>
      <dgm:spPr/>
    </dgm:pt>
    <dgm:pt modelId="{DE316489-7ABC-4C2D-85ED-695A99E3C56E}" type="pres">
      <dgm:prSet presAssocID="{ABD69453-C47E-4B41-BC49-B6F16533931A}" presName="sibTrans" presStyleLbl="sibTrans2D1" presStyleIdx="0" presStyleCnt="0"/>
      <dgm:spPr/>
    </dgm:pt>
    <dgm:pt modelId="{9F6D1C69-E7DF-4B6F-BB80-34FE9DC2A9ED}" type="pres">
      <dgm:prSet presAssocID="{E8AA253B-4BA9-43BC-AF8B-96DB02A99766}" presName="compNode" presStyleCnt="0"/>
      <dgm:spPr/>
    </dgm:pt>
    <dgm:pt modelId="{948C4466-0A33-4529-8E9E-797B2518ACE9}" type="pres">
      <dgm:prSet presAssocID="{E8AA253B-4BA9-43BC-AF8B-96DB02A99766}" presName="pictRect" presStyleLbl="revTx" presStyleIdx="4" presStyleCnt="8">
        <dgm:presLayoutVars>
          <dgm:chMax val="0"/>
          <dgm:bulletEnabled/>
        </dgm:presLayoutVars>
      </dgm:prSet>
      <dgm:spPr/>
    </dgm:pt>
    <dgm:pt modelId="{50204D5B-16CC-4926-B833-A25218851883}" type="pres">
      <dgm:prSet presAssocID="{E8AA253B-4BA9-43BC-AF8B-96DB02A99766}" presName="textRect" presStyleLbl="revTx" presStyleIdx="5" presStyleCnt="8">
        <dgm:presLayoutVars>
          <dgm:bulletEnabled/>
        </dgm:presLayoutVars>
      </dgm:prSet>
      <dgm:spPr/>
    </dgm:pt>
    <dgm:pt modelId="{A4129D8B-958A-4759-A8C6-32D66E1FDD53}" type="pres">
      <dgm:prSet presAssocID="{7A0ADA85-1ADA-48EE-BCE4-F9E3B8A16D44}" presName="sibTrans" presStyleLbl="sibTrans2D1" presStyleIdx="0" presStyleCnt="0"/>
      <dgm:spPr/>
    </dgm:pt>
    <dgm:pt modelId="{2C492FCE-F5D6-460F-90E1-6FD8390F02F2}" type="pres">
      <dgm:prSet presAssocID="{F2A7B4CB-11EB-4D7A-A1F6-2C6AC2E48267}" presName="compNode" presStyleCnt="0"/>
      <dgm:spPr/>
    </dgm:pt>
    <dgm:pt modelId="{8F329128-64B7-4882-8423-0620729B241E}" type="pres">
      <dgm:prSet presAssocID="{F2A7B4CB-11EB-4D7A-A1F6-2C6AC2E48267}" presName="pictRect" presStyleLbl="revTx" presStyleIdx="6" presStyleCnt="8">
        <dgm:presLayoutVars>
          <dgm:chMax val="0"/>
          <dgm:bulletEnabled/>
        </dgm:presLayoutVars>
      </dgm:prSet>
      <dgm:spPr/>
    </dgm:pt>
    <dgm:pt modelId="{BC9A3543-F170-4B76-8B8B-15F09D8382F1}" type="pres">
      <dgm:prSet presAssocID="{F2A7B4CB-11EB-4D7A-A1F6-2C6AC2E48267}" presName="textRect" presStyleLbl="revTx" presStyleIdx="7" presStyleCnt="8">
        <dgm:presLayoutVars>
          <dgm:bulletEnabled/>
        </dgm:presLayoutVars>
      </dgm:prSet>
      <dgm:spPr/>
    </dgm:pt>
  </dgm:ptLst>
  <dgm:cxnLst>
    <dgm:cxn modelId="{95C4A509-0E17-4630-8F2C-600FAFDA897C}" type="presOf" srcId="{E8AA253B-4BA9-43BC-AF8B-96DB02A99766}" destId="{948C4466-0A33-4529-8E9E-797B2518ACE9}" srcOrd="0" destOrd="0" presId="urn:microsoft.com/office/officeart/2024/3/layout/hArchList1"/>
    <dgm:cxn modelId="{B954370C-1216-46EA-851D-47DCBEE53EEA}" srcId="{7C3F1223-1132-4786-A342-85EC2374A7F0}" destId="{B6367400-BCF4-4344-9F0E-058581C4F6D8}" srcOrd="0" destOrd="0" parTransId="{4F003E65-71C0-4F7E-AEF0-BD6ED713462A}" sibTransId="{C7E35E04-8A8C-4EC0-9383-FA122B4C36F9}"/>
    <dgm:cxn modelId="{E04D2815-A33C-4475-B3F7-37239F01AAC4}" type="presOf" srcId="{F2A7B4CB-11EB-4D7A-A1F6-2C6AC2E48267}" destId="{8F329128-64B7-4882-8423-0620729B241E}" srcOrd="0" destOrd="0" presId="urn:microsoft.com/office/officeart/2024/3/layout/hArchList1"/>
    <dgm:cxn modelId="{E19EAA29-5D4C-4FF6-951E-7A1CABC07AC1}" srcId="{1BD63272-5AF5-4133-B81B-832923AA026E}" destId="{B0E61937-A0D2-41F8-A328-DF0404D29F8B}" srcOrd="0" destOrd="0" parTransId="{A2E756BC-00E7-408F-83D6-A96CFE7502C3}" sibTransId="{91CFE8E9-8404-4092-AD68-84DD62047AB7}"/>
    <dgm:cxn modelId="{570F6C34-C1AA-4A92-B5B3-B575713561A6}" type="presOf" srcId="{41BD4C74-0CF0-415F-B7D3-4D7C9C863119}" destId="{C003E186-2A45-4E03-B25D-D9EE9148315F}" srcOrd="0" destOrd="0" presId="urn:microsoft.com/office/officeart/2024/3/layout/hArchList1"/>
    <dgm:cxn modelId="{1DAC5D3B-A9F9-460A-946F-D7674AD7056D}" type="presOf" srcId="{7C3F1223-1132-4786-A342-85EC2374A7F0}" destId="{00F73D93-5BB8-433E-A96F-5C8FEA63E517}" srcOrd="0" destOrd="0" presId="urn:microsoft.com/office/officeart/2024/3/layout/hArchList1"/>
    <dgm:cxn modelId="{7B35E543-D764-4F61-AD10-7357F8E41A08}" srcId="{41BD4C74-0CF0-415F-B7D3-4D7C9C863119}" destId="{1BD63272-5AF5-4133-B81B-832923AA026E}" srcOrd="1" destOrd="0" parTransId="{AC1A70EA-59A3-49CC-8755-EA8B3D0AC62E}" sibTransId="{ABD69453-C47E-4B41-BC49-B6F16533931A}"/>
    <dgm:cxn modelId="{B5F95971-4A22-4D02-BF9F-B2C198ABF7FD}" type="presOf" srcId="{38B388DA-E7DD-4121-946A-3F8AF8859F28}" destId="{AD1AE3AA-2F2C-4E02-8266-13F43CDA0B27}" srcOrd="0" destOrd="0" presId="urn:microsoft.com/office/officeart/2024/3/layout/hArchList1"/>
    <dgm:cxn modelId="{7CF40D74-28E6-42A1-82FB-7C8D93389B06}" srcId="{F2A7B4CB-11EB-4D7A-A1F6-2C6AC2E48267}" destId="{B6F28F6E-BBB5-4EE3-A91F-B24ECFA7B86E}" srcOrd="0" destOrd="0" parTransId="{5A485709-1255-4D25-8405-337FE2DB2476}" sibTransId="{C4754077-EE7C-4499-ACD6-616FD205AFC4}"/>
    <dgm:cxn modelId="{6DE07476-129F-4AD7-8A90-05B62DD59159}" type="presOf" srcId="{ABD69453-C47E-4B41-BC49-B6F16533931A}" destId="{DE316489-7ABC-4C2D-85ED-695A99E3C56E}" srcOrd="0" destOrd="0" presId="urn:microsoft.com/office/officeart/2024/3/layout/hArchList1"/>
    <dgm:cxn modelId="{17A09977-A5A3-4763-808C-A80B6F67B10A}" srcId="{E8AA253B-4BA9-43BC-AF8B-96DB02A99766}" destId="{CD1B33CE-B4D6-4486-9507-74CAB00E16BB}" srcOrd="0" destOrd="0" parTransId="{81769A59-7987-4DBD-B50D-0B1001D27F39}" sibTransId="{5C9FB646-DBBC-40FB-A79E-68FAFB8EB9F3}"/>
    <dgm:cxn modelId="{5860CC7F-C75E-4701-9E54-FA747F5EF78E}" type="presOf" srcId="{B6367400-BCF4-4344-9F0E-058581C4F6D8}" destId="{DEA1A2ED-5C07-4174-B9C7-C16B182143A0}" srcOrd="0" destOrd="0" presId="urn:microsoft.com/office/officeart/2024/3/layout/hArchList1"/>
    <dgm:cxn modelId="{BAC6E38A-B78D-428D-BE5B-FFFD32010DE2}" type="presOf" srcId="{1BD63272-5AF5-4133-B81B-832923AA026E}" destId="{F1D19DBA-38CF-40AD-B9F7-09B31BDE0857}" srcOrd="0" destOrd="0" presId="urn:microsoft.com/office/officeart/2024/3/layout/hArchList1"/>
    <dgm:cxn modelId="{A5E59AA7-107B-477E-85DC-CD8DD7DE4634}" type="presOf" srcId="{CD1B33CE-B4D6-4486-9507-74CAB00E16BB}" destId="{50204D5B-16CC-4926-B833-A25218851883}" srcOrd="0" destOrd="0" presId="urn:microsoft.com/office/officeart/2024/3/layout/hArchList1"/>
    <dgm:cxn modelId="{8366D1BB-C780-429E-9726-3C25E4E23A6F}" srcId="{41BD4C74-0CF0-415F-B7D3-4D7C9C863119}" destId="{E8AA253B-4BA9-43BC-AF8B-96DB02A99766}" srcOrd="2" destOrd="0" parTransId="{CA7E24E3-D90B-4483-9B04-DA3A4D0A81CD}" sibTransId="{7A0ADA85-1ADA-48EE-BCE4-F9E3B8A16D44}"/>
    <dgm:cxn modelId="{404C2CC2-4E67-446D-B969-3B00CC23A9DE}" srcId="{41BD4C74-0CF0-415F-B7D3-4D7C9C863119}" destId="{F2A7B4CB-11EB-4D7A-A1F6-2C6AC2E48267}" srcOrd="3" destOrd="0" parTransId="{0646E1D5-61B9-45EC-9ED2-EAF301E69510}" sibTransId="{1AEC66A3-F30E-44FC-9715-3D4A4EE746D3}"/>
    <dgm:cxn modelId="{CCFA55C5-54BC-4D85-A7A5-227B244B0E56}" type="presOf" srcId="{7A0ADA85-1ADA-48EE-BCE4-F9E3B8A16D44}" destId="{A4129D8B-958A-4759-A8C6-32D66E1FDD53}" srcOrd="0" destOrd="0" presId="urn:microsoft.com/office/officeart/2024/3/layout/hArchList1"/>
    <dgm:cxn modelId="{59E257D7-D748-4C1B-8831-EA793E33A18A}" type="presOf" srcId="{B6F28F6E-BBB5-4EE3-A91F-B24ECFA7B86E}" destId="{BC9A3543-F170-4B76-8B8B-15F09D8382F1}" srcOrd="0" destOrd="0" presId="urn:microsoft.com/office/officeart/2024/3/layout/hArchList1"/>
    <dgm:cxn modelId="{830C8FF4-B9A6-4A2C-97E5-4E201E5892F4}" type="presOf" srcId="{B0E61937-A0D2-41F8-A328-DF0404D29F8B}" destId="{055DF95B-8806-4767-8F35-B105444F5EA0}" srcOrd="0" destOrd="0" presId="urn:microsoft.com/office/officeart/2024/3/layout/hArchList1"/>
    <dgm:cxn modelId="{A6DC7DF6-D8D6-42EF-957B-66D19C9C4BB6}" srcId="{41BD4C74-0CF0-415F-B7D3-4D7C9C863119}" destId="{7C3F1223-1132-4786-A342-85EC2374A7F0}" srcOrd="0" destOrd="0" parTransId="{8A5ABF37-66E5-4096-96E1-791D1C183AE7}" sibTransId="{38B388DA-E7DD-4121-946A-3F8AF8859F28}"/>
    <dgm:cxn modelId="{400EAFA6-D5CF-4C6C-A933-A108B50C4F61}" type="presParOf" srcId="{C003E186-2A45-4E03-B25D-D9EE9148315F}" destId="{AFB05942-BC7E-4D8E-8FE0-B2A452B4B83C}" srcOrd="0" destOrd="0" presId="urn:microsoft.com/office/officeart/2024/3/layout/hArchList1"/>
    <dgm:cxn modelId="{B856A144-0250-4073-8D5B-CEBD9FDEA03C}" type="presParOf" srcId="{AFB05942-BC7E-4D8E-8FE0-B2A452B4B83C}" destId="{00F73D93-5BB8-433E-A96F-5C8FEA63E517}" srcOrd="0" destOrd="0" presId="urn:microsoft.com/office/officeart/2024/3/layout/hArchList1"/>
    <dgm:cxn modelId="{F4ADA9E1-DB9F-423E-84AB-92058FCAB7B0}" type="presParOf" srcId="{AFB05942-BC7E-4D8E-8FE0-B2A452B4B83C}" destId="{DEA1A2ED-5C07-4174-B9C7-C16B182143A0}" srcOrd="1" destOrd="0" presId="urn:microsoft.com/office/officeart/2024/3/layout/hArchList1"/>
    <dgm:cxn modelId="{85CF988B-1D03-429A-8BED-922FE50390D2}" type="presParOf" srcId="{C003E186-2A45-4E03-B25D-D9EE9148315F}" destId="{AD1AE3AA-2F2C-4E02-8266-13F43CDA0B27}" srcOrd="1" destOrd="0" presId="urn:microsoft.com/office/officeart/2024/3/layout/hArchList1"/>
    <dgm:cxn modelId="{B165F7A4-C59A-4FB9-98A9-0D140A716508}" type="presParOf" srcId="{C003E186-2A45-4E03-B25D-D9EE9148315F}" destId="{A8D51341-3760-4396-B71D-63E34F5E2266}" srcOrd="2" destOrd="0" presId="urn:microsoft.com/office/officeart/2024/3/layout/hArchList1"/>
    <dgm:cxn modelId="{BCB1CEC5-5600-4A09-9169-4A243488AD42}" type="presParOf" srcId="{A8D51341-3760-4396-B71D-63E34F5E2266}" destId="{F1D19DBA-38CF-40AD-B9F7-09B31BDE0857}" srcOrd="0" destOrd="0" presId="urn:microsoft.com/office/officeart/2024/3/layout/hArchList1"/>
    <dgm:cxn modelId="{D19F9F5F-E6C7-4B43-9A6B-8E7E76AA8F84}" type="presParOf" srcId="{A8D51341-3760-4396-B71D-63E34F5E2266}" destId="{055DF95B-8806-4767-8F35-B105444F5EA0}" srcOrd="1" destOrd="0" presId="urn:microsoft.com/office/officeart/2024/3/layout/hArchList1"/>
    <dgm:cxn modelId="{725B92A1-09C4-4322-85E3-E567AEBA7A01}" type="presParOf" srcId="{C003E186-2A45-4E03-B25D-D9EE9148315F}" destId="{DE316489-7ABC-4C2D-85ED-695A99E3C56E}" srcOrd="3" destOrd="0" presId="urn:microsoft.com/office/officeart/2024/3/layout/hArchList1"/>
    <dgm:cxn modelId="{B2331738-D7E4-45E6-9374-4407D8828EDA}" type="presParOf" srcId="{C003E186-2A45-4E03-B25D-D9EE9148315F}" destId="{9F6D1C69-E7DF-4B6F-BB80-34FE9DC2A9ED}" srcOrd="4" destOrd="0" presId="urn:microsoft.com/office/officeart/2024/3/layout/hArchList1"/>
    <dgm:cxn modelId="{DAE23634-1FCE-40EE-B731-C363E8E0208A}" type="presParOf" srcId="{9F6D1C69-E7DF-4B6F-BB80-34FE9DC2A9ED}" destId="{948C4466-0A33-4529-8E9E-797B2518ACE9}" srcOrd="0" destOrd="0" presId="urn:microsoft.com/office/officeart/2024/3/layout/hArchList1"/>
    <dgm:cxn modelId="{0A975425-FE62-4DAD-866D-966E8AD1DFCA}" type="presParOf" srcId="{9F6D1C69-E7DF-4B6F-BB80-34FE9DC2A9ED}" destId="{50204D5B-16CC-4926-B833-A25218851883}" srcOrd="1" destOrd="0" presId="urn:microsoft.com/office/officeart/2024/3/layout/hArchList1"/>
    <dgm:cxn modelId="{F3C59097-ABB7-483E-A6ED-944EC8C17FD1}" type="presParOf" srcId="{C003E186-2A45-4E03-B25D-D9EE9148315F}" destId="{A4129D8B-958A-4759-A8C6-32D66E1FDD53}" srcOrd="5" destOrd="0" presId="urn:microsoft.com/office/officeart/2024/3/layout/hArchList1"/>
    <dgm:cxn modelId="{CB65D57E-DF9E-4945-8DF1-D62EDBC924E0}" type="presParOf" srcId="{C003E186-2A45-4E03-B25D-D9EE9148315F}" destId="{2C492FCE-F5D6-460F-90E1-6FD8390F02F2}" srcOrd="6" destOrd="0" presId="urn:microsoft.com/office/officeart/2024/3/layout/hArchList1"/>
    <dgm:cxn modelId="{0C589CAE-73DA-48B9-8EDD-4F1BB61C9453}" type="presParOf" srcId="{2C492FCE-F5D6-460F-90E1-6FD8390F02F2}" destId="{8F329128-64B7-4882-8423-0620729B241E}" srcOrd="0" destOrd="0" presId="urn:microsoft.com/office/officeart/2024/3/layout/hArchList1"/>
    <dgm:cxn modelId="{5F726E1D-8D36-4C57-BFA9-0CD8039D8DEA}" type="presParOf" srcId="{2C492FCE-F5D6-460F-90E1-6FD8390F02F2}" destId="{BC9A3543-F170-4B76-8B8B-15F09D8382F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5529DBC-A35B-41E7-B5F4-2EE8D094A99F}"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49BF857D-C630-46D8-B4D6-754D692EF989}">
      <dgm:prSet/>
      <dgm:spPr/>
      <dgm:t>
        <a:bodyPr/>
        <a:lstStyle/>
        <a:p>
          <a:pPr>
            <a:lnSpc>
              <a:spcPct val="100000"/>
            </a:lnSpc>
            <a:defRPr b="1"/>
          </a:pPr>
          <a:r>
            <a:rPr lang="en-US"/>
            <a:t>Natural Keyword Integration</a:t>
          </a:r>
        </a:p>
      </dgm:t>
    </dgm:pt>
    <dgm:pt modelId="{108EBB37-45DC-41D1-83CF-A72D7020CCF7}" type="parTrans" cxnId="{59DE3E04-E546-4216-BC20-3770F818B248}">
      <dgm:prSet/>
      <dgm:spPr/>
      <dgm:t>
        <a:bodyPr/>
        <a:lstStyle/>
        <a:p>
          <a:endParaRPr lang="en-US"/>
        </a:p>
      </dgm:t>
    </dgm:pt>
    <dgm:pt modelId="{95E8D054-39E1-41BD-8FAE-ACAA80638ED0}" type="sibTrans" cxnId="{59DE3E04-E546-4216-BC20-3770F818B248}">
      <dgm:prSet/>
      <dgm:spPr/>
      <dgm:t>
        <a:bodyPr/>
        <a:lstStyle/>
        <a:p>
          <a:pPr>
            <a:lnSpc>
              <a:spcPct val="100000"/>
            </a:lnSpc>
            <a:defRPr b="1"/>
          </a:pPr>
          <a:endParaRPr lang="en-US"/>
        </a:p>
      </dgm:t>
    </dgm:pt>
    <dgm:pt modelId="{9EFAC702-28C7-48F1-9A65-5CEC402C7DF3}">
      <dgm:prSet/>
      <dgm:spPr/>
      <dgm:t>
        <a:bodyPr/>
        <a:lstStyle/>
        <a:p>
          <a:pPr>
            <a:lnSpc>
              <a:spcPct val="100000"/>
            </a:lnSpc>
          </a:pPr>
          <a:r>
            <a:rPr lang="en-US"/>
            <a:t>Use job description terms naturally in bullet points, skills, and accomplishments for authentic alignment.</a:t>
          </a:r>
        </a:p>
      </dgm:t>
    </dgm:pt>
    <dgm:pt modelId="{E7A9025B-A84B-48EE-B62A-2FE0B13E961F}" type="parTrans" cxnId="{EA0608F1-FD63-4943-B308-73C50FFF8E14}">
      <dgm:prSet/>
      <dgm:spPr/>
      <dgm:t>
        <a:bodyPr/>
        <a:lstStyle/>
        <a:p>
          <a:endParaRPr lang="en-US"/>
        </a:p>
      </dgm:t>
    </dgm:pt>
    <dgm:pt modelId="{670BCE23-4D44-4CF3-BDB8-BC5BBA8B577A}" type="sibTrans" cxnId="{EA0608F1-FD63-4943-B308-73C50FFF8E14}">
      <dgm:prSet/>
      <dgm:spPr/>
      <dgm:t>
        <a:bodyPr/>
        <a:lstStyle/>
        <a:p>
          <a:endParaRPr lang="en-US"/>
        </a:p>
      </dgm:t>
    </dgm:pt>
    <dgm:pt modelId="{C68C8451-9791-46CF-BC6B-277CA810B491}">
      <dgm:prSet/>
      <dgm:spPr/>
      <dgm:t>
        <a:bodyPr/>
        <a:lstStyle/>
        <a:p>
          <a:pPr>
            <a:lnSpc>
              <a:spcPct val="100000"/>
            </a:lnSpc>
            <a:defRPr b="1"/>
          </a:pPr>
          <a:r>
            <a:rPr lang="en-US"/>
            <a:t>Avoid Keyword Stuffing</a:t>
          </a:r>
        </a:p>
      </dgm:t>
    </dgm:pt>
    <dgm:pt modelId="{C9806D8D-933A-46A0-8B49-00D8AF3D7829}" type="parTrans" cxnId="{E4EDF843-B162-4B2E-BBB5-1A49A2CA48B9}">
      <dgm:prSet/>
      <dgm:spPr/>
      <dgm:t>
        <a:bodyPr/>
        <a:lstStyle/>
        <a:p>
          <a:endParaRPr lang="en-US"/>
        </a:p>
      </dgm:t>
    </dgm:pt>
    <dgm:pt modelId="{102CA3E4-48AF-4F2A-8B3E-6D1A68F96EF4}" type="sibTrans" cxnId="{E4EDF843-B162-4B2E-BBB5-1A49A2CA48B9}">
      <dgm:prSet/>
      <dgm:spPr/>
      <dgm:t>
        <a:bodyPr/>
        <a:lstStyle/>
        <a:p>
          <a:pPr>
            <a:lnSpc>
              <a:spcPct val="100000"/>
            </a:lnSpc>
            <a:defRPr b="1"/>
          </a:pPr>
          <a:endParaRPr lang="en-US"/>
        </a:p>
      </dgm:t>
    </dgm:pt>
    <dgm:pt modelId="{BEACFD49-2EE1-4650-B906-2ABD4FF10139}">
      <dgm:prSet/>
      <dgm:spPr/>
      <dgm:t>
        <a:bodyPr/>
        <a:lstStyle/>
        <a:p>
          <a:pPr>
            <a:lnSpc>
              <a:spcPct val="100000"/>
            </a:lnSpc>
          </a:pPr>
          <a:r>
            <a:rPr lang="en-US"/>
            <a:t>Excessive keyword repetition or irrelevant skills reduce readability and hurt ATS scoring.</a:t>
          </a:r>
        </a:p>
      </dgm:t>
    </dgm:pt>
    <dgm:pt modelId="{B193C605-A84E-4D60-880B-D0A148BEB261}" type="parTrans" cxnId="{F47A707E-6BC1-451E-860D-A44B5AD20662}">
      <dgm:prSet/>
      <dgm:spPr/>
      <dgm:t>
        <a:bodyPr/>
        <a:lstStyle/>
        <a:p>
          <a:endParaRPr lang="en-US"/>
        </a:p>
      </dgm:t>
    </dgm:pt>
    <dgm:pt modelId="{9C602C7E-00E4-475D-B6A7-0987C08E4790}" type="sibTrans" cxnId="{F47A707E-6BC1-451E-860D-A44B5AD20662}">
      <dgm:prSet/>
      <dgm:spPr/>
      <dgm:t>
        <a:bodyPr/>
        <a:lstStyle/>
        <a:p>
          <a:endParaRPr lang="en-US"/>
        </a:p>
      </dgm:t>
    </dgm:pt>
    <dgm:pt modelId="{A8B39010-00D2-4945-A2F9-3C02AEBA4D1D}">
      <dgm:prSet/>
      <dgm:spPr/>
      <dgm:t>
        <a:bodyPr/>
        <a:lstStyle/>
        <a:p>
          <a:pPr>
            <a:lnSpc>
              <a:spcPct val="100000"/>
            </a:lnSpc>
            <a:defRPr b="1"/>
          </a:pPr>
          <a:r>
            <a:rPr lang="en-US"/>
            <a:t>Contextual Relevance</a:t>
          </a:r>
        </a:p>
      </dgm:t>
    </dgm:pt>
    <dgm:pt modelId="{D584CBCD-07A0-48CB-B0BA-200029EAD81D}" type="parTrans" cxnId="{C6BB77F2-1804-44BB-B56C-9224715120D7}">
      <dgm:prSet/>
      <dgm:spPr/>
      <dgm:t>
        <a:bodyPr/>
        <a:lstStyle/>
        <a:p>
          <a:endParaRPr lang="en-US"/>
        </a:p>
      </dgm:t>
    </dgm:pt>
    <dgm:pt modelId="{DE4A8883-8071-45A2-A8D6-FC8BB31EA6C8}" type="sibTrans" cxnId="{C6BB77F2-1804-44BB-B56C-9224715120D7}">
      <dgm:prSet/>
      <dgm:spPr/>
      <dgm:t>
        <a:bodyPr/>
        <a:lstStyle/>
        <a:p>
          <a:pPr>
            <a:lnSpc>
              <a:spcPct val="100000"/>
            </a:lnSpc>
            <a:defRPr b="1"/>
          </a:pPr>
          <a:endParaRPr lang="en-US"/>
        </a:p>
      </dgm:t>
    </dgm:pt>
    <dgm:pt modelId="{199F846D-146E-4748-A376-856EA7E9770B}">
      <dgm:prSet/>
      <dgm:spPr/>
      <dgm:t>
        <a:bodyPr/>
        <a:lstStyle/>
        <a:p>
          <a:pPr>
            <a:lnSpc>
              <a:spcPct val="100000"/>
            </a:lnSpc>
          </a:pPr>
          <a:r>
            <a:rPr lang="en-US"/>
            <a:t>Incorporate keywords only when they accurately describe responsibilities or achievements.</a:t>
          </a:r>
        </a:p>
      </dgm:t>
    </dgm:pt>
    <dgm:pt modelId="{3D1FB0F5-4B6F-451A-96AB-D9728445192F}" type="parTrans" cxnId="{2BCF9DB6-5684-46CF-B16B-63A26539E02E}">
      <dgm:prSet/>
      <dgm:spPr/>
      <dgm:t>
        <a:bodyPr/>
        <a:lstStyle/>
        <a:p>
          <a:endParaRPr lang="en-US"/>
        </a:p>
      </dgm:t>
    </dgm:pt>
    <dgm:pt modelId="{73B1FAFD-CA5E-41FC-8495-3A1A048EAB22}" type="sibTrans" cxnId="{2BCF9DB6-5684-46CF-B16B-63A26539E02E}">
      <dgm:prSet/>
      <dgm:spPr/>
      <dgm:t>
        <a:bodyPr/>
        <a:lstStyle/>
        <a:p>
          <a:endParaRPr lang="en-US"/>
        </a:p>
      </dgm:t>
    </dgm:pt>
    <dgm:pt modelId="{655D0718-F748-4458-B1D3-B1BD78CEF4A2}">
      <dgm:prSet/>
      <dgm:spPr/>
      <dgm:t>
        <a:bodyPr/>
        <a:lstStyle/>
        <a:p>
          <a:pPr>
            <a:lnSpc>
              <a:spcPct val="100000"/>
            </a:lnSpc>
            <a:defRPr b="1"/>
          </a:pPr>
          <a:r>
            <a:rPr lang="en-US"/>
            <a:t>Benefits for Entry-Level</a:t>
          </a:r>
        </a:p>
      </dgm:t>
    </dgm:pt>
    <dgm:pt modelId="{47800B61-F3DC-4E53-A371-12D31519364B}" type="parTrans" cxnId="{2DD5EACD-0E97-4C1D-AA8A-37404010D64D}">
      <dgm:prSet/>
      <dgm:spPr/>
      <dgm:t>
        <a:bodyPr/>
        <a:lstStyle/>
        <a:p>
          <a:endParaRPr lang="en-US"/>
        </a:p>
      </dgm:t>
    </dgm:pt>
    <dgm:pt modelId="{A7F97021-42F3-4912-8826-ED98F93E190C}" type="sibTrans" cxnId="{2DD5EACD-0E97-4C1D-AA8A-37404010D64D}">
      <dgm:prSet/>
      <dgm:spPr/>
      <dgm:t>
        <a:bodyPr/>
        <a:lstStyle/>
        <a:p>
          <a:endParaRPr lang="en-US"/>
        </a:p>
      </dgm:t>
    </dgm:pt>
    <dgm:pt modelId="{251B6346-F011-4646-96D9-AA9BF9033FC8}">
      <dgm:prSet/>
      <dgm:spPr/>
      <dgm:t>
        <a:bodyPr/>
        <a:lstStyle/>
        <a:p>
          <a:pPr>
            <a:lnSpc>
              <a:spcPct val="100000"/>
            </a:lnSpc>
          </a:pPr>
          <a:r>
            <a:rPr lang="en-US"/>
            <a:t>Thoughtful keyword alignment improves evaluation by both ATS systems and human recruiters.</a:t>
          </a:r>
        </a:p>
      </dgm:t>
    </dgm:pt>
    <dgm:pt modelId="{1228B6A5-FD0D-4EB8-9A6C-6447AE83BFBC}" type="parTrans" cxnId="{EEE56C2E-3143-4CF6-97F7-A2C82EA9CA96}">
      <dgm:prSet/>
      <dgm:spPr/>
      <dgm:t>
        <a:bodyPr/>
        <a:lstStyle/>
        <a:p>
          <a:endParaRPr lang="en-US"/>
        </a:p>
      </dgm:t>
    </dgm:pt>
    <dgm:pt modelId="{A2ED8D00-9F82-41C0-A745-889BB50843E1}" type="sibTrans" cxnId="{EEE56C2E-3143-4CF6-97F7-A2C82EA9CA96}">
      <dgm:prSet/>
      <dgm:spPr/>
      <dgm:t>
        <a:bodyPr/>
        <a:lstStyle/>
        <a:p>
          <a:endParaRPr lang="en-US"/>
        </a:p>
      </dgm:t>
    </dgm:pt>
    <dgm:pt modelId="{6A2A831E-5B32-4EB6-AA47-AAD3F15C74D6}" type="pres">
      <dgm:prSet presAssocID="{35529DBC-A35B-41E7-B5F4-2EE8D094A99F}" presName="Name0" presStyleCnt="0">
        <dgm:presLayoutVars>
          <dgm:dir/>
          <dgm:resizeHandles val="exact"/>
        </dgm:presLayoutVars>
      </dgm:prSet>
      <dgm:spPr/>
    </dgm:pt>
    <dgm:pt modelId="{EC70214A-59A4-4CBB-B690-62100F399999}" type="pres">
      <dgm:prSet presAssocID="{49BF857D-C630-46D8-B4D6-754D692EF989}" presName="compNode" presStyleCnt="0"/>
      <dgm:spPr/>
    </dgm:pt>
    <dgm:pt modelId="{C916B312-0099-4C27-985E-11925F4E82E3}" type="pres">
      <dgm:prSet presAssocID="{49BF857D-C630-46D8-B4D6-754D692EF989}" presName="pictRect" presStyleLbl="revTx" presStyleIdx="0" presStyleCnt="8">
        <dgm:presLayoutVars>
          <dgm:chMax val="0"/>
          <dgm:bulletEnabled/>
        </dgm:presLayoutVars>
      </dgm:prSet>
      <dgm:spPr/>
    </dgm:pt>
    <dgm:pt modelId="{6278EED6-E70A-4F59-96FA-676AECE91BE7}" type="pres">
      <dgm:prSet presAssocID="{49BF857D-C630-46D8-B4D6-754D692EF989}" presName="textRect" presStyleLbl="revTx" presStyleIdx="1" presStyleCnt="8">
        <dgm:presLayoutVars>
          <dgm:bulletEnabled/>
        </dgm:presLayoutVars>
      </dgm:prSet>
      <dgm:spPr/>
    </dgm:pt>
    <dgm:pt modelId="{41FE7C82-2963-4EF9-929E-04BB73467528}" type="pres">
      <dgm:prSet presAssocID="{95E8D054-39E1-41BD-8FAE-ACAA80638ED0}" presName="sibTrans" presStyleLbl="sibTrans2D1" presStyleIdx="0" presStyleCnt="0"/>
      <dgm:spPr/>
    </dgm:pt>
    <dgm:pt modelId="{E4406BA8-A14A-4DFC-AA5D-C10C5E1A71FC}" type="pres">
      <dgm:prSet presAssocID="{C68C8451-9791-46CF-BC6B-277CA810B491}" presName="compNode" presStyleCnt="0"/>
      <dgm:spPr/>
    </dgm:pt>
    <dgm:pt modelId="{CE7B87A0-80E7-41E5-B466-7AE889FE62B9}" type="pres">
      <dgm:prSet presAssocID="{C68C8451-9791-46CF-BC6B-277CA810B491}" presName="pictRect" presStyleLbl="revTx" presStyleIdx="2" presStyleCnt="8">
        <dgm:presLayoutVars>
          <dgm:chMax val="0"/>
          <dgm:bulletEnabled/>
        </dgm:presLayoutVars>
      </dgm:prSet>
      <dgm:spPr/>
    </dgm:pt>
    <dgm:pt modelId="{25EB7B1E-216B-4C48-A11A-6426EEE1FD1E}" type="pres">
      <dgm:prSet presAssocID="{C68C8451-9791-46CF-BC6B-277CA810B491}" presName="textRect" presStyleLbl="revTx" presStyleIdx="3" presStyleCnt="8">
        <dgm:presLayoutVars>
          <dgm:bulletEnabled/>
        </dgm:presLayoutVars>
      </dgm:prSet>
      <dgm:spPr/>
    </dgm:pt>
    <dgm:pt modelId="{00FB51C1-1CF8-4ADE-A037-4370EC763C09}" type="pres">
      <dgm:prSet presAssocID="{102CA3E4-48AF-4F2A-8B3E-6D1A68F96EF4}" presName="sibTrans" presStyleLbl="sibTrans2D1" presStyleIdx="0" presStyleCnt="0"/>
      <dgm:spPr/>
    </dgm:pt>
    <dgm:pt modelId="{971EB5E8-016B-455E-A7D2-06CBB2FA07B1}" type="pres">
      <dgm:prSet presAssocID="{A8B39010-00D2-4945-A2F9-3C02AEBA4D1D}" presName="compNode" presStyleCnt="0"/>
      <dgm:spPr/>
    </dgm:pt>
    <dgm:pt modelId="{CE585CFD-A6FE-44DA-B939-35AAF48DF56F}" type="pres">
      <dgm:prSet presAssocID="{A8B39010-00D2-4945-A2F9-3C02AEBA4D1D}" presName="pictRect" presStyleLbl="revTx" presStyleIdx="4" presStyleCnt="8">
        <dgm:presLayoutVars>
          <dgm:chMax val="0"/>
          <dgm:bulletEnabled/>
        </dgm:presLayoutVars>
      </dgm:prSet>
      <dgm:spPr/>
    </dgm:pt>
    <dgm:pt modelId="{CD733071-5A9B-49E2-BABB-8A4F49D1C1A2}" type="pres">
      <dgm:prSet presAssocID="{A8B39010-00D2-4945-A2F9-3C02AEBA4D1D}" presName="textRect" presStyleLbl="revTx" presStyleIdx="5" presStyleCnt="8">
        <dgm:presLayoutVars>
          <dgm:bulletEnabled/>
        </dgm:presLayoutVars>
      </dgm:prSet>
      <dgm:spPr/>
    </dgm:pt>
    <dgm:pt modelId="{C6145453-632D-4D15-9F58-4B7C529BA5DA}" type="pres">
      <dgm:prSet presAssocID="{DE4A8883-8071-45A2-A8D6-FC8BB31EA6C8}" presName="sibTrans" presStyleLbl="sibTrans2D1" presStyleIdx="0" presStyleCnt="0"/>
      <dgm:spPr/>
    </dgm:pt>
    <dgm:pt modelId="{E89A3D1F-EEE2-4E85-AE94-CDC05BFC07E7}" type="pres">
      <dgm:prSet presAssocID="{655D0718-F748-4458-B1D3-B1BD78CEF4A2}" presName="compNode" presStyleCnt="0"/>
      <dgm:spPr/>
    </dgm:pt>
    <dgm:pt modelId="{80A3B6D0-30CF-43EA-A55A-27DFAC1AD7B8}" type="pres">
      <dgm:prSet presAssocID="{655D0718-F748-4458-B1D3-B1BD78CEF4A2}" presName="pictRect" presStyleLbl="revTx" presStyleIdx="6" presStyleCnt="8">
        <dgm:presLayoutVars>
          <dgm:chMax val="0"/>
          <dgm:bulletEnabled/>
        </dgm:presLayoutVars>
      </dgm:prSet>
      <dgm:spPr/>
    </dgm:pt>
    <dgm:pt modelId="{9FF24A4F-B231-4B38-8B16-7E1E108A44A2}" type="pres">
      <dgm:prSet presAssocID="{655D0718-F748-4458-B1D3-B1BD78CEF4A2}" presName="textRect" presStyleLbl="revTx" presStyleIdx="7" presStyleCnt="8">
        <dgm:presLayoutVars>
          <dgm:bulletEnabled/>
        </dgm:presLayoutVars>
      </dgm:prSet>
      <dgm:spPr/>
    </dgm:pt>
  </dgm:ptLst>
  <dgm:cxnLst>
    <dgm:cxn modelId="{59DE3E04-E546-4216-BC20-3770F818B248}" srcId="{35529DBC-A35B-41E7-B5F4-2EE8D094A99F}" destId="{49BF857D-C630-46D8-B4D6-754D692EF989}" srcOrd="0" destOrd="0" parTransId="{108EBB37-45DC-41D1-83CF-A72D7020CCF7}" sibTransId="{95E8D054-39E1-41BD-8FAE-ACAA80638ED0}"/>
    <dgm:cxn modelId="{DEB96F28-E9E1-4BCD-8FB6-ACB2FA0167C4}" type="presOf" srcId="{35529DBC-A35B-41E7-B5F4-2EE8D094A99F}" destId="{6A2A831E-5B32-4EB6-AA47-AAD3F15C74D6}" srcOrd="0" destOrd="0" presId="urn:microsoft.com/office/officeart/2024/3/layout/hArchList1"/>
    <dgm:cxn modelId="{B608A729-CED1-4416-A237-132F59913922}" type="presOf" srcId="{DE4A8883-8071-45A2-A8D6-FC8BB31EA6C8}" destId="{C6145453-632D-4D15-9F58-4B7C529BA5DA}" srcOrd="0" destOrd="0" presId="urn:microsoft.com/office/officeart/2024/3/layout/hArchList1"/>
    <dgm:cxn modelId="{EEE56C2E-3143-4CF6-97F7-A2C82EA9CA96}" srcId="{655D0718-F748-4458-B1D3-B1BD78CEF4A2}" destId="{251B6346-F011-4646-96D9-AA9BF9033FC8}" srcOrd="0" destOrd="0" parTransId="{1228B6A5-FD0D-4EB8-9A6C-6447AE83BFBC}" sibTransId="{A2ED8D00-9F82-41C0-A745-889BB50843E1}"/>
    <dgm:cxn modelId="{B57D2A38-370F-42EC-99C9-B9B90B207809}" type="presOf" srcId="{655D0718-F748-4458-B1D3-B1BD78CEF4A2}" destId="{80A3B6D0-30CF-43EA-A55A-27DFAC1AD7B8}" srcOrd="0" destOrd="0" presId="urn:microsoft.com/office/officeart/2024/3/layout/hArchList1"/>
    <dgm:cxn modelId="{E4EDF843-B162-4B2E-BBB5-1A49A2CA48B9}" srcId="{35529DBC-A35B-41E7-B5F4-2EE8D094A99F}" destId="{C68C8451-9791-46CF-BC6B-277CA810B491}" srcOrd="1" destOrd="0" parTransId="{C9806D8D-933A-46A0-8B49-00D8AF3D7829}" sibTransId="{102CA3E4-48AF-4F2A-8B3E-6D1A68F96EF4}"/>
    <dgm:cxn modelId="{ACECD448-AE59-406C-8CEC-6CC8C95D8AF1}" type="presOf" srcId="{49BF857D-C630-46D8-B4D6-754D692EF989}" destId="{C916B312-0099-4C27-985E-11925F4E82E3}" srcOrd="0" destOrd="0" presId="urn:microsoft.com/office/officeart/2024/3/layout/hArchList1"/>
    <dgm:cxn modelId="{9C32F26E-7F7C-4948-AC9F-4F4259DA4664}" type="presOf" srcId="{BEACFD49-2EE1-4650-B906-2ABD4FF10139}" destId="{25EB7B1E-216B-4C48-A11A-6426EEE1FD1E}" srcOrd="0" destOrd="0" presId="urn:microsoft.com/office/officeart/2024/3/layout/hArchList1"/>
    <dgm:cxn modelId="{F47A707E-6BC1-451E-860D-A44B5AD20662}" srcId="{C68C8451-9791-46CF-BC6B-277CA810B491}" destId="{BEACFD49-2EE1-4650-B906-2ABD4FF10139}" srcOrd="0" destOrd="0" parTransId="{B193C605-A84E-4D60-880B-D0A148BEB261}" sibTransId="{9C602C7E-00E4-475D-B6A7-0987C08E4790}"/>
    <dgm:cxn modelId="{B9DF3491-16B5-43C7-BAF4-B7D46BEDC364}" type="presOf" srcId="{102CA3E4-48AF-4F2A-8B3E-6D1A68F96EF4}" destId="{00FB51C1-1CF8-4ADE-A037-4370EC763C09}" srcOrd="0" destOrd="0" presId="urn:microsoft.com/office/officeart/2024/3/layout/hArchList1"/>
    <dgm:cxn modelId="{2BCF9DB6-5684-46CF-B16B-63A26539E02E}" srcId="{A8B39010-00D2-4945-A2F9-3C02AEBA4D1D}" destId="{199F846D-146E-4748-A376-856EA7E9770B}" srcOrd="0" destOrd="0" parTransId="{3D1FB0F5-4B6F-451A-96AB-D9728445192F}" sibTransId="{73B1FAFD-CA5E-41FC-8495-3A1A048EAB22}"/>
    <dgm:cxn modelId="{4ECF37BE-A67D-4639-A5C7-DE137EE16260}" type="presOf" srcId="{A8B39010-00D2-4945-A2F9-3C02AEBA4D1D}" destId="{CE585CFD-A6FE-44DA-B939-35AAF48DF56F}" srcOrd="0" destOrd="0" presId="urn:microsoft.com/office/officeart/2024/3/layout/hArchList1"/>
    <dgm:cxn modelId="{2DD5EACD-0E97-4C1D-AA8A-37404010D64D}" srcId="{35529DBC-A35B-41E7-B5F4-2EE8D094A99F}" destId="{655D0718-F748-4458-B1D3-B1BD78CEF4A2}" srcOrd="3" destOrd="0" parTransId="{47800B61-F3DC-4E53-A371-12D31519364B}" sibTransId="{A7F97021-42F3-4912-8826-ED98F93E190C}"/>
    <dgm:cxn modelId="{F550D5D2-0E53-4EB7-BC02-B9E565E330B6}" type="presOf" srcId="{199F846D-146E-4748-A376-856EA7E9770B}" destId="{CD733071-5A9B-49E2-BABB-8A4F49D1C1A2}" srcOrd="0" destOrd="0" presId="urn:microsoft.com/office/officeart/2024/3/layout/hArchList1"/>
    <dgm:cxn modelId="{9E9520D3-A6BB-49A9-B88D-4BB5AC049A4E}" type="presOf" srcId="{C68C8451-9791-46CF-BC6B-277CA810B491}" destId="{CE7B87A0-80E7-41E5-B466-7AE889FE62B9}" srcOrd="0" destOrd="0" presId="urn:microsoft.com/office/officeart/2024/3/layout/hArchList1"/>
    <dgm:cxn modelId="{85B0A2E3-65B3-4DAA-8255-4BCA8BB99E69}" type="presOf" srcId="{251B6346-F011-4646-96D9-AA9BF9033FC8}" destId="{9FF24A4F-B231-4B38-8B16-7E1E108A44A2}" srcOrd="0" destOrd="0" presId="urn:microsoft.com/office/officeart/2024/3/layout/hArchList1"/>
    <dgm:cxn modelId="{07709AE7-AB09-4481-8B7D-7F33C5CCAE81}" type="presOf" srcId="{95E8D054-39E1-41BD-8FAE-ACAA80638ED0}" destId="{41FE7C82-2963-4EF9-929E-04BB73467528}" srcOrd="0" destOrd="0" presId="urn:microsoft.com/office/officeart/2024/3/layout/hArchList1"/>
    <dgm:cxn modelId="{EA0608F1-FD63-4943-B308-73C50FFF8E14}" srcId="{49BF857D-C630-46D8-B4D6-754D692EF989}" destId="{9EFAC702-28C7-48F1-9A65-5CEC402C7DF3}" srcOrd="0" destOrd="0" parTransId="{E7A9025B-A84B-48EE-B62A-2FE0B13E961F}" sibTransId="{670BCE23-4D44-4CF3-BDB8-BC5BBA8B577A}"/>
    <dgm:cxn modelId="{C6BB77F2-1804-44BB-B56C-9224715120D7}" srcId="{35529DBC-A35B-41E7-B5F4-2EE8D094A99F}" destId="{A8B39010-00D2-4945-A2F9-3C02AEBA4D1D}" srcOrd="2" destOrd="0" parTransId="{D584CBCD-07A0-48CB-B0BA-200029EAD81D}" sibTransId="{DE4A8883-8071-45A2-A8D6-FC8BB31EA6C8}"/>
    <dgm:cxn modelId="{8EEF7BFD-37C2-4CFC-85C5-C983C096749E}" type="presOf" srcId="{9EFAC702-28C7-48F1-9A65-5CEC402C7DF3}" destId="{6278EED6-E70A-4F59-96FA-676AECE91BE7}" srcOrd="0" destOrd="0" presId="urn:microsoft.com/office/officeart/2024/3/layout/hArchList1"/>
    <dgm:cxn modelId="{B39E0CFB-A06B-4A9A-A144-82643DBA1C23}" type="presParOf" srcId="{6A2A831E-5B32-4EB6-AA47-AAD3F15C74D6}" destId="{EC70214A-59A4-4CBB-B690-62100F399999}" srcOrd="0" destOrd="0" presId="urn:microsoft.com/office/officeart/2024/3/layout/hArchList1"/>
    <dgm:cxn modelId="{65C0884A-2F23-41A0-92F8-A84ADC2EBEC2}" type="presParOf" srcId="{EC70214A-59A4-4CBB-B690-62100F399999}" destId="{C916B312-0099-4C27-985E-11925F4E82E3}" srcOrd="0" destOrd="0" presId="urn:microsoft.com/office/officeart/2024/3/layout/hArchList1"/>
    <dgm:cxn modelId="{17FB9FB8-AE05-4137-ADCA-D3C4797A846F}" type="presParOf" srcId="{EC70214A-59A4-4CBB-B690-62100F399999}" destId="{6278EED6-E70A-4F59-96FA-676AECE91BE7}" srcOrd="1" destOrd="0" presId="urn:microsoft.com/office/officeart/2024/3/layout/hArchList1"/>
    <dgm:cxn modelId="{DDC46C1B-0CB5-4913-AFE1-119F6F4C63AA}" type="presParOf" srcId="{6A2A831E-5B32-4EB6-AA47-AAD3F15C74D6}" destId="{41FE7C82-2963-4EF9-929E-04BB73467528}" srcOrd="1" destOrd="0" presId="urn:microsoft.com/office/officeart/2024/3/layout/hArchList1"/>
    <dgm:cxn modelId="{D2D98582-0F3D-43F3-BAB0-E5C3D70786D2}" type="presParOf" srcId="{6A2A831E-5B32-4EB6-AA47-AAD3F15C74D6}" destId="{E4406BA8-A14A-4DFC-AA5D-C10C5E1A71FC}" srcOrd="2" destOrd="0" presId="urn:microsoft.com/office/officeart/2024/3/layout/hArchList1"/>
    <dgm:cxn modelId="{9E3FD43E-2713-47F0-9A14-DC21531CECC0}" type="presParOf" srcId="{E4406BA8-A14A-4DFC-AA5D-C10C5E1A71FC}" destId="{CE7B87A0-80E7-41E5-B466-7AE889FE62B9}" srcOrd="0" destOrd="0" presId="urn:microsoft.com/office/officeart/2024/3/layout/hArchList1"/>
    <dgm:cxn modelId="{A28BFF28-4E94-4AF7-9AC5-B8EF1E49AAD2}" type="presParOf" srcId="{E4406BA8-A14A-4DFC-AA5D-C10C5E1A71FC}" destId="{25EB7B1E-216B-4C48-A11A-6426EEE1FD1E}" srcOrd="1" destOrd="0" presId="urn:microsoft.com/office/officeart/2024/3/layout/hArchList1"/>
    <dgm:cxn modelId="{B07AEE53-F62E-41B2-8BC8-FA1CA57F1ECA}" type="presParOf" srcId="{6A2A831E-5B32-4EB6-AA47-AAD3F15C74D6}" destId="{00FB51C1-1CF8-4ADE-A037-4370EC763C09}" srcOrd="3" destOrd="0" presId="urn:microsoft.com/office/officeart/2024/3/layout/hArchList1"/>
    <dgm:cxn modelId="{2DC5BAC5-D167-4586-A979-8F5A7829D278}" type="presParOf" srcId="{6A2A831E-5B32-4EB6-AA47-AAD3F15C74D6}" destId="{971EB5E8-016B-455E-A7D2-06CBB2FA07B1}" srcOrd="4" destOrd="0" presId="urn:microsoft.com/office/officeart/2024/3/layout/hArchList1"/>
    <dgm:cxn modelId="{93C59AAD-C53D-4085-A2CE-F3B6E1AB00E6}" type="presParOf" srcId="{971EB5E8-016B-455E-A7D2-06CBB2FA07B1}" destId="{CE585CFD-A6FE-44DA-B939-35AAF48DF56F}" srcOrd="0" destOrd="0" presId="urn:microsoft.com/office/officeart/2024/3/layout/hArchList1"/>
    <dgm:cxn modelId="{A3A73251-E06A-4828-A1FB-A3784B66CFEF}" type="presParOf" srcId="{971EB5E8-016B-455E-A7D2-06CBB2FA07B1}" destId="{CD733071-5A9B-49E2-BABB-8A4F49D1C1A2}" srcOrd="1" destOrd="0" presId="urn:microsoft.com/office/officeart/2024/3/layout/hArchList1"/>
    <dgm:cxn modelId="{020B624E-42C4-4CE4-AF08-0D5392112CA8}" type="presParOf" srcId="{6A2A831E-5B32-4EB6-AA47-AAD3F15C74D6}" destId="{C6145453-632D-4D15-9F58-4B7C529BA5DA}" srcOrd="5" destOrd="0" presId="urn:microsoft.com/office/officeart/2024/3/layout/hArchList1"/>
    <dgm:cxn modelId="{419C5F7F-666B-49B9-B8CD-3B0CA2CDC4CE}" type="presParOf" srcId="{6A2A831E-5B32-4EB6-AA47-AAD3F15C74D6}" destId="{E89A3D1F-EEE2-4E85-AE94-CDC05BFC07E7}" srcOrd="6" destOrd="0" presId="urn:microsoft.com/office/officeart/2024/3/layout/hArchList1"/>
    <dgm:cxn modelId="{6EF80A0F-31CF-40D8-96F5-8CAD05CF213D}" type="presParOf" srcId="{E89A3D1F-EEE2-4E85-AE94-CDC05BFC07E7}" destId="{80A3B6D0-30CF-43EA-A55A-27DFAC1AD7B8}" srcOrd="0" destOrd="0" presId="urn:microsoft.com/office/officeart/2024/3/layout/hArchList1"/>
    <dgm:cxn modelId="{AFF722CD-3300-4978-B2DF-D652D489E3C2}" type="presParOf" srcId="{E89A3D1F-EEE2-4E85-AE94-CDC05BFC07E7}" destId="{9FF24A4F-B231-4B38-8B16-7E1E108A44A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1BC34A1-1B10-42DC-9379-AEC456A98E9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ABD6A11-0973-4B22-873C-6DB0BD2AAD84}">
      <dgm:prSet/>
      <dgm:spPr/>
      <dgm:t>
        <a:bodyPr/>
        <a:lstStyle/>
        <a:p>
          <a:pPr>
            <a:lnSpc>
              <a:spcPct val="100000"/>
            </a:lnSpc>
            <a:defRPr b="1"/>
          </a:pPr>
          <a:r>
            <a:rPr lang="en-US"/>
            <a:t>Consistent Formatting</a:t>
          </a:r>
        </a:p>
      </dgm:t>
    </dgm:pt>
    <dgm:pt modelId="{ECE5E832-6A8E-4AA2-86A7-626FD4DD4211}" type="parTrans" cxnId="{934CA248-B36D-4750-B96E-E2344256FC5D}">
      <dgm:prSet/>
      <dgm:spPr/>
      <dgm:t>
        <a:bodyPr/>
        <a:lstStyle/>
        <a:p>
          <a:endParaRPr lang="en-US"/>
        </a:p>
      </dgm:t>
    </dgm:pt>
    <dgm:pt modelId="{A99C36B0-73F3-45C2-A401-7E9DB65A0F06}" type="sibTrans" cxnId="{934CA248-B36D-4750-B96E-E2344256FC5D}">
      <dgm:prSet/>
      <dgm:spPr/>
      <dgm:t>
        <a:bodyPr/>
        <a:lstStyle/>
        <a:p>
          <a:pPr>
            <a:lnSpc>
              <a:spcPct val="100000"/>
            </a:lnSpc>
            <a:defRPr b="1"/>
          </a:pPr>
          <a:endParaRPr lang="en-US"/>
        </a:p>
      </dgm:t>
    </dgm:pt>
    <dgm:pt modelId="{6D69C96B-5BA5-49C7-89BA-873D7B53E8E4}">
      <dgm:prSet/>
      <dgm:spPr/>
      <dgm:t>
        <a:bodyPr/>
        <a:lstStyle/>
        <a:p>
          <a:pPr>
            <a:lnSpc>
              <a:spcPct val="100000"/>
            </a:lnSpc>
          </a:pPr>
          <a:r>
            <a:rPr lang="en-US"/>
            <a:t>Use uniform formatting across all work entries to create a cohesive and professional resume appearance.</a:t>
          </a:r>
        </a:p>
      </dgm:t>
    </dgm:pt>
    <dgm:pt modelId="{5FD83E54-1676-49DD-9A33-E9C37F28572B}" type="parTrans" cxnId="{9102EFB1-CE93-492A-A19A-0E1921B29A28}">
      <dgm:prSet/>
      <dgm:spPr/>
      <dgm:t>
        <a:bodyPr/>
        <a:lstStyle/>
        <a:p>
          <a:endParaRPr lang="en-US"/>
        </a:p>
      </dgm:t>
    </dgm:pt>
    <dgm:pt modelId="{9EAEFB59-6C59-46C6-8577-307D640DBDEE}" type="sibTrans" cxnId="{9102EFB1-CE93-492A-A19A-0E1921B29A28}">
      <dgm:prSet/>
      <dgm:spPr/>
      <dgm:t>
        <a:bodyPr/>
        <a:lstStyle/>
        <a:p>
          <a:endParaRPr lang="en-US"/>
        </a:p>
      </dgm:t>
    </dgm:pt>
    <dgm:pt modelId="{4AF597CE-0703-40BE-A203-D6F898552198}">
      <dgm:prSet/>
      <dgm:spPr/>
      <dgm:t>
        <a:bodyPr/>
        <a:lstStyle/>
        <a:p>
          <a:pPr>
            <a:lnSpc>
              <a:spcPct val="100000"/>
            </a:lnSpc>
            <a:defRPr b="1"/>
          </a:pPr>
          <a:r>
            <a:rPr lang="en-US"/>
            <a:t>Logical Chronological Order</a:t>
          </a:r>
        </a:p>
      </dgm:t>
    </dgm:pt>
    <dgm:pt modelId="{98480347-B29B-40E5-BD49-E81079E51464}" type="parTrans" cxnId="{E959845B-355D-4EE2-98D1-4BDAB2EF6939}">
      <dgm:prSet/>
      <dgm:spPr/>
      <dgm:t>
        <a:bodyPr/>
        <a:lstStyle/>
        <a:p>
          <a:endParaRPr lang="en-US"/>
        </a:p>
      </dgm:t>
    </dgm:pt>
    <dgm:pt modelId="{1EAFA366-E30F-430D-A807-0B05A3EF1A64}" type="sibTrans" cxnId="{E959845B-355D-4EE2-98D1-4BDAB2EF6939}">
      <dgm:prSet/>
      <dgm:spPr/>
      <dgm:t>
        <a:bodyPr/>
        <a:lstStyle/>
        <a:p>
          <a:pPr>
            <a:lnSpc>
              <a:spcPct val="100000"/>
            </a:lnSpc>
            <a:defRPr b="1"/>
          </a:pPr>
          <a:endParaRPr lang="en-US"/>
        </a:p>
      </dgm:t>
    </dgm:pt>
    <dgm:pt modelId="{A64B19CC-150D-43D2-99DB-10B9548B4CF5}">
      <dgm:prSet/>
      <dgm:spPr/>
      <dgm:t>
        <a:bodyPr/>
        <a:lstStyle/>
        <a:p>
          <a:pPr>
            <a:lnSpc>
              <a:spcPct val="100000"/>
            </a:lnSpc>
          </a:pPr>
          <a:r>
            <a:rPr lang="en-US"/>
            <a:t>Organize employment history chronologically to help recruiters quickly follow career progression.</a:t>
          </a:r>
        </a:p>
      </dgm:t>
    </dgm:pt>
    <dgm:pt modelId="{618903B1-90D7-43C4-8660-BF66813898D7}" type="parTrans" cxnId="{A761FF69-2CB4-4843-9EAC-45CA9FED12C0}">
      <dgm:prSet/>
      <dgm:spPr/>
      <dgm:t>
        <a:bodyPr/>
        <a:lstStyle/>
        <a:p>
          <a:endParaRPr lang="en-US"/>
        </a:p>
      </dgm:t>
    </dgm:pt>
    <dgm:pt modelId="{629D977B-A6F3-437F-99F1-456E8779D71F}" type="sibTrans" cxnId="{A761FF69-2CB4-4843-9EAC-45CA9FED12C0}">
      <dgm:prSet/>
      <dgm:spPr/>
      <dgm:t>
        <a:bodyPr/>
        <a:lstStyle/>
        <a:p>
          <a:endParaRPr lang="en-US"/>
        </a:p>
      </dgm:t>
    </dgm:pt>
    <dgm:pt modelId="{A7D2FD3C-7700-4D30-82C5-299A8B7BBBEC}">
      <dgm:prSet/>
      <dgm:spPr/>
      <dgm:t>
        <a:bodyPr/>
        <a:lstStyle/>
        <a:p>
          <a:pPr>
            <a:lnSpc>
              <a:spcPct val="100000"/>
            </a:lnSpc>
            <a:defRPr b="1"/>
          </a:pPr>
          <a:r>
            <a:rPr lang="en-US"/>
            <a:t>Clear Section Divisions</a:t>
          </a:r>
        </a:p>
      </dgm:t>
    </dgm:pt>
    <dgm:pt modelId="{6A97DECE-A1A1-40E7-BE71-EB8CA1555BB2}" type="parTrans" cxnId="{C5EE99B7-D636-4505-BD9C-FDE08F89129F}">
      <dgm:prSet/>
      <dgm:spPr/>
      <dgm:t>
        <a:bodyPr/>
        <a:lstStyle/>
        <a:p>
          <a:endParaRPr lang="en-US"/>
        </a:p>
      </dgm:t>
    </dgm:pt>
    <dgm:pt modelId="{8C93FB01-69AD-4062-9298-6B9471F43D78}" type="sibTrans" cxnId="{C5EE99B7-D636-4505-BD9C-FDE08F89129F}">
      <dgm:prSet/>
      <dgm:spPr/>
      <dgm:t>
        <a:bodyPr/>
        <a:lstStyle/>
        <a:p>
          <a:pPr>
            <a:lnSpc>
              <a:spcPct val="100000"/>
            </a:lnSpc>
            <a:defRPr b="1"/>
          </a:pPr>
          <a:endParaRPr lang="en-US"/>
        </a:p>
      </dgm:t>
    </dgm:pt>
    <dgm:pt modelId="{764069D1-302D-4BFA-B918-CEB1ED82F954}">
      <dgm:prSet/>
      <dgm:spPr/>
      <dgm:t>
        <a:bodyPr/>
        <a:lstStyle/>
        <a:p>
          <a:pPr>
            <a:lnSpc>
              <a:spcPct val="100000"/>
            </a:lnSpc>
          </a:pPr>
          <a:r>
            <a:rPr lang="en-US"/>
            <a:t>Divide resume into distinct sections to improve readability and highlight key qualifications.</a:t>
          </a:r>
        </a:p>
      </dgm:t>
    </dgm:pt>
    <dgm:pt modelId="{D97FC7F4-27BF-4E74-BCAF-39A865523EAC}" type="parTrans" cxnId="{0ACD4804-3977-4FCD-BFC5-7073A60A67E5}">
      <dgm:prSet/>
      <dgm:spPr/>
      <dgm:t>
        <a:bodyPr/>
        <a:lstStyle/>
        <a:p>
          <a:endParaRPr lang="en-US"/>
        </a:p>
      </dgm:t>
    </dgm:pt>
    <dgm:pt modelId="{6E1B7213-6C82-4083-8F80-C4086AEE57CE}" type="sibTrans" cxnId="{0ACD4804-3977-4FCD-BFC5-7073A60A67E5}">
      <dgm:prSet/>
      <dgm:spPr/>
      <dgm:t>
        <a:bodyPr/>
        <a:lstStyle/>
        <a:p>
          <a:endParaRPr lang="en-US"/>
        </a:p>
      </dgm:t>
    </dgm:pt>
    <dgm:pt modelId="{30333F32-A6D8-4077-9BCB-7A73E6B4BAEA}">
      <dgm:prSet/>
      <dgm:spPr/>
      <dgm:t>
        <a:bodyPr/>
        <a:lstStyle/>
        <a:p>
          <a:pPr>
            <a:lnSpc>
              <a:spcPct val="100000"/>
            </a:lnSpc>
            <a:defRPr b="1"/>
          </a:pPr>
          <a:r>
            <a:rPr lang="en-US"/>
            <a:t>Entry-Level Focus</a:t>
          </a:r>
        </a:p>
      </dgm:t>
    </dgm:pt>
    <dgm:pt modelId="{0981F8AF-4690-4139-B6B0-8B7743E27823}" type="parTrans" cxnId="{5C92E5D9-D6DF-4165-A2DA-D212C3CECC7C}">
      <dgm:prSet/>
      <dgm:spPr/>
      <dgm:t>
        <a:bodyPr/>
        <a:lstStyle/>
        <a:p>
          <a:endParaRPr lang="en-US"/>
        </a:p>
      </dgm:t>
    </dgm:pt>
    <dgm:pt modelId="{83675FB4-A89F-4D06-B900-69CF4CE9C9CA}" type="sibTrans" cxnId="{5C92E5D9-D6DF-4165-A2DA-D212C3CECC7C}">
      <dgm:prSet/>
      <dgm:spPr/>
      <dgm:t>
        <a:bodyPr/>
        <a:lstStyle/>
        <a:p>
          <a:endParaRPr lang="en-US"/>
        </a:p>
      </dgm:t>
    </dgm:pt>
    <dgm:pt modelId="{4F46BE92-34F9-40DF-96AF-E03820BFD28C}">
      <dgm:prSet/>
      <dgm:spPr/>
      <dgm:t>
        <a:bodyPr/>
        <a:lstStyle/>
        <a:p>
          <a:pPr>
            <a:lnSpc>
              <a:spcPct val="100000"/>
            </a:lnSpc>
          </a:pPr>
          <a:r>
            <a:rPr lang="en-US"/>
            <a:t>Highlight transferable skills and relevant experience tailored to employer expectations for entry-level candidates.</a:t>
          </a:r>
        </a:p>
      </dgm:t>
    </dgm:pt>
    <dgm:pt modelId="{78CC1699-E413-4506-BFEC-2F1742568A4B}" type="parTrans" cxnId="{AB96F292-A65B-4E99-8A0E-0D6A61902BA6}">
      <dgm:prSet/>
      <dgm:spPr/>
      <dgm:t>
        <a:bodyPr/>
        <a:lstStyle/>
        <a:p>
          <a:endParaRPr lang="en-US"/>
        </a:p>
      </dgm:t>
    </dgm:pt>
    <dgm:pt modelId="{4CCD187E-B4CB-4C2F-83F8-2D4AAA102C8D}" type="sibTrans" cxnId="{AB96F292-A65B-4E99-8A0E-0D6A61902BA6}">
      <dgm:prSet/>
      <dgm:spPr/>
      <dgm:t>
        <a:bodyPr/>
        <a:lstStyle/>
        <a:p>
          <a:endParaRPr lang="en-US"/>
        </a:p>
      </dgm:t>
    </dgm:pt>
    <dgm:pt modelId="{E5FBB060-0E2D-410B-B99F-0EF004458E97}" type="pres">
      <dgm:prSet presAssocID="{F1BC34A1-1B10-42DC-9379-AEC456A98E96}" presName="Name0" presStyleCnt="0">
        <dgm:presLayoutVars>
          <dgm:dir/>
          <dgm:resizeHandles val="exact"/>
        </dgm:presLayoutVars>
      </dgm:prSet>
      <dgm:spPr/>
    </dgm:pt>
    <dgm:pt modelId="{14810D0A-793F-4999-A29D-D4AAE3A2F964}" type="pres">
      <dgm:prSet presAssocID="{6ABD6A11-0973-4B22-873C-6DB0BD2AAD84}" presName="compNode" presStyleCnt="0"/>
      <dgm:spPr/>
    </dgm:pt>
    <dgm:pt modelId="{B61AF4A7-9A23-4688-91C3-8E314943DBB8}" type="pres">
      <dgm:prSet presAssocID="{6ABD6A11-0973-4B22-873C-6DB0BD2AAD84}" presName="pictRect" presStyleLbl="revTx" presStyleIdx="0" presStyleCnt="8">
        <dgm:presLayoutVars>
          <dgm:chMax val="0"/>
          <dgm:bulletEnabled/>
        </dgm:presLayoutVars>
      </dgm:prSet>
      <dgm:spPr/>
    </dgm:pt>
    <dgm:pt modelId="{BA4B83FF-A04E-4CD4-B050-AB62662C904B}" type="pres">
      <dgm:prSet presAssocID="{6ABD6A11-0973-4B22-873C-6DB0BD2AAD84}" presName="textRect" presStyleLbl="revTx" presStyleIdx="1" presStyleCnt="8">
        <dgm:presLayoutVars>
          <dgm:bulletEnabled/>
        </dgm:presLayoutVars>
      </dgm:prSet>
      <dgm:spPr/>
    </dgm:pt>
    <dgm:pt modelId="{FC1FB2A3-4C48-47FE-88A8-ED8A584C812B}" type="pres">
      <dgm:prSet presAssocID="{A99C36B0-73F3-45C2-A401-7E9DB65A0F06}" presName="sibTrans" presStyleLbl="sibTrans2D1" presStyleIdx="0" presStyleCnt="0"/>
      <dgm:spPr/>
    </dgm:pt>
    <dgm:pt modelId="{25918432-E418-4A2D-A554-7D089810E4A2}" type="pres">
      <dgm:prSet presAssocID="{4AF597CE-0703-40BE-A203-D6F898552198}" presName="compNode" presStyleCnt="0"/>
      <dgm:spPr/>
    </dgm:pt>
    <dgm:pt modelId="{E131A208-C4D0-4152-BD59-25A328B5E8C1}" type="pres">
      <dgm:prSet presAssocID="{4AF597CE-0703-40BE-A203-D6F898552198}" presName="pictRect" presStyleLbl="revTx" presStyleIdx="2" presStyleCnt="8">
        <dgm:presLayoutVars>
          <dgm:chMax val="0"/>
          <dgm:bulletEnabled/>
        </dgm:presLayoutVars>
      </dgm:prSet>
      <dgm:spPr/>
    </dgm:pt>
    <dgm:pt modelId="{14294042-FFEB-4152-8A29-54176423CACF}" type="pres">
      <dgm:prSet presAssocID="{4AF597CE-0703-40BE-A203-D6F898552198}" presName="textRect" presStyleLbl="revTx" presStyleIdx="3" presStyleCnt="8">
        <dgm:presLayoutVars>
          <dgm:bulletEnabled/>
        </dgm:presLayoutVars>
      </dgm:prSet>
      <dgm:spPr/>
    </dgm:pt>
    <dgm:pt modelId="{52B726DD-B395-4CB1-A876-5B0F9D909E42}" type="pres">
      <dgm:prSet presAssocID="{1EAFA366-E30F-430D-A807-0B05A3EF1A64}" presName="sibTrans" presStyleLbl="sibTrans2D1" presStyleIdx="0" presStyleCnt="0"/>
      <dgm:spPr/>
    </dgm:pt>
    <dgm:pt modelId="{28D04D62-B4B1-40DC-846C-44443EE69143}" type="pres">
      <dgm:prSet presAssocID="{A7D2FD3C-7700-4D30-82C5-299A8B7BBBEC}" presName="compNode" presStyleCnt="0"/>
      <dgm:spPr/>
    </dgm:pt>
    <dgm:pt modelId="{8B8424BB-110C-4231-9D9E-B38F1B6F50F1}" type="pres">
      <dgm:prSet presAssocID="{A7D2FD3C-7700-4D30-82C5-299A8B7BBBEC}" presName="pictRect" presStyleLbl="revTx" presStyleIdx="4" presStyleCnt="8">
        <dgm:presLayoutVars>
          <dgm:chMax val="0"/>
          <dgm:bulletEnabled/>
        </dgm:presLayoutVars>
      </dgm:prSet>
      <dgm:spPr/>
    </dgm:pt>
    <dgm:pt modelId="{D422541C-482E-486E-BB7E-4109D53C24E6}" type="pres">
      <dgm:prSet presAssocID="{A7D2FD3C-7700-4D30-82C5-299A8B7BBBEC}" presName="textRect" presStyleLbl="revTx" presStyleIdx="5" presStyleCnt="8">
        <dgm:presLayoutVars>
          <dgm:bulletEnabled/>
        </dgm:presLayoutVars>
      </dgm:prSet>
      <dgm:spPr/>
    </dgm:pt>
    <dgm:pt modelId="{8E77E799-60B8-4C85-B0A8-32239E537CAB}" type="pres">
      <dgm:prSet presAssocID="{8C93FB01-69AD-4062-9298-6B9471F43D78}" presName="sibTrans" presStyleLbl="sibTrans2D1" presStyleIdx="0" presStyleCnt="0"/>
      <dgm:spPr/>
    </dgm:pt>
    <dgm:pt modelId="{3E575F55-CF58-475F-A4F3-73E1DB00FEF7}" type="pres">
      <dgm:prSet presAssocID="{30333F32-A6D8-4077-9BCB-7A73E6B4BAEA}" presName="compNode" presStyleCnt="0"/>
      <dgm:spPr/>
    </dgm:pt>
    <dgm:pt modelId="{ADBBCB5A-578D-4008-BF4A-D7CB59C76A6E}" type="pres">
      <dgm:prSet presAssocID="{30333F32-A6D8-4077-9BCB-7A73E6B4BAEA}" presName="pictRect" presStyleLbl="revTx" presStyleIdx="6" presStyleCnt="8">
        <dgm:presLayoutVars>
          <dgm:chMax val="0"/>
          <dgm:bulletEnabled/>
        </dgm:presLayoutVars>
      </dgm:prSet>
      <dgm:spPr/>
    </dgm:pt>
    <dgm:pt modelId="{69268357-95C0-4BBD-BB61-415DB19F653A}" type="pres">
      <dgm:prSet presAssocID="{30333F32-A6D8-4077-9BCB-7A73E6B4BAEA}" presName="textRect" presStyleLbl="revTx" presStyleIdx="7" presStyleCnt="8">
        <dgm:presLayoutVars>
          <dgm:bulletEnabled/>
        </dgm:presLayoutVars>
      </dgm:prSet>
      <dgm:spPr/>
    </dgm:pt>
  </dgm:ptLst>
  <dgm:cxnLst>
    <dgm:cxn modelId="{0ACD4804-3977-4FCD-BFC5-7073A60A67E5}" srcId="{A7D2FD3C-7700-4D30-82C5-299A8B7BBBEC}" destId="{764069D1-302D-4BFA-B918-CEB1ED82F954}" srcOrd="0" destOrd="0" parTransId="{D97FC7F4-27BF-4E74-BCAF-39A865523EAC}" sibTransId="{6E1B7213-6C82-4083-8F80-C4086AEE57CE}"/>
    <dgm:cxn modelId="{B6254C05-5269-4DC7-98AD-06BE5A7DCD6D}" type="presOf" srcId="{764069D1-302D-4BFA-B918-CEB1ED82F954}" destId="{D422541C-482E-486E-BB7E-4109D53C24E6}" srcOrd="0" destOrd="0" presId="urn:microsoft.com/office/officeart/2024/3/layout/hArchList1"/>
    <dgm:cxn modelId="{E9BEE40F-30FB-4CA3-9D96-1982BB040E76}" type="presOf" srcId="{6D69C96B-5BA5-49C7-89BA-873D7B53E8E4}" destId="{BA4B83FF-A04E-4CD4-B050-AB62662C904B}" srcOrd="0" destOrd="0" presId="urn:microsoft.com/office/officeart/2024/3/layout/hArchList1"/>
    <dgm:cxn modelId="{E523EC17-68DE-4ED4-B4E8-E7CB9EC7E5F4}" type="presOf" srcId="{4AF597CE-0703-40BE-A203-D6F898552198}" destId="{E131A208-C4D0-4152-BD59-25A328B5E8C1}" srcOrd="0" destOrd="0" presId="urn:microsoft.com/office/officeart/2024/3/layout/hArchList1"/>
    <dgm:cxn modelId="{9E9AB21B-E55F-47EB-A517-0F1AFFC9840A}" type="presOf" srcId="{A64B19CC-150D-43D2-99DB-10B9548B4CF5}" destId="{14294042-FFEB-4152-8A29-54176423CACF}" srcOrd="0" destOrd="0" presId="urn:microsoft.com/office/officeart/2024/3/layout/hArchList1"/>
    <dgm:cxn modelId="{E0C8BC27-EAB5-4C2A-906C-245A018E96DA}" type="presOf" srcId="{1EAFA366-E30F-430D-A807-0B05A3EF1A64}" destId="{52B726DD-B395-4CB1-A876-5B0F9D909E42}" srcOrd="0" destOrd="0" presId="urn:microsoft.com/office/officeart/2024/3/layout/hArchList1"/>
    <dgm:cxn modelId="{E959845B-355D-4EE2-98D1-4BDAB2EF6939}" srcId="{F1BC34A1-1B10-42DC-9379-AEC456A98E96}" destId="{4AF597CE-0703-40BE-A203-D6F898552198}" srcOrd="1" destOrd="0" parTransId="{98480347-B29B-40E5-BD49-E81079E51464}" sibTransId="{1EAFA366-E30F-430D-A807-0B05A3EF1A64}"/>
    <dgm:cxn modelId="{934CA248-B36D-4750-B96E-E2344256FC5D}" srcId="{F1BC34A1-1B10-42DC-9379-AEC456A98E96}" destId="{6ABD6A11-0973-4B22-873C-6DB0BD2AAD84}" srcOrd="0" destOrd="0" parTransId="{ECE5E832-6A8E-4AA2-86A7-626FD4DD4211}" sibTransId="{A99C36B0-73F3-45C2-A401-7E9DB65A0F06}"/>
    <dgm:cxn modelId="{A761FF69-2CB4-4843-9EAC-45CA9FED12C0}" srcId="{4AF597CE-0703-40BE-A203-D6F898552198}" destId="{A64B19CC-150D-43D2-99DB-10B9548B4CF5}" srcOrd="0" destOrd="0" parTransId="{618903B1-90D7-43C4-8660-BF66813898D7}" sibTransId="{629D977B-A6F3-437F-99F1-456E8779D71F}"/>
    <dgm:cxn modelId="{8C84706A-498A-4023-A518-0CBE86ABA932}" type="presOf" srcId="{F1BC34A1-1B10-42DC-9379-AEC456A98E96}" destId="{E5FBB060-0E2D-410B-B99F-0EF004458E97}" srcOrd="0" destOrd="0" presId="urn:microsoft.com/office/officeart/2024/3/layout/hArchList1"/>
    <dgm:cxn modelId="{0A4F4481-00C4-4959-A348-64ED220066A5}" type="presOf" srcId="{A7D2FD3C-7700-4D30-82C5-299A8B7BBBEC}" destId="{8B8424BB-110C-4231-9D9E-B38F1B6F50F1}" srcOrd="0" destOrd="0" presId="urn:microsoft.com/office/officeart/2024/3/layout/hArchList1"/>
    <dgm:cxn modelId="{AB96F292-A65B-4E99-8A0E-0D6A61902BA6}" srcId="{30333F32-A6D8-4077-9BCB-7A73E6B4BAEA}" destId="{4F46BE92-34F9-40DF-96AF-E03820BFD28C}" srcOrd="0" destOrd="0" parTransId="{78CC1699-E413-4506-BFEC-2F1742568A4B}" sibTransId="{4CCD187E-B4CB-4C2F-83F8-2D4AAA102C8D}"/>
    <dgm:cxn modelId="{1870B094-EB00-4383-B99A-AFC93631F81B}" type="presOf" srcId="{A99C36B0-73F3-45C2-A401-7E9DB65A0F06}" destId="{FC1FB2A3-4C48-47FE-88A8-ED8A584C812B}" srcOrd="0" destOrd="0" presId="urn:microsoft.com/office/officeart/2024/3/layout/hArchList1"/>
    <dgm:cxn modelId="{21D312A4-A0EB-42A0-9284-FB2DD55AAD3F}" type="presOf" srcId="{8C93FB01-69AD-4062-9298-6B9471F43D78}" destId="{8E77E799-60B8-4C85-B0A8-32239E537CAB}" srcOrd="0" destOrd="0" presId="urn:microsoft.com/office/officeart/2024/3/layout/hArchList1"/>
    <dgm:cxn modelId="{044823AF-7D6D-440E-A7B0-DBFD2F4CFA6E}" type="presOf" srcId="{30333F32-A6D8-4077-9BCB-7A73E6B4BAEA}" destId="{ADBBCB5A-578D-4008-BF4A-D7CB59C76A6E}" srcOrd="0" destOrd="0" presId="urn:microsoft.com/office/officeart/2024/3/layout/hArchList1"/>
    <dgm:cxn modelId="{9102EFB1-CE93-492A-A19A-0E1921B29A28}" srcId="{6ABD6A11-0973-4B22-873C-6DB0BD2AAD84}" destId="{6D69C96B-5BA5-49C7-89BA-873D7B53E8E4}" srcOrd="0" destOrd="0" parTransId="{5FD83E54-1676-49DD-9A33-E9C37F28572B}" sibTransId="{9EAEFB59-6C59-46C6-8577-307D640DBDEE}"/>
    <dgm:cxn modelId="{C5EE99B7-D636-4505-BD9C-FDE08F89129F}" srcId="{F1BC34A1-1B10-42DC-9379-AEC456A98E96}" destId="{A7D2FD3C-7700-4D30-82C5-299A8B7BBBEC}" srcOrd="2" destOrd="0" parTransId="{6A97DECE-A1A1-40E7-BE71-EB8CA1555BB2}" sibTransId="{8C93FB01-69AD-4062-9298-6B9471F43D78}"/>
    <dgm:cxn modelId="{52AADBCC-4B7C-4E42-898C-1B58901F6DD3}" type="presOf" srcId="{6ABD6A11-0973-4B22-873C-6DB0BD2AAD84}" destId="{B61AF4A7-9A23-4688-91C3-8E314943DBB8}" srcOrd="0" destOrd="0" presId="urn:microsoft.com/office/officeart/2024/3/layout/hArchList1"/>
    <dgm:cxn modelId="{5C92E5D9-D6DF-4165-A2DA-D212C3CECC7C}" srcId="{F1BC34A1-1B10-42DC-9379-AEC456A98E96}" destId="{30333F32-A6D8-4077-9BCB-7A73E6B4BAEA}" srcOrd="3" destOrd="0" parTransId="{0981F8AF-4690-4139-B6B0-8B7743E27823}" sibTransId="{83675FB4-A89F-4D06-B900-69CF4CE9C9CA}"/>
    <dgm:cxn modelId="{80F4DCDE-B8C9-4E6F-BC2E-8FFC6416803E}" type="presOf" srcId="{4F46BE92-34F9-40DF-96AF-E03820BFD28C}" destId="{69268357-95C0-4BBD-BB61-415DB19F653A}" srcOrd="0" destOrd="0" presId="urn:microsoft.com/office/officeart/2024/3/layout/hArchList1"/>
    <dgm:cxn modelId="{AA1ED088-1452-4858-90C6-FD136C6B2A7C}" type="presParOf" srcId="{E5FBB060-0E2D-410B-B99F-0EF004458E97}" destId="{14810D0A-793F-4999-A29D-D4AAE3A2F964}" srcOrd="0" destOrd="0" presId="urn:microsoft.com/office/officeart/2024/3/layout/hArchList1"/>
    <dgm:cxn modelId="{29CCE396-2D0E-4D90-B565-05B888B13F15}" type="presParOf" srcId="{14810D0A-793F-4999-A29D-D4AAE3A2F964}" destId="{B61AF4A7-9A23-4688-91C3-8E314943DBB8}" srcOrd="0" destOrd="0" presId="urn:microsoft.com/office/officeart/2024/3/layout/hArchList1"/>
    <dgm:cxn modelId="{EF6EB1FD-EC17-4B0F-B370-9C82185E105F}" type="presParOf" srcId="{14810D0A-793F-4999-A29D-D4AAE3A2F964}" destId="{BA4B83FF-A04E-4CD4-B050-AB62662C904B}" srcOrd="1" destOrd="0" presId="urn:microsoft.com/office/officeart/2024/3/layout/hArchList1"/>
    <dgm:cxn modelId="{93B28CEB-F940-43B7-912A-62096ECE04AF}" type="presParOf" srcId="{E5FBB060-0E2D-410B-B99F-0EF004458E97}" destId="{FC1FB2A3-4C48-47FE-88A8-ED8A584C812B}" srcOrd="1" destOrd="0" presId="urn:microsoft.com/office/officeart/2024/3/layout/hArchList1"/>
    <dgm:cxn modelId="{3219C11A-1835-4A8B-A89D-12EE27CD6DF8}" type="presParOf" srcId="{E5FBB060-0E2D-410B-B99F-0EF004458E97}" destId="{25918432-E418-4A2D-A554-7D089810E4A2}" srcOrd="2" destOrd="0" presId="urn:microsoft.com/office/officeart/2024/3/layout/hArchList1"/>
    <dgm:cxn modelId="{6CD98D8B-6894-42D6-9E9F-3EA64547E501}" type="presParOf" srcId="{25918432-E418-4A2D-A554-7D089810E4A2}" destId="{E131A208-C4D0-4152-BD59-25A328B5E8C1}" srcOrd="0" destOrd="0" presId="urn:microsoft.com/office/officeart/2024/3/layout/hArchList1"/>
    <dgm:cxn modelId="{660DBB26-9FBB-4433-826C-7D2818722CA5}" type="presParOf" srcId="{25918432-E418-4A2D-A554-7D089810E4A2}" destId="{14294042-FFEB-4152-8A29-54176423CACF}" srcOrd="1" destOrd="0" presId="urn:microsoft.com/office/officeart/2024/3/layout/hArchList1"/>
    <dgm:cxn modelId="{AF2D4F4E-5483-4DB2-9FA7-EE3747F5341D}" type="presParOf" srcId="{E5FBB060-0E2D-410B-B99F-0EF004458E97}" destId="{52B726DD-B395-4CB1-A876-5B0F9D909E42}" srcOrd="3" destOrd="0" presId="urn:microsoft.com/office/officeart/2024/3/layout/hArchList1"/>
    <dgm:cxn modelId="{79477693-8353-4460-A227-5F4BD1CA380C}" type="presParOf" srcId="{E5FBB060-0E2D-410B-B99F-0EF004458E97}" destId="{28D04D62-B4B1-40DC-846C-44443EE69143}" srcOrd="4" destOrd="0" presId="urn:microsoft.com/office/officeart/2024/3/layout/hArchList1"/>
    <dgm:cxn modelId="{1A8ACAA3-641A-40C1-AAB8-23B72FBCD0D6}" type="presParOf" srcId="{28D04D62-B4B1-40DC-846C-44443EE69143}" destId="{8B8424BB-110C-4231-9D9E-B38F1B6F50F1}" srcOrd="0" destOrd="0" presId="urn:microsoft.com/office/officeart/2024/3/layout/hArchList1"/>
    <dgm:cxn modelId="{7A119726-38AD-431B-8581-BCBF87D64837}" type="presParOf" srcId="{28D04D62-B4B1-40DC-846C-44443EE69143}" destId="{D422541C-482E-486E-BB7E-4109D53C24E6}" srcOrd="1" destOrd="0" presId="urn:microsoft.com/office/officeart/2024/3/layout/hArchList1"/>
    <dgm:cxn modelId="{CDDBD871-A7EC-4C45-B65F-A19EBA614844}" type="presParOf" srcId="{E5FBB060-0E2D-410B-B99F-0EF004458E97}" destId="{8E77E799-60B8-4C85-B0A8-32239E537CAB}" srcOrd="5" destOrd="0" presId="urn:microsoft.com/office/officeart/2024/3/layout/hArchList1"/>
    <dgm:cxn modelId="{D530E411-0C97-4B03-B2A8-B2F8DC23CCCC}" type="presParOf" srcId="{E5FBB060-0E2D-410B-B99F-0EF004458E97}" destId="{3E575F55-CF58-475F-A4F3-73E1DB00FEF7}" srcOrd="6" destOrd="0" presId="urn:microsoft.com/office/officeart/2024/3/layout/hArchList1"/>
    <dgm:cxn modelId="{B300F8D1-8AE9-4C4F-BA10-DECD6B22E040}" type="presParOf" srcId="{3E575F55-CF58-475F-A4F3-73E1DB00FEF7}" destId="{ADBBCB5A-578D-4008-BF4A-D7CB59C76A6E}" srcOrd="0" destOrd="0" presId="urn:microsoft.com/office/officeart/2024/3/layout/hArchList1"/>
    <dgm:cxn modelId="{6E5AAE37-F14C-422F-8E60-AB0E7430FCB2}" type="presParOf" srcId="{3E575F55-CF58-475F-A4F3-73E1DB00FEF7}" destId="{69268357-95C0-4BBD-BB61-415DB19F653A}"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E8697D3-76C7-4BA7-8F06-CEC165923AEC}"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0F6038C-C1AF-454E-920F-983F74FBDA81}">
      <dgm:prSet/>
      <dgm:spPr/>
      <dgm:t>
        <a:bodyPr/>
        <a:lstStyle/>
        <a:p>
          <a:pPr>
            <a:lnSpc>
              <a:spcPct val="100000"/>
            </a:lnSpc>
            <a:defRPr b="1"/>
          </a:pPr>
          <a:r>
            <a:rPr lang="en-US"/>
            <a:t>Impact-Focused Review</a:t>
          </a:r>
        </a:p>
      </dgm:t>
    </dgm:pt>
    <dgm:pt modelId="{12BF44F1-7C05-4F58-98D2-CE95852A051E}" type="parTrans" cxnId="{0F91BBD3-624B-40E2-9A52-DF9B35236C83}">
      <dgm:prSet/>
      <dgm:spPr/>
      <dgm:t>
        <a:bodyPr/>
        <a:lstStyle/>
        <a:p>
          <a:endParaRPr lang="en-US"/>
        </a:p>
      </dgm:t>
    </dgm:pt>
    <dgm:pt modelId="{2A042559-2E28-44F5-B0EF-F904928A0F5F}" type="sibTrans" cxnId="{0F91BBD3-624B-40E2-9A52-DF9B35236C83}">
      <dgm:prSet/>
      <dgm:spPr/>
      <dgm:t>
        <a:bodyPr/>
        <a:lstStyle/>
        <a:p>
          <a:pPr>
            <a:lnSpc>
              <a:spcPct val="100000"/>
            </a:lnSpc>
            <a:defRPr b="1"/>
          </a:pPr>
          <a:endParaRPr lang="en-US"/>
        </a:p>
      </dgm:t>
    </dgm:pt>
    <dgm:pt modelId="{41B1D8A5-1A0E-4975-B6EF-3C4C135856EF}">
      <dgm:prSet/>
      <dgm:spPr/>
      <dgm:t>
        <a:bodyPr/>
        <a:lstStyle/>
        <a:p>
          <a:pPr>
            <a:lnSpc>
              <a:spcPct val="100000"/>
            </a:lnSpc>
          </a:pPr>
          <a:r>
            <a:rPr lang="en-US"/>
            <a:t>Ensures bullet points show measurable contributions like scale, efficiency, accuracy, or improvement.</a:t>
          </a:r>
        </a:p>
      </dgm:t>
    </dgm:pt>
    <dgm:pt modelId="{B9534427-D067-498B-BEC7-85049F108159}" type="parTrans" cxnId="{55CC8B89-E020-42E4-8587-35E1CE58AA74}">
      <dgm:prSet/>
      <dgm:spPr/>
      <dgm:t>
        <a:bodyPr/>
        <a:lstStyle/>
        <a:p>
          <a:endParaRPr lang="en-US"/>
        </a:p>
      </dgm:t>
    </dgm:pt>
    <dgm:pt modelId="{7C3B69D5-A92A-4AD3-891B-AF341981AC2B}" type="sibTrans" cxnId="{55CC8B89-E020-42E4-8587-35E1CE58AA74}">
      <dgm:prSet/>
      <dgm:spPr/>
      <dgm:t>
        <a:bodyPr/>
        <a:lstStyle/>
        <a:p>
          <a:endParaRPr lang="en-US"/>
        </a:p>
      </dgm:t>
    </dgm:pt>
    <dgm:pt modelId="{CA79EB0F-F90B-46D5-9151-748A21BFDEBA}">
      <dgm:prSet/>
      <dgm:spPr/>
      <dgm:t>
        <a:bodyPr/>
        <a:lstStyle/>
        <a:p>
          <a:pPr>
            <a:lnSpc>
              <a:spcPct val="100000"/>
            </a:lnSpc>
            <a:defRPr b="1"/>
          </a:pPr>
          <a:r>
            <a:rPr lang="en-US"/>
            <a:t>Alignment Verification</a:t>
          </a:r>
        </a:p>
      </dgm:t>
    </dgm:pt>
    <dgm:pt modelId="{41619936-BDF0-40A3-A7C6-5E4E3315FFB8}" type="parTrans" cxnId="{C54DDF4C-42BA-40F4-A05A-A871CEE927EF}">
      <dgm:prSet/>
      <dgm:spPr/>
      <dgm:t>
        <a:bodyPr/>
        <a:lstStyle/>
        <a:p>
          <a:endParaRPr lang="en-US"/>
        </a:p>
      </dgm:t>
    </dgm:pt>
    <dgm:pt modelId="{E2527893-0A33-4F41-84DE-16FD7D67068F}" type="sibTrans" cxnId="{C54DDF4C-42BA-40F4-A05A-A871CEE927EF}">
      <dgm:prSet/>
      <dgm:spPr/>
      <dgm:t>
        <a:bodyPr/>
        <a:lstStyle/>
        <a:p>
          <a:pPr>
            <a:lnSpc>
              <a:spcPct val="100000"/>
            </a:lnSpc>
            <a:defRPr b="1"/>
          </a:pPr>
          <a:endParaRPr lang="en-US"/>
        </a:p>
      </dgm:t>
    </dgm:pt>
    <dgm:pt modelId="{9ECC027E-298F-46E4-B939-429EE451077E}">
      <dgm:prSet/>
      <dgm:spPr/>
      <dgm:t>
        <a:bodyPr/>
        <a:lstStyle/>
        <a:p>
          <a:pPr>
            <a:lnSpc>
              <a:spcPct val="100000"/>
            </a:lnSpc>
          </a:pPr>
          <a:r>
            <a:rPr lang="en-US"/>
            <a:t>Verifies qualifications, preferred skills, and employer terminology match the job requirements.</a:t>
          </a:r>
        </a:p>
      </dgm:t>
    </dgm:pt>
    <dgm:pt modelId="{7B7C7568-9E77-4138-B11E-1B3EEB737824}" type="parTrans" cxnId="{468F748D-BF78-4CAA-ABA8-02AE36774872}">
      <dgm:prSet/>
      <dgm:spPr/>
      <dgm:t>
        <a:bodyPr/>
        <a:lstStyle/>
        <a:p>
          <a:endParaRPr lang="en-US"/>
        </a:p>
      </dgm:t>
    </dgm:pt>
    <dgm:pt modelId="{CC9C50F9-8C0F-4A58-A03F-3ED7BE8B4E9E}" type="sibTrans" cxnId="{468F748D-BF78-4CAA-ABA8-02AE36774872}">
      <dgm:prSet/>
      <dgm:spPr/>
      <dgm:t>
        <a:bodyPr/>
        <a:lstStyle/>
        <a:p>
          <a:endParaRPr lang="en-US"/>
        </a:p>
      </dgm:t>
    </dgm:pt>
    <dgm:pt modelId="{FA46F7E6-5085-4E68-9832-7570A4601DCA}">
      <dgm:prSet/>
      <dgm:spPr/>
      <dgm:t>
        <a:bodyPr/>
        <a:lstStyle/>
        <a:p>
          <a:pPr>
            <a:lnSpc>
              <a:spcPct val="100000"/>
            </a:lnSpc>
            <a:defRPr b="1"/>
          </a:pPr>
          <a:r>
            <a:rPr lang="en-US"/>
            <a:t>Resume Outcome Emphasis</a:t>
          </a:r>
        </a:p>
      </dgm:t>
    </dgm:pt>
    <dgm:pt modelId="{89CD47B4-8F89-425C-9857-4FC3D14E81DB}" type="parTrans" cxnId="{6C92F33B-4E82-4671-9863-AA32644C9B61}">
      <dgm:prSet/>
      <dgm:spPr/>
      <dgm:t>
        <a:bodyPr/>
        <a:lstStyle/>
        <a:p>
          <a:endParaRPr lang="en-US"/>
        </a:p>
      </dgm:t>
    </dgm:pt>
    <dgm:pt modelId="{8C0ADC1C-BFE4-4F38-8672-1912AD0B3FA9}" type="sibTrans" cxnId="{6C92F33B-4E82-4671-9863-AA32644C9B61}">
      <dgm:prSet/>
      <dgm:spPr/>
      <dgm:t>
        <a:bodyPr/>
        <a:lstStyle/>
        <a:p>
          <a:pPr>
            <a:lnSpc>
              <a:spcPct val="100000"/>
            </a:lnSpc>
            <a:defRPr b="1"/>
          </a:pPr>
          <a:endParaRPr lang="en-US"/>
        </a:p>
      </dgm:t>
    </dgm:pt>
    <dgm:pt modelId="{F3AAAA00-EBF3-4072-A38F-B842D654D9E8}">
      <dgm:prSet/>
      <dgm:spPr/>
      <dgm:t>
        <a:bodyPr/>
        <a:lstStyle/>
        <a:p>
          <a:pPr>
            <a:lnSpc>
              <a:spcPct val="100000"/>
            </a:lnSpc>
          </a:pPr>
          <a:r>
            <a:rPr lang="en-US"/>
            <a:t>Encourages entry-level candidates to focus on outcomes rather than tasks to show capability.</a:t>
          </a:r>
        </a:p>
      </dgm:t>
    </dgm:pt>
    <dgm:pt modelId="{985A5775-1AFB-48B9-B448-DB5B2FDFD70C}" type="parTrans" cxnId="{AAEB63F8-642F-4E28-8310-8BC346D62277}">
      <dgm:prSet/>
      <dgm:spPr/>
      <dgm:t>
        <a:bodyPr/>
        <a:lstStyle/>
        <a:p>
          <a:endParaRPr lang="en-US"/>
        </a:p>
      </dgm:t>
    </dgm:pt>
    <dgm:pt modelId="{AEB158CE-69A0-45EF-8894-22F6CD2FD32B}" type="sibTrans" cxnId="{AAEB63F8-642F-4E28-8310-8BC346D62277}">
      <dgm:prSet/>
      <dgm:spPr/>
      <dgm:t>
        <a:bodyPr/>
        <a:lstStyle/>
        <a:p>
          <a:endParaRPr lang="en-US"/>
        </a:p>
      </dgm:t>
    </dgm:pt>
    <dgm:pt modelId="{E1213581-1DAC-4F42-94E8-DF8457C89717}">
      <dgm:prSet/>
      <dgm:spPr/>
      <dgm:t>
        <a:bodyPr/>
        <a:lstStyle/>
        <a:p>
          <a:pPr>
            <a:lnSpc>
              <a:spcPct val="100000"/>
            </a:lnSpc>
            <a:defRPr b="1"/>
          </a:pPr>
          <a:r>
            <a:rPr lang="en-US"/>
            <a:t>Competitive Positioning</a:t>
          </a:r>
        </a:p>
      </dgm:t>
    </dgm:pt>
    <dgm:pt modelId="{24AB7D81-D63C-4375-95C7-0B5333E239FB}" type="parTrans" cxnId="{6CF64BDC-1A8C-43B7-AACC-F6D5AAAE20D5}">
      <dgm:prSet/>
      <dgm:spPr/>
      <dgm:t>
        <a:bodyPr/>
        <a:lstStyle/>
        <a:p>
          <a:endParaRPr lang="en-US"/>
        </a:p>
      </dgm:t>
    </dgm:pt>
    <dgm:pt modelId="{FDB8107B-4018-4262-B15B-BFBD4815A7EA}" type="sibTrans" cxnId="{6CF64BDC-1A8C-43B7-AACC-F6D5AAAE20D5}">
      <dgm:prSet/>
      <dgm:spPr/>
      <dgm:t>
        <a:bodyPr/>
        <a:lstStyle/>
        <a:p>
          <a:endParaRPr lang="en-US"/>
        </a:p>
      </dgm:t>
    </dgm:pt>
    <dgm:pt modelId="{E00E124D-8F9E-44CA-99FB-25EF94D4525E}">
      <dgm:prSet/>
      <dgm:spPr/>
      <dgm:t>
        <a:bodyPr/>
        <a:lstStyle/>
        <a:p>
          <a:pPr>
            <a:lnSpc>
              <a:spcPct val="100000"/>
            </a:lnSpc>
          </a:pPr>
          <a:r>
            <a:rPr lang="en-US"/>
            <a:t>Clarifying relevance and alignment strengthens standing in structured hiring and evaluation systems.</a:t>
          </a:r>
        </a:p>
      </dgm:t>
    </dgm:pt>
    <dgm:pt modelId="{77E073D1-8F42-4E96-93A1-920D9F36A1C5}" type="parTrans" cxnId="{932A16FC-2E96-4918-BBB9-C0A0769075B9}">
      <dgm:prSet/>
      <dgm:spPr/>
      <dgm:t>
        <a:bodyPr/>
        <a:lstStyle/>
        <a:p>
          <a:endParaRPr lang="en-US"/>
        </a:p>
      </dgm:t>
    </dgm:pt>
    <dgm:pt modelId="{3E2AB965-6545-4458-9C87-697CB75153D3}" type="sibTrans" cxnId="{932A16FC-2E96-4918-BBB9-C0A0769075B9}">
      <dgm:prSet/>
      <dgm:spPr/>
      <dgm:t>
        <a:bodyPr/>
        <a:lstStyle/>
        <a:p>
          <a:endParaRPr lang="en-US"/>
        </a:p>
      </dgm:t>
    </dgm:pt>
    <dgm:pt modelId="{8E5752B0-4343-4C86-A742-368EB0FE0C1F}" type="pres">
      <dgm:prSet presAssocID="{8E8697D3-76C7-4BA7-8F06-CEC165923AEC}" presName="Name0" presStyleCnt="0">
        <dgm:presLayoutVars>
          <dgm:dir/>
          <dgm:resizeHandles val="exact"/>
        </dgm:presLayoutVars>
      </dgm:prSet>
      <dgm:spPr/>
    </dgm:pt>
    <dgm:pt modelId="{BFA03982-8898-47D0-AEE8-AE5392C29535}" type="pres">
      <dgm:prSet presAssocID="{50F6038C-C1AF-454E-920F-983F74FBDA81}" presName="compNode" presStyleCnt="0"/>
      <dgm:spPr/>
    </dgm:pt>
    <dgm:pt modelId="{28C55A03-273B-4566-A8BA-8FBD2C97AC35}" type="pres">
      <dgm:prSet presAssocID="{50F6038C-C1AF-454E-920F-983F74FBDA81}" presName="pictRect" presStyleLbl="revTx" presStyleIdx="0" presStyleCnt="8">
        <dgm:presLayoutVars>
          <dgm:chMax val="0"/>
          <dgm:bulletEnabled/>
        </dgm:presLayoutVars>
      </dgm:prSet>
      <dgm:spPr/>
    </dgm:pt>
    <dgm:pt modelId="{8E087A83-947D-4798-8612-A50B8BD1ED26}" type="pres">
      <dgm:prSet presAssocID="{50F6038C-C1AF-454E-920F-983F74FBDA81}" presName="textRect" presStyleLbl="revTx" presStyleIdx="1" presStyleCnt="8">
        <dgm:presLayoutVars>
          <dgm:bulletEnabled/>
        </dgm:presLayoutVars>
      </dgm:prSet>
      <dgm:spPr/>
    </dgm:pt>
    <dgm:pt modelId="{CBC496BB-08C0-470E-A5B7-3C96B161D17B}" type="pres">
      <dgm:prSet presAssocID="{2A042559-2E28-44F5-B0EF-F904928A0F5F}" presName="sibTrans" presStyleLbl="sibTrans2D1" presStyleIdx="0" presStyleCnt="0"/>
      <dgm:spPr/>
    </dgm:pt>
    <dgm:pt modelId="{F16DD9EE-F0C3-4CD7-9C1D-E6F93A2C6FC5}" type="pres">
      <dgm:prSet presAssocID="{CA79EB0F-F90B-46D5-9151-748A21BFDEBA}" presName="compNode" presStyleCnt="0"/>
      <dgm:spPr/>
    </dgm:pt>
    <dgm:pt modelId="{15B9ED94-272D-4016-91AB-4F1FC1D9CAF4}" type="pres">
      <dgm:prSet presAssocID="{CA79EB0F-F90B-46D5-9151-748A21BFDEBA}" presName="pictRect" presStyleLbl="revTx" presStyleIdx="2" presStyleCnt="8">
        <dgm:presLayoutVars>
          <dgm:chMax val="0"/>
          <dgm:bulletEnabled/>
        </dgm:presLayoutVars>
      </dgm:prSet>
      <dgm:spPr/>
    </dgm:pt>
    <dgm:pt modelId="{BEB32064-CB47-473E-B7CF-8A38F30CAF0F}" type="pres">
      <dgm:prSet presAssocID="{CA79EB0F-F90B-46D5-9151-748A21BFDEBA}" presName="textRect" presStyleLbl="revTx" presStyleIdx="3" presStyleCnt="8">
        <dgm:presLayoutVars>
          <dgm:bulletEnabled/>
        </dgm:presLayoutVars>
      </dgm:prSet>
      <dgm:spPr/>
    </dgm:pt>
    <dgm:pt modelId="{13D168CD-E759-497E-AF93-DFD660A9F8E7}" type="pres">
      <dgm:prSet presAssocID="{E2527893-0A33-4F41-84DE-16FD7D67068F}" presName="sibTrans" presStyleLbl="sibTrans2D1" presStyleIdx="0" presStyleCnt="0"/>
      <dgm:spPr/>
    </dgm:pt>
    <dgm:pt modelId="{09328D00-10ED-4D66-BF9D-982DDC33F0E9}" type="pres">
      <dgm:prSet presAssocID="{FA46F7E6-5085-4E68-9832-7570A4601DCA}" presName="compNode" presStyleCnt="0"/>
      <dgm:spPr/>
    </dgm:pt>
    <dgm:pt modelId="{2B71B5E4-1C72-4825-986D-F8E9BEBC2C50}" type="pres">
      <dgm:prSet presAssocID="{FA46F7E6-5085-4E68-9832-7570A4601DCA}" presName="pictRect" presStyleLbl="revTx" presStyleIdx="4" presStyleCnt="8">
        <dgm:presLayoutVars>
          <dgm:chMax val="0"/>
          <dgm:bulletEnabled/>
        </dgm:presLayoutVars>
      </dgm:prSet>
      <dgm:spPr/>
    </dgm:pt>
    <dgm:pt modelId="{B0A7D39A-74EB-44A1-AAD9-6C3E26C5394C}" type="pres">
      <dgm:prSet presAssocID="{FA46F7E6-5085-4E68-9832-7570A4601DCA}" presName="textRect" presStyleLbl="revTx" presStyleIdx="5" presStyleCnt="8">
        <dgm:presLayoutVars>
          <dgm:bulletEnabled/>
        </dgm:presLayoutVars>
      </dgm:prSet>
      <dgm:spPr/>
    </dgm:pt>
    <dgm:pt modelId="{DFEEC66A-EB18-4085-972E-2EDD51C956DC}" type="pres">
      <dgm:prSet presAssocID="{8C0ADC1C-BFE4-4F38-8672-1912AD0B3FA9}" presName="sibTrans" presStyleLbl="sibTrans2D1" presStyleIdx="0" presStyleCnt="0"/>
      <dgm:spPr/>
    </dgm:pt>
    <dgm:pt modelId="{049DD851-5A7D-430B-AD90-78F27752A9A5}" type="pres">
      <dgm:prSet presAssocID="{E1213581-1DAC-4F42-94E8-DF8457C89717}" presName="compNode" presStyleCnt="0"/>
      <dgm:spPr/>
    </dgm:pt>
    <dgm:pt modelId="{82B538F0-5924-4033-BE5D-8C4BA946F95E}" type="pres">
      <dgm:prSet presAssocID="{E1213581-1DAC-4F42-94E8-DF8457C89717}" presName="pictRect" presStyleLbl="revTx" presStyleIdx="6" presStyleCnt="8">
        <dgm:presLayoutVars>
          <dgm:chMax val="0"/>
          <dgm:bulletEnabled/>
        </dgm:presLayoutVars>
      </dgm:prSet>
      <dgm:spPr/>
    </dgm:pt>
    <dgm:pt modelId="{BB800471-F6FD-4A20-A5BA-FC84FCBC85F7}" type="pres">
      <dgm:prSet presAssocID="{E1213581-1DAC-4F42-94E8-DF8457C89717}" presName="textRect" presStyleLbl="revTx" presStyleIdx="7" presStyleCnt="8">
        <dgm:presLayoutVars>
          <dgm:bulletEnabled/>
        </dgm:presLayoutVars>
      </dgm:prSet>
      <dgm:spPr/>
    </dgm:pt>
  </dgm:ptLst>
  <dgm:cxnLst>
    <dgm:cxn modelId="{F25A7210-6FBE-485C-9FF9-73D01815F94F}" type="presOf" srcId="{9ECC027E-298F-46E4-B939-429EE451077E}" destId="{BEB32064-CB47-473E-B7CF-8A38F30CAF0F}" srcOrd="0" destOrd="0" presId="urn:microsoft.com/office/officeart/2024/3/layout/hArchList1"/>
    <dgm:cxn modelId="{337C2B17-9247-439E-9B64-0D1F430E853F}" type="presOf" srcId="{2A042559-2E28-44F5-B0EF-F904928A0F5F}" destId="{CBC496BB-08C0-470E-A5B7-3C96B161D17B}" srcOrd="0" destOrd="0" presId="urn:microsoft.com/office/officeart/2024/3/layout/hArchList1"/>
    <dgm:cxn modelId="{1EC3521D-CB57-4440-BFEC-9908E6A4C9E5}" type="presOf" srcId="{FA46F7E6-5085-4E68-9832-7570A4601DCA}" destId="{2B71B5E4-1C72-4825-986D-F8E9BEBC2C50}" srcOrd="0" destOrd="0" presId="urn:microsoft.com/office/officeart/2024/3/layout/hArchList1"/>
    <dgm:cxn modelId="{6C92F33B-4E82-4671-9863-AA32644C9B61}" srcId="{8E8697D3-76C7-4BA7-8F06-CEC165923AEC}" destId="{FA46F7E6-5085-4E68-9832-7570A4601DCA}" srcOrd="2" destOrd="0" parTransId="{89CD47B4-8F89-425C-9857-4FC3D14E81DB}" sibTransId="{8C0ADC1C-BFE4-4F38-8672-1912AD0B3FA9}"/>
    <dgm:cxn modelId="{874FD063-B69D-4643-BC1C-56EA3D4643C8}" type="presOf" srcId="{8E8697D3-76C7-4BA7-8F06-CEC165923AEC}" destId="{8E5752B0-4343-4C86-A742-368EB0FE0C1F}" srcOrd="0" destOrd="0" presId="urn:microsoft.com/office/officeart/2024/3/layout/hArchList1"/>
    <dgm:cxn modelId="{CC53C747-F76B-4576-A99B-DA749A170F76}" type="presOf" srcId="{E00E124D-8F9E-44CA-99FB-25EF94D4525E}" destId="{BB800471-F6FD-4A20-A5BA-FC84FCBC85F7}" srcOrd="0" destOrd="0" presId="urn:microsoft.com/office/officeart/2024/3/layout/hArchList1"/>
    <dgm:cxn modelId="{6BB5F44B-EF82-408D-AE32-D533B3972DAB}" type="presOf" srcId="{8C0ADC1C-BFE4-4F38-8672-1912AD0B3FA9}" destId="{DFEEC66A-EB18-4085-972E-2EDD51C956DC}" srcOrd="0" destOrd="0" presId="urn:microsoft.com/office/officeart/2024/3/layout/hArchList1"/>
    <dgm:cxn modelId="{C54DDF4C-42BA-40F4-A05A-A871CEE927EF}" srcId="{8E8697D3-76C7-4BA7-8F06-CEC165923AEC}" destId="{CA79EB0F-F90B-46D5-9151-748A21BFDEBA}" srcOrd="1" destOrd="0" parTransId="{41619936-BDF0-40A3-A7C6-5E4E3315FFB8}" sibTransId="{E2527893-0A33-4F41-84DE-16FD7D67068F}"/>
    <dgm:cxn modelId="{779AB35A-339F-47AB-ADBF-D7273AC640C9}" type="presOf" srcId="{E2527893-0A33-4F41-84DE-16FD7D67068F}" destId="{13D168CD-E759-497E-AF93-DFD660A9F8E7}" srcOrd="0" destOrd="0" presId="urn:microsoft.com/office/officeart/2024/3/layout/hArchList1"/>
    <dgm:cxn modelId="{85C61280-4903-435C-B5D6-9EFAC2CC6413}" type="presOf" srcId="{F3AAAA00-EBF3-4072-A38F-B842D654D9E8}" destId="{B0A7D39A-74EB-44A1-AAD9-6C3E26C5394C}" srcOrd="0" destOrd="0" presId="urn:microsoft.com/office/officeart/2024/3/layout/hArchList1"/>
    <dgm:cxn modelId="{F6FF8787-6A9C-4E08-9FC1-687A6CFFD54F}" type="presOf" srcId="{CA79EB0F-F90B-46D5-9151-748A21BFDEBA}" destId="{15B9ED94-272D-4016-91AB-4F1FC1D9CAF4}" srcOrd="0" destOrd="0" presId="urn:microsoft.com/office/officeart/2024/3/layout/hArchList1"/>
    <dgm:cxn modelId="{55CC8B89-E020-42E4-8587-35E1CE58AA74}" srcId="{50F6038C-C1AF-454E-920F-983F74FBDA81}" destId="{41B1D8A5-1A0E-4975-B6EF-3C4C135856EF}" srcOrd="0" destOrd="0" parTransId="{B9534427-D067-498B-BEC7-85049F108159}" sibTransId="{7C3B69D5-A92A-4AD3-891B-AF341981AC2B}"/>
    <dgm:cxn modelId="{468F748D-BF78-4CAA-ABA8-02AE36774872}" srcId="{CA79EB0F-F90B-46D5-9151-748A21BFDEBA}" destId="{9ECC027E-298F-46E4-B939-429EE451077E}" srcOrd="0" destOrd="0" parTransId="{7B7C7568-9E77-4138-B11E-1B3EEB737824}" sibTransId="{CC9C50F9-8C0F-4A58-A03F-3ED7BE8B4E9E}"/>
    <dgm:cxn modelId="{B4ECE88E-84FB-4802-BBEC-522B75B8F1B7}" type="presOf" srcId="{50F6038C-C1AF-454E-920F-983F74FBDA81}" destId="{28C55A03-273B-4566-A8BA-8FBD2C97AC35}" srcOrd="0" destOrd="0" presId="urn:microsoft.com/office/officeart/2024/3/layout/hArchList1"/>
    <dgm:cxn modelId="{0F91BBD3-624B-40E2-9A52-DF9B35236C83}" srcId="{8E8697D3-76C7-4BA7-8F06-CEC165923AEC}" destId="{50F6038C-C1AF-454E-920F-983F74FBDA81}" srcOrd="0" destOrd="0" parTransId="{12BF44F1-7C05-4F58-98D2-CE95852A051E}" sibTransId="{2A042559-2E28-44F5-B0EF-F904928A0F5F}"/>
    <dgm:cxn modelId="{175EC9D4-1F31-40DA-A3B9-43DB145CD43B}" type="presOf" srcId="{E1213581-1DAC-4F42-94E8-DF8457C89717}" destId="{82B538F0-5924-4033-BE5D-8C4BA946F95E}" srcOrd="0" destOrd="0" presId="urn:microsoft.com/office/officeart/2024/3/layout/hArchList1"/>
    <dgm:cxn modelId="{6CF64BDC-1A8C-43B7-AACC-F6D5AAAE20D5}" srcId="{8E8697D3-76C7-4BA7-8F06-CEC165923AEC}" destId="{E1213581-1DAC-4F42-94E8-DF8457C89717}" srcOrd="3" destOrd="0" parTransId="{24AB7D81-D63C-4375-95C7-0B5333E239FB}" sibTransId="{FDB8107B-4018-4262-B15B-BFBD4815A7EA}"/>
    <dgm:cxn modelId="{55FB67DF-AB27-475D-9FEA-AEA419FA7F55}" type="presOf" srcId="{41B1D8A5-1A0E-4975-B6EF-3C4C135856EF}" destId="{8E087A83-947D-4798-8612-A50B8BD1ED26}" srcOrd="0" destOrd="0" presId="urn:microsoft.com/office/officeart/2024/3/layout/hArchList1"/>
    <dgm:cxn modelId="{AAEB63F8-642F-4E28-8310-8BC346D62277}" srcId="{FA46F7E6-5085-4E68-9832-7570A4601DCA}" destId="{F3AAAA00-EBF3-4072-A38F-B842D654D9E8}" srcOrd="0" destOrd="0" parTransId="{985A5775-1AFB-48B9-B448-DB5B2FDFD70C}" sibTransId="{AEB158CE-69A0-45EF-8894-22F6CD2FD32B}"/>
    <dgm:cxn modelId="{932A16FC-2E96-4918-BBB9-C0A0769075B9}" srcId="{E1213581-1DAC-4F42-94E8-DF8457C89717}" destId="{E00E124D-8F9E-44CA-99FB-25EF94D4525E}" srcOrd="0" destOrd="0" parTransId="{77E073D1-8F42-4E96-93A1-920D9F36A1C5}" sibTransId="{3E2AB965-6545-4458-9C87-697CB75153D3}"/>
    <dgm:cxn modelId="{CD5DB557-A76A-4894-ACC5-BCDCBCC69734}" type="presParOf" srcId="{8E5752B0-4343-4C86-A742-368EB0FE0C1F}" destId="{BFA03982-8898-47D0-AEE8-AE5392C29535}" srcOrd="0" destOrd="0" presId="urn:microsoft.com/office/officeart/2024/3/layout/hArchList1"/>
    <dgm:cxn modelId="{C7DC42EA-8C92-41E1-9D7A-181ABB2732A9}" type="presParOf" srcId="{BFA03982-8898-47D0-AEE8-AE5392C29535}" destId="{28C55A03-273B-4566-A8BA-8FBD2C97AC35}" srcOrd="0" destOrd="0" presId="urn:microsoft.com/office/officeart/2024/3/layout/hArchList1"/>
    <dgm:cxn modelId="{4C652E5A-1317-4F1F-9797-21576D9222A3}" type="presParOf" srcId="{BFA03982-8898-47D0-AEE8-AE5392C29535}" destId="{8E087A83-947D-4798-8612-A50B8BD1ED26}" srcOrd="1" destOrd="0" presId="urn:microsoft.com/office/officeart/2024/3/layout/hArchList1"/>
    <dgm:cxn modelId="{3058F1D3-409E-43CC-A23B-50C15E5805B5}" type="presParOf" srcId="{8E5752B0-4343-4C86-A742-368EB0FE0C1F}" destId="{CBC496BB-08C0-470E-A5B7-3C96B161D17B}" srcOrd="1" destOrd="0" presId="urn:microsoft.com/office/officeart/2024/3/layout/hArchList1"/>
    <dgm:cxn modelId="{D7D317E9-DFAF-4B87-913F-BE205017E691}" type="presParOf" srcId="{8E5752B0-4343-4C86-A742-368EB0FE0C1F}" destId="{F16DD9EE-F0C3-4CD7-9C1D-E6F93A2C6FC5}" srcOrd="2" destOrd="0" presId="urn:microsoft.com/office/officeart/2024/3/layout/hArchList1"/>
    <dgm:cxn modelId="{3476A2D0-7DB8-42DA-A2B2-0732C792B74E}" type="presParOf" srcId="{F16DD9EE-F0C3-4CD7-9C1D-E6F93A2C6FC5}" destId="{15B9ED94-272D-4016-91AB-4F1FC1D9CAF4}" srcOrd="0" destOrd="0" presId="urn:microsoft.com/office/officeart/2024/3/layout/hArchList1"/>
    <dgm:cxn modelId="{C0088176-AA48-4AF4-B3C7-9718AE267A28}" type="presParOf" srcId="{F16DD9EE-F0C3-4CD7-9C1D-E6F93A2C6FC5}" destId="{BEB32064-CB47-473E-B7CF-8A38F30CAF0F}" srcOrd="1" destOrd="0" presId="urn:microsoft.com/office/officeart/2024/3/layout/hArchList1"/>
    <dgm:cxn modelId="{9A3B07CF-919B-403E-9908-2CA0235DEF10}" type="presParOf" srcId="{8E5752B0-4343-4C86-A742-368EB0FE0C1F}" destId="{13D168CD-E759-497E-AF93-DFD660A9F8E7}" srcOrd="3" destOrd="0" presId="urn:microsoft.com/office/officeart/2024/3/layout/hArchList1"/>
    <dgm:cxn modelId="{41D0CE84-9E1F-40A7-B4D9-8AB9774966C2}" type="presParOf" srcId="{8E5752B0-4343-4C86-A742-368EB0FE0C1F}" destId="{09328D00-10ED-4D66-BF9D-982DDC33F0E9}" srcOrd="4" destOrd="0" presId="urn:microsoft.com/office/officeart/2024/3/layout/hArchList1"/>
    <dgm:cxn modelId="{257DDEF6-509B-4F25-BE54-1634A526C124}" type="presParOf" srcId="{09328D00-10ED-4D66-BF9D-982DDC33F0E9}" destId="{2B71B5E4-1C72-4825-986D-F8E9BEBC2C50}" srcOrd="0" destOrd="0" presId="urn:microsoft.com/office/officeart/2024/3/layout/hArchList1"/>
    <dgm:cxn modelId="{55F6B558-66CC-424F-9A3D-A4AB19324D1C}" type="presParOf" srcId="{09328D00-10ED-4D66-BF9D-982DDC33F0E9}" destId="{B0A7D39A-74EB-44A1-AAD9-6C3E26C5394C}" srcOrd="1" destOrd="0" presId="urn:microsoft.com/office/officeart/2024/3/layout/hArchList1"/>
    <dgm:cxn modelId="{C66ACE2E-B3BA-4DCF-9E89-54622054857D}" type="presParOf" srcId="{8E5752B0-4343-4C86-A742-368EB0FE0C1F}" destId="{DFEEC66A-EB18-4085-972E-2EDD51C956DC}" srcOrd="5" destOrd="0" presId="urn:microsoft.com/office/officeart/2024/3/layout/hArchList1"/>
    <dgm:cxn modelId="{3EE59105-0AED-4609-9308-4DC455489B95}" type="presParOf" srcId="{8E5752B0-4343-4C86-A742-368EB0FE0C1F}" destId="{049DD851-5A7D-430B-AD90-78F27752A9A5}" srcOrd="6" destOrd="0" presId="urn:microsoft.com/office/officeart/2024/3/layout/hArchList1"/>
    <dgm:cxn modelId="{F1CC4D8A-EBB1-4605-933E-C14259AE3A13}" type="presParOf" srcId="{049DD851-5A7D-430B-AD90-78F27752A9A5}" destId="{82B538F0-5924-4033-BE5D-8C4BA946F95E}" srcOrd="0" destOrd="0" presId="urn:microsoft.com/office/officeart/2024/3/layout/hArchList1"/>
    <dgm:cxn modelId="{C1EB2A0F-4253-4632-B120-C436759179BA}" type="presParOf" srcId="{049DD851-5A7D-430B-AD90-78F27752A9A5}" destId="{BB800471-F6FD-4A20-A5BA-FC84FCBC85F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03CC07D-0932-4658-9831-CB718878DC2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25EFD12-4F94-4BC5-B690-DDD1FC876100}">
      <dgm:prSet/>
      <dgm:spPr/>
      <dgm:t>
        <a:bodyPr/>
        <a:lstStyle/>
        <a:p>
          <a:pPr>
            <a:lnSpc>
              <a:spcPct val="100000"/>
            </a:lnSpc>
            <a:defRPr b="1"/>
          </a:pPr>
          <a:r>
            <a:rPr lang="en-US"/>
            <a:t>Clarity and Structure</a:t>
          </a:r>
        </a:p>
      </dgm:t>
    </dgm:pt>
    <dgm:pt modelId="{B15713DC-8C88-44B5-8ED3-B679BAAADBEE}" type="parTrans" cxnId="{9809E80E-EA88-441E-BA14-9149C483EBD0}">
      <dgm:prSet/>
      <dgm:spPr/>
      <dgm:t>
        <a:bodyPr/>
        <a:lstStyle/>
        <a:p>
          <a:endParaRPr lang="en-US"/>
        </a:p>
      </dgm:t>
    </dgm:pt>
    <dgm:pt modelId="{D01DC3E7-EAE2-4418-9049-03D371B31B73}" type="sibTrans" cxnId="{9809E80E-EA88-441E-BA14-9149C483EBD0}">
      <dgm:prSet/>
      <dgm:spPr/>
      <dgm:t>
        <a:bodyPr/>
        <a:lstStyle/>
        <a:p>
          <a:pPr>
            <a:lnSpc>
              <a:spcPct val="100000"/>
            </a:lnSpc>
            <a:defRPr b="1"/>
          </a:pPr>
          <a:endParaRPr lang="en-US"/>
        </a:p>
      </dgm:t>
    </dgm:pt>
    <dgm:pt modelId="{3EF90838-F8C3-4272-ACA5-E212F183AB4B}">
      <dgm:prSet/>
      <dgm:spPr/>
      <dgm:t>
        <a:bodyPr/>
        <a:lstStyle/>
        <a:p>
          <a:pPr>
            <a:lnSpc>
              <a:spcPct val="100000"/>
            </a:lnSpc>
          </a:pPr>
          <a:r>
            <a:rPr lang="en-US"/>
            <a:t>Clear and well-structured resumes help recruiters and ATS systems quickly identify key qualifications and experiences.</a:t>
          </a:r>
        </a:p>
      </dgm:t>
    </dgm:pt>
    <dgm:pt modelId="{C2811474-0ABF-49B6-9DBB-63FC959A92E8}" type="parTrans" cxnId="{0EB9A71C-12E7-4A03-93FE-1608FF0A3EF1}">
      <dgm:prSet/>
      <dgm:spPr/>
      <dgm:t>
        <a:bodyPr/>
        <a:lstStyle/>
        <a:p>
          <a:endParaRPr lang="en-US"/>
        </a:p>
      </dgm:t>
    </dgm:pt>
    <dgm:pt modelId="{E460A211-4891-43C3-A3CA-74B285D299E8}" type="sibTrans" cxnId="{0EB9A71C-12E7-4A03-93FE-1608FF0A3EF1}">
      <dgm:prSet/>
      <dgm:spPr/>
      <dgm:t>
        <a:bodyPr/>
        <a:lstStyle/>
        <a:p>
          <a:endParaRPr lang="en-US"/>
        </a:p>
      </dgm:t>
    </dgm:pt>
    <dgm:pt modelId="{C26CE062-C7A7-4779-969F-B76FCE2D69F8}">
      <dgm:prSet/>
      <dgm:spPr/>
      <dgm:t>
        <a:bodyPr/>
        <a:lstStyle/>
        <a:p>
          <a:pPr>
            <a:lnSpc>
              <a:spcPct val="100000"/>
            </a:lnSpc>
            <a:defRPr b="1"/>
          </a:pPr>
          <a:r>
            <a:rPr lang="en-US"/>
            <a:t>Measurable Impact</a:t>
          </a:r>
        </a:p>
      </dgm:t>
    </dgm:pt>
    <dgm:pt modelId="{725D304D-D92C-4CF8-83FC-C179ED2312F0}" type="parTrans" cxnId="{E5ACD8D9-D91B-4693-8F2B-8F4A47B6B7B1}">
      <dgm:prSet/>
      <dgm:spPr/>
      <dgm:t>
        <a:bodyPr/>
        <a:lstStyle/>
        <a:p>
          <a:endParaRPr lang="en-US"/>
        </a:p>
      </dgm:t>
    </dgm:pt>
    <dgm:pt modelId="{EF6225F1-9FB7-45E2-A47F-08AE1F07D601}" type="sibTrans" cxnId="{E5ACD8D9-D91B-4693-8F2B-8F4A47B6B7B1}">
      <dgm:prSet/>
      <dgm:spPr/>
      <dgm:t>
        <a:bodyPr/>
        <a:lstStyle/>
        <a:p>
          <a:pPr>
            <a:lnSpc>
              <a:spcPct val="100000"/>
            </a:lnSpc>
            <a:defRPr b="1"/>
          </a:pPr>
          <a:endParaRPr lang="en-US"/>
        </a:p>
      </dgm:t>
    </dgm:pt>
    <dgm:pt modelId="{290535D4-8530-4513-A131-A275E59ED24C}">
      <dgm:prSet/>
      <dgm:spPr/>
      <dgm:t>
        <a:bodyPr/>
        <a:lstStyle/>
        <a:p>
          <a:pPr>
            <a:lnSpc>
              <a:spcPct val="100000"/>
            </a:lnSpc>
          </a:pPr>
          <a:r>
            <a:rPr lang="en-US"/>
            <a:t>Highlighting measurable results strengthens the resume's effectiveness and demonstrates real achievements.</a:t>
          </a:r>
        </a:p>
      </dgm:t>
    </dgm:pt>
    <dgm:pt modelId="{51EB8C9A-C380-4E88-B6CF-82C7A87F75E2}" type="parTrans" cxnId="{1633A052-8EF6-4843-BEDA-07867600E4FA}">
      <dgm:prSet/>
      <dgm:spPr/>
      <dgm:t>
        <a:bodyPr/>
        <a:lstStyle/>
        <a:p>
          <a:endParaRPr lang="en-US"/>
        </a:p>
      </dgm:t>
    </dgm:pt>
    <dgm:pt modelId="{B57CEFBF-3946-43C1-AB09-9982A2CF694F}" type="sibTrans" cxnId="{1633A052-8EF6-4843-BEDA-07867600E4FA}">
      <dgm:prSet/>
      <dgm:spPr/>
      <dgm:t>
        <a:bodyPr/>
        <a:lstStyle/>
        <a:p>
          <a:endParaRPr lang="en-US"/>
        </a:p>
      </dgm:t>
    </dgm:pt>
    <dgm:pt modelId="{8F2E3F24-94C8-4D15-A656-289320C1BB2E}">
      <dgm:prSet/>
      <dgm:spPr/>
      <dgm:t>
        <a:bodyPr/>
        <a:lstStyle/>
        <a:p>
          <a:pPr>
            <a:lnSpc>
              <a:spcPct val="100000"/>
            </a:lnSpc>
            <a:defRPr b="1"/>
          </a:pPr>
          <a:r>
            <a:rPr lang="en-US"/>
            <a:t>Alignment with Job Description</a:t>
          </a:r>
        </a:p>
      </dgm:t>
    </dgm:pt>
    <dgm:pt modelId="{306A09DF-8235-423D-BCB7-1F97D28BA7C7}" type="parTrans" cxnId="{1378EC08-CDA7-46DB-B9F9-0442891C3C0E}">
      <dgm:prSet/>
      <dgm:spPr/>
      <dgm:t>
        <a:bodyPr/>
        <a:lstStyle/>
        <a:p>
          <a:endParaRPr lang="en-US"/>
        </a:p>
      </dgm:t>
    </dgm:pt>
    <dgm:pt modelId="{A7AD43AB-6D64-43B6-8CFB-36DB80DAD16C}" type="sibTrans" cxnId="{1378EC08-CDA7-46DB-B9F9-0442891C3C0E}">
      <dgm:prSet/>
      <dgm:spPr/>
      <dgm:t>
        <a:bodyPr/>
        <a:lstStyle/>
        <a:p>
          <a:pPr>
            <a:lnSpc>
              <a:spcPct val="100000"/>
            </a:lnSpc>
            <a:defRPr b="1"/>
          </a:pPr>
          <a:endParaRPr lang="en-US"/>
        </a:p>
      </dgm:t>
    </dgm:pt>
    <dgm:pt modelId="{D40068F8-2ABF-4652-BECD-64DDE2414289}">
      <dgm:prSet/>
      <dgm:spPr/>
      <dgm:t>
        <a:bodyPr/>
        <a:lstStyle/>
        <a:p>
          <a:pPr>
            <a:lnSpc>
              <a:spcPct val="100000"/>
            </a:lnSpc>
          </a:pPr>
          <a:r>
            <a:rPr lang="en-US"/>
            <a:t>Using terminology aligned with job descriptions increases compatibility with ATS keyword scanning.</a:t>
          </a:r>
        </a:p>
      </dgm:t>
    </dgm:pt>
    <dgm:pt modelId="{10953E5C-F39F-4C6A-A59E-21B8F9FCEEC5}" type="parTrans" cxnId="{0AD7C147-C8BA-4B5F-B3CA-E130FD0053F3}">
      <dgm:prSet/>
      <dgm:spPr/>
      <dgm:t>
        <a:bodyPr/>
        <a:lstStyle/>
        <a:p>
          <a:endParaRPr lang="en-US"/>
        </a:p>
      </dgm:t>
    </dgm:pt>
    <dgm:pt modelId="{BAC14876-163C-4D64-9BE9-868E65B6E408}" type="sibTrans" cxnId="{0AD7C147-C8BA-4B5F-B3CA-E130FD0053F3}">
      <dgm:prSet/>
      <dgm:spPr/>
      <dgm:t>
        <a:bodyPr/>
        <a:lstStyle/>
        <a:p>
          <a:endParaRPr lang="en-US"/>
        </a:p>
      </dgm:t>
    </dgm:pt>
    <dgm:pt modelId="{CB715208-C605-420B-9CF3-A8EAA2928AAB}">
      <dgm:prSet/>
      <dgm:spPr/>
      <dgm:t>
        <a:bodyPr/>
        <a:lstStyle/>
        <a:p>
          <a:pPr>
            <a:lnSpc>
              <a:spcPct val="100000"/>
            </a:lnSpc>
            <a:defRPr b="1"/>
          </a:pPr>
          <a:r>
            <a:rPr lang="en-US"/>
            <a:t>Entry-Level Applicant Focus</a:t>
          </a:r>
        </a:p>
      </dgm:t>
    </dgm:pt>
    <dgm:pt modelId="{91B32EC2-6B33-4BDF-9523-50E63FC9CE12}" type="parTrans" cxnId="{F62A1060-3A88-4B5E-9551-07430C634F74}">
      <dgm:prSet/>
      <dgm:spPr/>
      <dgm:t>
        <a:bodyPr/>
        <a:lstStyle/>
        <a:p>
          <a:endParaRPr lang="en-US"/>
        </a:p>
      </dgm:t>
    </dgm:pt>
    <dgm:pt modelId="{6AC296AF-1054-4822-8701-8A117A454413}" type="sibTrans" cxnId="{F62A1060-3A88-4B5E-9551-07430C634F74}">
      <dgm:prSet/>
      <dgm:spPr/>
      <dgm:t>
        <a:bodyPr/>
        <a:lstStyle/>
        <a:p>
          <a:endParaRPr lang="en-US"/>
        </a:p>
      </dgm:t>
    </dgm:pt>
    <dgm:pt modelId="{8B5AEA70-FF8C-4FF4-A77B-DA7540BF57AF}">
      <dgm:prSet/>
      <dgm:spPr/>
      <dgm:t>
        <a:bodyPr/>
        <a:lstStyle/>
        <a:p>
          <a:pPr>
            <a:lnSpc>
              <a:spcPct val="100000"/>
            </a:lnSpc>
          </a:pPr>
          <a:r>
            <a:rPr lang="en-US"/>
            <a:t>Entry-level resumes should emphasize evidence-based skills and accomplishments to stand out in large applicant pools.</a:t>
          </a:r>
        </a:p>
      </dgm:t>
    </dgm:pt>
    <dgm:pt modelId="{18EC3C6F-F607-492B-B9C4-198486517BCA}" type="parTrans" cxnId="{A8E98991-1110-4493-83F6-15305FDF4D6F}">
      <dgm:prSet/>
      <dgm:spPr/>
      <dgm:t>
        <a:bodyPr/>
        <a:lstStyle/>
        <a:p>
          <a:endParaRPr lang="en-US"/>
        </a:p>
      </dgm:t>
    </dgm:pt>
    <dgm:pt modelId="{D27C0DCE-3C2B-461E-8D8D-0E7C5B86D1FE}" type="sibTrans" cxnId="{A8E98991-1110-4493-83F6-15305FDF4D6F}">
      <dgm:prSet/>
      <dgm:spPr/>
      <dgm:t>
        <a:bodyPr/>
        <a:lstStyle/>
        <a:p>
          <a:endParaRPr lang="en-US"/>
        </a:p>
      </dgm:t>
    </dgm:pt>
    <dgm:pt modelId="{1806E878-F281-4495-ABE3-C156C6254430}" type="pres">
      <dgm:prSet presAssocID="{E03CC07D-0932-4658-9831-CB718878DC28}" presName="Name0" presStyleCnt="0">
        <dgm:presLayoutVars>
          <dgm:dir/>
          <dgm:resizeHandles val="exact"/>
        </dgm:presLayoutVars>
      </dgm:prSet>
      <dgm:spPr/>
    </dgm:pt>
    <dgm:pt modelId="{6A611F6F-A7C2-4916-B428-171B574F96C8}" type="pres">
      <dgm:prSet presAssocID="{925EFD12-4F94-4BC5-B690-DDD1FC876100}" presName="compNode" presStyleCnt="0"/>
      <dgm:spPr/>
    </dgm:pt>
    <dgm:pt modelId="{BF1E320B-7E6A-4425-8489-1E63511AB17E}" type="pres">
      <dgm:prSet presAssocID="{925EFD12-4F94-4BC5-B690-DDD1FC876100}" presName="pictRect" presStyleLbl="revTx" presStyleIdx="0" presStyleCnt="8">
        <dgm:presLayoutVars>
          <dgm:chMax val="0"/>
          <dgm:bulletEnabled/>
        </dgm:presLayoutVars>
      </dgm:prSet>
      <dgm:spPr/>
    </dgm:pt>
    <dgm:pt modelId="{4E87B57C-2D60-4B26-AF07-C58ABD4EBCAC}" type="pres">
      <dgm:prSet presAssocID="{925EFD12-4F94-4BC5-B690-DDD1FC876100}" presName="textRect" presStyleLbl="revTx" presStyleIdx="1" presStyleCnt="8">
        <dgm:presLayoutVars>
          <dgm:bulletEnabled/>
        </dgm:presLayoutVars>
      </dgm:prSet>
      <dgm:spPr/>
    </dgm:pt>
    <dgm:pt modelId="{84964C07-C88B-4F9F-9387-6314B5B5B3F9}" type="pres">
      <dgm:prSet presAssocID="{D01DC3E7-EAE2-4418-9049-03D371B31B73}" presName="sibTrans" presStyleLbl="sibTrans2D1" presStyleIdx="0" presStyleCnt="0"/>
      <dgm:spPr/>
    </dgm:pt>
    <dgm:pt modelId="{AA988849-E705-4365-8625-EFD9ECA8771C}" type="pres">
      <dgm:prSet presAssocID="{C26CE062-C7A7-4779-969F-B76FCE2D69F8}" presName="compNode" presStyleCnt="0"/>
      <dgm:spPr/>
    </dgm:pt>
    <dgm:pt modelId="{E6AC3A57-884F-4355-9C37-B6EB87533EE3}" type="pres">
      <dgm:prSet presAssocID="{C26CE062-C7A7-4779-969F-B76FCE2D69F8}" presName="pictRect" presStyleLbl="revTx" presStyleIdx="2" presStyleCnt="8">
        <dgm:presLayoutVars>
          <dgm:chMax val="0"/>
          <dgm:bulletEnabled/>
        </dgm:presLayoutVars>
      </dgm:prSet>
      <dgm:spPr/>
    </dgm:pt>
    <dgm:pt modelId="{7E1C0E96-F806-49A1-871E-D04AABDF3F7A}" type="pres">
      <dgm:prSet presAssocID="{C26CE062-C7A7-4779-969F-B76FCE2D69F8}" presName="textRect" presStyleLbl="revTx" presStyleIdx="3" presStyleCnt="8">
        <dgm:presLayoutVars>
          <dgm:bulletEnabled/>
        </dgm:presLayoutVars>
      </dgm:prSet>
      <dgm:spPr/>
    </dgm:pt>
    <dgm:pt modelId="{508909DE-2011-4972-9B50-8735410790D5}" type="pres">
      <dgm:prSet presAssocID="{EF6225F1-9FB7-45E2-A47F-08AE1F07D601}" presName="sibTrans" presStyleLbl="sibTrans2D1" presStyleIdx="0" presStyleCnt="0"/>
      <dgm:spPr/>
    </dgm:pt>
    <dgm:pt modelId="{7A590A63-DA62-42BC-890B-0DAF0D36DE0E}" type="pres">
      <dgm:prSet presAssocID="{8F2E3F24-94C8-4D15-A656-289320C1BB2E}" presName="compNode" presStyleCnt="0"/>
      <dgm:spPr/>
    </dgm:pt>
    <dgm:pt modelId="{24D2E329-063B-425F-9401-A2943D4CFDDB}" type="pres">
      <dgm:prSet presAssocID="{8F2E3F24-94C8-4D15-A656-289320C1BB2E}" presName="pictRect" presStyleLbl="revTx" presStyleIdx="4" presStyleCnt="8">
        <dgm:presLayoutVars>
          <dgm:chMax val="0"/>
          <dgm:bulletEnabled/>
        </dgm:presLayoutVars>
      </dgm:prSet>
      <dgm:spPr/>
    </dgm:pt>
    <dgm:pt modelId="{652BE3E1-4925-4A22-A3AD-4A2A21AD3500}" type="pres">
      <dgm:prSet presAssocID="{8F2E3F24-94C8-4D15-A656-289320C1BB2E}" presName="textRect" presStyleLbl="revTx" presStyleIdx="5" presStyleCnt="8">
        <dgm:presLayoutVars>
          <dgm:bulletEnabled/>
        </dgm:presLayoutVars>
      </dgm:prSet>
      <dgm:spPr/>
    </dgm:pt>
    <dgm:pt modelId="{05495CF1-2276-4D1E-AFAC-3E9457164AA2}" type="pres">
      <dgm:prSet presAssocID="{A7AD43AB-6D64-43B6-8CFB-36DB80DAD16C}" presName="sibTrans" presStyleLbl="sibTrans2D1" presStyleIdx="0" presStyleCnt="0"/>
      <dgm:spPr/>
    </dgm:pt>
    <dgm:pt modelId="{D997987D-26A4-417D-88A8-359F262F471D}" type="pres">
      <dgm:prSet presAssocID="{CB715208-C605-420B-9CF3-A8EAA2928AAB}" presName="compNode" presStyleCnt="0"/>
      <dgm:spPr/>
    </dgm:pt>
    <dgm:pt modelId="{2EDEA352-2157-4BA0-8ED3-633A490DE5B0}" type="pres">
      <dgm:prSet presAssocID="{CB715208-C605-420B-9CF3-A8EAA2928AAB}" presName="pictRect" presStyleLbl="revTx" presStyleIdx="6" presStyleCnt="8">
        <dgm:presLayoutVars>
          <dgm:chMax val="0"/>
          <dgm:bulletEnabled/>
        </dgm:presLayoutVars>
      </dgm:prSet>
      <dgm:spPr/>
    </dgm:pt>
    <dgm:pt modelId="{D3B46115-EF29-43A3-9327-9AD6C8CEC43E}" type="pres">
      <dgm:prSet presAssocID="{CB715208-C605-420B-9CF3-A8EAA2928AAB}" presName="textRect" presStyleLbl="revTx" presStyleIdx="7" presStyleCnt="8">
        <dgm:presLayoutVars>
          <dgm:bulletEnabled/>
        </dgm:presLayoutVars>
      </dgm:prSet>
      <dgm:spPr/>
    </dgm:pt>
  </dgm:ptLst>
  <dgm:cxnLst>
    <dgm:cxn modelId="{1378EC08-CDA7-46DB-B9F9-0442891C3C0E}" srcId="{E03CC07D-0932-4658-9831-CB718878DC28}" destId="{8F2E3F24-94C8-4D15-A656-289320C1BB2E}" srcOrd="2" destOrd="0" parTransId="{306A09DF-8235-423D-BCB7-1F97D28BA7C7}" sibTransId="{A7AD43AB-6D64-43B6-8CFB-36DB80DAD16C}"/>
    <dgm:cxn modelId="{9809E80E-EA88-441E-BA14-9149C483EBD0}" srcId="{E03CC07D-0932-4658-9831-CB718878DC28}" destId="{925EFD12-4F94-4BC5-B690-DDD1FC876100}" srcOrd="0" destOrd="0" parTransId="{B15713DC-8C88-44B5-8ED3-B679BAAADBEE}" sibTransId="{D01DC3E7-EAE2-4418-9049-03D371B31B73}"/>
    <dgm:cxn modelId="{0EB9A71C-12E7-4A03-93FE-1608FF0A3EF1}" srcId="{925EFD12-4F94-4BC5-B690-DDD1FC876100}" destId="{3EF90838-F8C3-4272-ACA5-E212F183AB4B}" srcOrd="0" destOrd="0" parTransId="{C2811474-0ABF-49B6-9DBB-63FC959A92E8}" sibTransId="{E460A211-4891-43C3-A3CA-74B285D299E8}"/>
    <dgm:cxn modelId="{40D3512D-8107-4A66-BE88-EB499062D575}" type="presOf" srcId="{8B5AEA70-FF8C-4FF4-A77B-DA7540BF57AF}" destId="{D3B46115-EF29-43A3-9327-9AD6C8CEC43E}" srcOrd="0" destOrd="0" presId="urn:microsoft.com/office/officeart/2024/3/layout/hArchList1"/>
    <dgm:cxn modelId="{F62A1060-3A88-4B5E-9551-07430C634F74}" srcId="{E03CC07D-0932-4658-9831-CB718878DC28}" destId="{CB715208-C605-420B-9CF3-A8EAA2928AAB}" srcOrd="3" destOrd="0" parTransId="{91B32EC2-6B33-4BDF-9523-50E63FC9CE12}" sibTransId="{6AC296AF-1054-4822-8701-8A117A454413}"/>
    <dgm:cxn modelId="{0AD7C147-C8BA-4B5F-B3CA-E130FD0053F3}" srcId="{8F2E3F24-94C8-4D15-A656-289320C1BB2E}" destId="{D40068F8-2ABF-4652-BECD-64DDE2414289}" srcOrd="0" destOrd="0" parTransId="{10953E5C-F39F-4C6A-A59E-21B8F9FCEEC5}" sibTransId="{BAC14876-163C-4D64-9BE9-868E65B6E408}"/>
    <dgm:cxn modelId="{A7B3DF6A-C8E4-45A1-A82A-4ACDAC30152E}" type="presOf" srcId="{3EF90838-F8C3-4272-ACA5-E212F183AB4B}" destId="{4E87B57C-2D60-4B26-AF07-C58ABD4EBCAC}" srcOrd="0" destOrd="0" presId="urn:microsoft.com/office/officeart/2024/3/layout/hArchList1"/>
    <dgm:cxn modelId="{034CD56F-4DC9-4F74-9A97-960B1CCD804C}" type="presOf" srcId="{8F2E3F24-94C8-4D15-A656-289320C1BB2E}" destId="{24D2E329-063B-425F-9401-A2943D4CFDDB}" srcOrd="0" destOrd="0" presId="urn:microsoft.com/office/officeart/2024/3/layout/hArchList1"/>
    <dgm:cxn modelId="{1633A052-8EF6-4843-BEDA-07867600E4FA}" srcId="{C26CE062-C7A7-4779-969F-B76FCE2D69F8}" destId="{290535D4-8530-4513-A131-A275E59ED24C}" srcOrd="0" destOrd="0" parTransId="{51EB8C9A-C380-4E88-B6CF-82C7A87F75E2}" sibTransId="{B57CEFBF-3946-43C1-AB09-9982A2CF694F}"/>
    <dgm:cxn modelId="{6C311F54-8F3B-4FEF-8D63-25FA34A8A511}" type="presOf" srcId="{D01DC3E7-EAE2-4418-9049-03D371B31B73}" destId="{84964C07-C88B-4F9F-9387-6314B5B5B3F9}" srcOrd="0" destOrd="0" presId="urn:microsoft.com/office/officeart/2024/3/layout/hArchList1"/>
    <dgm:cxn modelId="{E2AF9F75-3AE7-4583-9B92-CC2063F0BAA1}" type="presOf" srcId="{290535D4-8530-4513-A131-A275E59ED24C}" destId="{7E1C0E96-F806-49A1-871E-D04AABDF3F7A}" srcOrd="0" destOrd="0" presId="urn:microsoft.com/office/officeart/2024/3/layout/hArchList1"/>
    <dgm:cxn modelId="{7EC6FF57-1C55-4C2F-9F1B-390DA60CEB46}" type="presOf" srcId="{C26CE062-C7A7-4779-969F-B76FCE2D69F8}" destId="{E6AC3A57-884F-4355-9C37-B6EB87533EE3}" srcOrd="0" destOrd="0" presId="urn:microsoft.com/office/officeart/2024/3/layout/hArchList1"/>
    <dgm:cxn modelId="{05162359-0F51-441E-A029-E6B54F29C9B1}" type="presOf" srcId="{925EFD12-4F94-4BC5-B690-DDD1FC876100}" destId="{BF1E320B-7E6A-4425-8489-1E63511AB17E}" srcOrd="0" destOrd="0" presId="urn:microsoft.com/office/officeart/2024/3/layout/hArchList1"/>
    <dgm:cxn modelId="{36A36D80-B8F7-4EE4-80DA-6F9C530F974D}" type="presOf" srcId="{E03CC07D-0932-4658-9831-CB718878DC28}" destId="{1806E878-F281-4495-ABE3-C156C6254430}" srcOrd="0" destOrd="0" presId="urn:microsoft.com/office/officeart/2024/3/layout/hArchList1"/>
    <dgm:cxn modelId="{301C148E-C32A-4A2B-8202-B3D3B1B69E00}" type="presOf" srcId="{CB715208-C605-420B-9CF3-A8EAA2928AAB}" destId="{2EDEA352-2157-4BA0-8ED3-633A490DE5B0}" srcOrd="0" destOrd="0" presId="urn:microsoft.com/office/officeart/2024/3/layout/hArchList1"/>
    <dgm:cxn modelId="{5CFF0291-00AF-44CB-BCF1-832E322350CE}" type="presOf" srcId="{D40068F8-2ABF-4652-BECD-64DDE2414289}" destId="{652BE3E1-4925-4A22-A3AD-4A2A21AD3500}" srcOrd="0" destOrd="0" presId="urn:microsoft.com/office/officeart/2024/3/layout/hArchList1"/>
    <dgm:cxn modelId="{A8E98991-1110-4493-83F6-15305FDF4D6F}" srcId="{CB715208-C605-420B-9CF3-A8EAA2928AAB}" destId="{8B5AEA70-FF8C-4FF4-A77B-DA7540BF57AF}" srcOrd="0" destOrd="0" parTransId="{18EC3C6F-F607-492B-B9C4-198486517BCA}" sibTransId="{D27C0DCE-3C2B-461E-8D8D-0E7C5B86D1FE}"/>
    <dgm:cxn modelId="{E5ACD8D9-D91B-4693-8F2B-8F4A47B6B7B1}" srcId="{E03CC07D-0932-4658-9831-CB718878DC28}" destId="{C26CE062-C7A7-4779-969F-B76FCE2D69F8}" srcOrd="1" destOrd="0" parTransId="{725D304D-D92C-4CF8-83FC-C179ED2312F0}" sibTransId="{EF6225F1-9FB7-45E2-A47F-08AE1F07D601}"/>
    <dgm:cxn modelId="{204F9ADD-66DA-4CE0-9040-2AA9EBEF9442}" type="presOf" srcId="{EF6225F1-9FB7-45E2-A47F-08AE1F07D601}" destId="{508909DE-2011-4972-9B50-8735410790D5}" srcOrd="0" destOrd="0" presId="urn:microsoft.com/office/officeart/2024/3/layout/hArchList1"/>
    <dgm:cxn modelId="{9CD221F1-EE4D-4059-AAB7-2740AD61F242}" type="presOf" srcId="{A7AD43AB-6D64-43B6-8CFB-36DB80DAD16C}" destId="{05495CF1-2276-4D1E-AFAC-3E9457164AA2}" srcOrd="0" destOrd="0" presId="urn:microsoft.com/office/officeart/2024/3/layout/hArchList1"/>
    <dgm:cxn modelId="{884B0030-CCDC-4ED7-B4BF-1EB13549FC42}" type="presParOf" srcId="{1806E878-F281-4495-ABE3-C156C6254430}" destId="{6A611F6F-A7C2-4916-B428-171B574F96C8}" srcOrd="0" destOrd="0" presId="urn:microsoft.com/office/officeart/2024/3/layout/hArchList1"/>
    <dgm:cxn modelId="{0D5ECD2C-261C-4747-9131-9A6F2B24842F}" type="presParOf" srcId="{6A611F6F-A7C2-4916-B428-171B574F96C8}" destId="{BF1E320B-7E6A-4425-8489-1E63511AB17E}" srcOrd="0" destOrd="0" presId="urn:microsoft.com/office/officeart/2024/3/layout/hArchList1"/>
    <dgm:cxn modelId="{5A906EAC-61D7-4835-8476-CB421A0BCD61}" type="presParOf" srcId="{6A611F6F-A7C2-4916-B428-171B574F96C8}" destId="{4E87B57C-2D60-4B26-AF07-C58ABD4EBCAC}" srcOrd="1" destOrd="0" presId="urn:microsoft.com/office/officeart/2024/3/layout/hArchList1"/>
    <dgm:cxn modelId="{9B61D9D9-816B-44ED-9D01-7B65E2B85709}" type="presParOf" srcId="{1806E878-F281-4495-ABE3-C156C6254430}" destId="{84964C07-C88B-4F9F-9387-6314B5B5B3F9}" srcOrd="1" destOrd="0" presId="urn:microsoft.com/office/officeart/2024/3/layout/hArchList1"/>
    <dgm:cxn modelId="{A52F491B-BA36-46CB-B443-0D47D15EAAE3}" type="presParOf" srcId="{1806E878-F281-4495-ABE3-C156C6254430}" destId="{AA988849-E705-4365-8625-EFD9ECA8771C}" srcOrd="2" destOrd="0" presId="urn:microsoft.com/office/officeart/2024/3/layout/hArchList1"/>
    <dgm:cxn modelId="{D116D633-43A6-4E78-8C95-211B954EE155}" type="presParOf" srcId="{AA988849-E705-4365-8625-EFD9ECA8771C}" destId="{E6AC3A57-884F-4355-9C37-B6EB87533EE3}" srcOrd="0" destOrd="0" presId="urn:microsoft.com/office/officeart/2024/3/layout/hArchList1"/>
    <dgm:cxn modelId="{679A108E-27BD-4D64-8C0E-76BC794995DE}" type="presParOf" srcId="{AA988849-E705-4365-8625-EFD9ECA8771C}" destId="{7E1C0E96-F806-49A1-871E-D04AABDF3F7A}" srcOrd="1" destOrd="0" presId="urn:microsoft.com/office/officeart/2024/3/layout/hArchList1"/>
    <dgm:cxn modelId="{FD4CE4CE-2696-4C11-B947-0D8E19FD8997}" type="presParOf" srcId="{1806E878-F281-4495-ABE3-C156C6254430}" destId="{508909DE-2011-4972-9B50-8735410790D5}" srcOrd="3" destOrd="0" presId="urn:microsoft.com/office/officeart/2024/3/layout/hArchList1"/>
    <dgm:cxn modelId="{0B6C4E74-11F2-4E67-A48D-EDE4D3351020}" type="presParOf" srcId="{1806E878-F281-4495-ABE3-C156C6254430}" destId="{7A590A63-DA62-42BC-890B-0DAF0D36DE0E}" srcOrd="4" destOrd="0" presId="urn:microsoft.com/office/officeart/2024/3/layout/hArchList1"/>
    <dgm:cxn modelId="{94DFA86A-92C6-4FFF-9AAA-D3FA4C734E7D}" type="presParOf" srcId="{7A590A63-DA62-42BC-890B-0DAF0D36DE0E}" destId="{24D2E329-063B-425F-9401-A2943D4CFDDB}" srcOrd="0" destOrd="0" presId="urn:microsoft.com/office/officeart/2024/3/layout/hArchList1"/>
    <dgm:cxn modelId="{4E7E78CB-CFA0-4136-9D18-DC9B99067B82}" type="presParOf" srcId="{7A590A63-DA62-42BC-890B-0DAF0D36DE0E}" destId="{652BE3E1-4925-4A22-A3AD-4A2A21AD3500}" srcOrd="1" destOrd="0" presId="urn:microsoft.com/office/officeart/2024/3/layout/hArchList1"/>
    <dgm:cxn modelId="{4311432E-D297-436F-8CD4-157A27C1B5EC}" type="presParOf" srcId="{1806E878-F281-4495-ABE3-C156C6254430}" destId="{05495CF1-2276-4D1E-AFAC-3E9457164AA2}" srcOrd="5" destOrd="0" presId="urn:microsoft.com/office/officeart/2024/3/layout/hArchList1"/>
    <dgm:cxn modelId="{93C96225-8EC2-4227-8095-4563925C2095}" type="presParOf" srcId="{1806E878-F281-4495-ABE3-C156C6254430}" destId="{D997987D-26A4-417D-88A8-359F262F471D}" srcOrd="6" destOrd="0" presId="urn:microsoft.com/office/officeart/2024/3/layout/hArchList1"/>
    <dgm:cxn modelId="{7F060DDD-3373-40D1-ADAB-72F78ED63885}" type="presParOf" srcId="{D997987D-26A4-417D-88A8-359F262F471D}" destId="{2EDEA352-2157-4BA0-8ED3-633A490DE5B0}" srcOrd="0" destOrd="0" presId="urn:microsoft.com/office/officeart/2024/3/layout/hArchList1"/>
    <dgm:cxn modelId="{620E11F3-9B97-435F-B121-C40EE8B205F9}" type="presParOf" srcId="{D997987D-26A4-417D-88A8-359F262F471D}" destId="{D3B46115-EF29-43A3-9327-9AD6C8CEC43E}"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4E3C85-F177-4D6C-B6E9-76B822D1AC85}">
      <dsp:nvSpPr>
        <dsp:cNvPr id="0" name=""/>
        <dsp:cNvSpPr/>
      </dsp:nvSpPr>
      <dsp:spPr>
        <a:xfrm>
          <a:off x="0" y="0"/>
          <a:ext cx="2040254" cy="775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Rapid Signaling Tool</a:t>
          </a:r>
        </a:p>
      </dsp:txBody>
      <dsp:txXfrm>
        <a:off x="0" y="0"/>
        <a:ext cx="2040254" cy="775768"/>
      </dsp:txXfrm>
    </dsp:sp>
    <dsp:sp modelId="{12443543-98BA-4C11-B99C-24E118A57D34}">
      <dsp:nvSpPr>
        <dsp:cNvPr id="0" name=""/>
        <dsp:cNvSpPr/>
      </dsp:nvSpPr>
      <dsp:spPr>
        <a:xfrm>
          <a:off x="0" y="775768"/>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Resumes act as quick signals enabling recruiters to assess candidate fit within seconds in high-volume settings.</a:t>
          </a:r>
        </a:p>
      </dsp:txBody>
      <dsp:txXfrm>
        <a:off x="0" y="775768"/>
        <a:ext cx="2040254" cy="3042666"/>
      </dsp:txXfrm>
    </dsp:sp>
    <dsp:sp modelId="{3A313194-2A6B-4202-BDC8-C1A2F1294512}">
      <dsp:nvSpPr>
        <dsp:cNvPr id="0" name=""/>
        <dsp:cNvSpPr/>
      </dsp:nvSpPr>
      <dsp:spPr>
        <a:xfrm>
          <a:off x="2244280" y="0"/>
          <a:ext cx="2040254" cy="775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Structured Formatting Importance</a:t>
          </a:r>
        </a:p>
      </dsp:txBody>
      <dsp:txXfrm>
        <a:off x="2244280" y="0"/>
        <a:ext cx="2040254" cy="775768"/>
      </dsp:txXfrm>
    </dsp:sp>
    <dsp:sp modelId="{9EA68906-58A9-4D9C-9119-09A877393A8C}">
      <dsp:nvSpPr>
        <dsp:cNvPr id="0" name=""/>
        <dsp:cNvSpPr/>
      </dsp:nvSpPr>
      <dsp:spPr>
        <a:xfrm>
          <a:off x="2244280" y="775768"/>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Clear headings and chronological work history reduce cognitive effort and improve information retrieval.</a:t>
          </a:r>
        </a:p>
      </dsp:txBody>
      <dsp:txXfrm>
        <a:off x="2244280" y="775768"/>
        <a:ext cx="2040254" cy="3042666"/>
      </dsp:txXfrm>
    </dsp:sp>
    <dsp:sp modelId="{8DB38EC3-10D3-49A5-AB77-7C92CDB71209}">
      <dsp:nvSpPr>
        <dsp:cNvPr id="0" name=""/>
        <dsp:cNvSpPr/>
      </dsp:nvSpPr>
      <dsp:spPr>
        <a:xfrm>
          <a:off x="4488560" y="0"/>
          <a:ext cx="2040254" cy="775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Alignment with Job Qualifications</a:t>
          </a:r>
        </a:p>
      </dsp:txBody>
      <dsp:txXfrm>
        <a:off x="4488560" y="0"/>
        <a:ext cx="2040254" cy="775768"/>
      </dsp:txXfrm>
    </dsp:sp>
    <dsp:sp modelId="{AEF005F0-589B-4093-9364-D9CD77A5800F}">
      <dsp:nvSpPr>
        <dsp:cNvPr id="0" name=""/>
        <dsp:cNvSpPr/>
      </dsp:nvSpPr>
      <dsp:spPr>
        <a:xfrm>
          <a:off x="4488560" y="775768"/>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Resumes should clearly communicate qualifications to match job requirements and aid recruiter decision-making.</a:t>
          </a:r>
        </a:p>
      </dsp:txBody>
      <dsp:txXfrm>
        <a:off x="4488560" y="775768"/>
        <a:ext cx="2040254" cy="3042666"/>
      </dsp:txXfrm>
    </dsp:sp>
    <dsp:sp modelId="{E5D360DD-3BA5-4915-BE3F-598BE9A94AED}">
      <dsp:nvSpPr>
        <dsp:cNvPr id="0" name=""/>
        <dsp:cNvSpPr/>
      </dsp:nvSpPr>
      <dsp:spPr>
        <a:xfrm>
          <a:off x="6732841" y="0"/>
          <a:ext cx="2040254" cy="775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Impact on Hiring Outcomes</a:t>
          </a:r>
        </a:p>
      </dsp:txBody>
      <dsp:txXfrm>
        <a:off x="6732841" y="0"/>
        <a:ext cx="2040254" cy="775768"/>
      </dsp:txXfrm>
    </dsp:sp>
    <dsp:sp modelId="{10BC16CC-DF22-481A-BFAA-35B2E42B2559}">
      <dsp:nvSpPr>
        <dsp:cNvPr id="0" name=""/>
        <dsp:cNvSpPr/>
      </dsp:nvSpPr>
      <dsp:spPr>
        <a:xfrm>
          <a:off x="6732841" y="775768"/>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Easy-to-navigate resumes increase chances of advancing to later evaluation stages in hiring.</a:t>
          </a:r>
        </a:p>
      </dsp:txBody>
      <dsp:txXfrm>
        <a:off x="6732841" y="775768"/>
        <a:ext cx="2040254" cy="3042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6DCC57-8FFE-4402-A71F-8737669A7061}">
      <dsp:nvSpPr>
        <dsp:cNvPr id="0" name=""/>
        <dsp:cNvSpPr/>
      </dsp:nvSpPr>
      <dsp:spPr>
        <a:xfrm>
          <a:off x="0" y="0"/>
          <a:ext cx="2040254" cy="771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Formatting Causes Parsing Errors</a:t>
          </a:r>
        </a:p>
      </dsp:txBody>
      <dsp:txXfrm>
        <a:off x="0" y="0"/>
        <a:ext cx="2040254" cy="771987"/>
      </dsp:txXfrm>
    </dsp:sp>
    <dsp:sp modelId="{05EA2035-C05F-4675-8799-30105AA9B00A}">
      <dsp:nvSpPr>
        <dsp:cNvPr id="0" name=""/>
        <dsp:cNvSpPr/>
      </dsp:nvSpPr>
      <dsp:spPr>
        <a:xfrm>
          <a:off x="0" y="771987"/>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Text boxes, columns, tables, and images disrupt ATS reading order, causing skipped or merged content.</a:t>
          </a:r>
        </a:p>
      </dsp:txBody>
      <dsp:txXfrm>
        <a:off x="0" y="771987"/>
        <a:ext cx="2040254" cy="3042666"/>
      </dsp:txXfrm>
    </dsp:sp>
    <dsp:sp modelId="{E6EECF42-7EFF-489A-AB5B-896DF5A7A9C2}">
      <dsp:nvSpPr>
        <dsp:cNvPr id="0" name=""/>
        <dsp:cNvSpPr/>
      </dsp:nvSpPr>
      <dsp:spPr>
        <a:xfrm>
          <a:off x="2244280" y="0"/>
          <a:ext cx="2040254" cy="771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Unconventional Headers Impact Parsing</a:t>
          </a:r>
        </a:p>
      </dsp:txBody>
      <dsp:txXfrm>
        <a:off x="2244280" y="0"/>
        <a:ext cx="2040254" cy="771987"/>
      </dsp:txXfrm>
    </dsp:sp>
    <dsp:sp modelId="{AB905312-7887-4C08-BDF6-22149BF4B674}">
      <dsp:nvSpPr>
        <dsp:cNvPr id="0" name=""/>
        <dsp:cNvSpPr/>
      </dsp:nvSpPr>
      <dsp:spPr>
        <a:xfrm>
          <a:off x="2244280" y="771987"/>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Creative or non-standard section headers can mislead ATS, leading to missing or fragmented data.</a:t>
          </a:r>
        </a:p>
      </dsp:txBody>
      <dsp:txXfrm>
        <a:off x="2244280" y="771987"/>
        <a:ext cx="2040254" cy="3042666"/>
      </dsp:txXfrm>
    </dsp:sp>
    <dsp:sp modelId="{8F14C257-E51A-4186-A428-DADD614B7879}">
      <dsp:nvSpPr>
        <dsp:cNvPr id="0" name=""/>
        <dsp:cNvSpPr/>
      </dsp:nvSpPr>
      <dsp:spPr>
        <a:xfrm>
          <a:off x="4488560" y="0"/>
          <a:ext cx="2040254" cy="771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Critical Information in Headers/Footers</a:t>
          </a:r>
        </a:p>
      </dsp:txBody>
      <dsp:txXfrm>
        <a:off x="4488560" y="0"/>
        <a:ext cx="2040254" cy="771987"/>
      </dsp:txXfrm>
    </dsp:sp>
    <dsp:sp modelId="{E08E7C22-6276-4D9E-BEDD-55A4E85BF3AF}">
      <dsp:nvSpPr>
        <dsp:cNvPr id="0" name=""/>
        <dsp:cNvSpPr/>
      </dsp:nvSpPr>
      <dsp:spPr>
        <a:xfrm>
          <a:off x="4488560" y="771987"/>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Important details placed in headers or footers may be completely missed by ATS parsing systems.</a:t>
          </a:r>
        </a:p>
      </dsp:txBody>
      <dsp:txXfrm>
        <a:off x="4488560" y="771987"/>
        <a:ext cx="2040254" cy="3042666"/>
      </dsp:txXfrm>
    </dsp:sp>
    <dsp:sp modelId="{9894709C-EF0F-423A-80C1-81EFCAEA9E05}">
      <dsp:nvSpPr>
        <dsp:cNvPr id="0" name=""/>
        <dsp:cNvSpPr/>
      </dsp:nvSpPr>
      <dsp:spPr>
        <a:xfrm>
          <a:off x="6732841" y="0"/>
          <a:ext cx="2040254" cy="771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Standard Formatting Benefits</a:t>
          </a:r>
        </a:p>
      </dsp:txBody>
      <dsp:txXfrm>
        <a:off x="6732841" y="0"/>
        <a:ext cx="2040254" cy="771987"/>
      </dsp:txXfrm>
    </dsp:sp>
    <dsp:sp modelId="{8FAA4F43-1963-4AC2-878A-1F9767B50B57}">
      <dsp:nvSpPr>
        <dsp:cNvPr id="0" name=""/>
        <dsp:cNvSpPr/>
      </dsp:nvSpPr>
      <dsp:spPr>
        <a:xfrm>
          <a:off x="6732841" y="771987"/>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Using standard resume formatting improves parsing accuracy and boosts relevance matching for job qualifications.</a:t>
          </a:r>
        </a:p>
      </dsp:txBody>
      <dsp:txXfrm>
        <a:off x="6732841" y="771987"/>
        <a:ext cx="2040254" cy="3042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F73D93-5BB8-433E-A96F-5C8FEA63E517}">
      <dsp:nvSpPr>
        <dsp:cNvPr id="0" name=""/>
        <dsp:cNvSpPr/>
      </dsp:nvSpPr>
      <dsp:spPr>
        <a:xfrm>
          <a:off x="0" y="0"/>
          <a:ext cx="2040254" cy="533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Role of Visual Hierarchy</a:t>
          </a:r>
        </a:p>
      </dsp:txBody>
      <dsp:txXfrm>
        <a:off x="0" y="0"/>
        <a:ext cx="2040254" cy="533766"/>
      </dsp:txXfrm>
    </dsp:sp>
    <dsp:sp modelId="{DEA1A2ED-5C07-4174-B9C7-C16B182143A0}">
      <dsp:nvSpPr>
        <dsp:cNvPr id="0" name=""/>
        <dsp:cNvSpPr/>
      </dsp:nvSpPr>
      <dsp:spPr>
        <a:xfrm>
          <a:off x="0" y="533766"/>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Visual hierarchy directs readers by highlighting the most important resume information with clear formatting and spacing.</a:t>
          </a:r>
        </a:p>
      </dsp:txBody>
      <dsp:txXfrm>
        <a:off x="0" y="533766"/>
        <a:ext cx="2040254" cy="3042666"/>
      </dsp:txXfrm>
    </dsp:sp>
    <dsp:sp modelId="{F1D19DBA-38CF-40AD-B9F7-09B31BDE0857}">
      <dsp:nvSpPr>
        <dsp:cNvPr id="0" name=""/>
        <dsp:cNvSpPr/>
      </dsp:nvSpPr>
      <dsp:spPr>
        <a:xfrm>
          <a:off x="2244280" y="0"/>
          <a:ext cx="2040254" cy="533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Impact of Information Density</a:t>
          </a:r>
        </a:p>
      </dsp:txBody>
      <dsp:txXfrm>
        <a:off x="2244280" y="0"/>
        <a:ext cx="2040254" cy="533766"/>
      </dsp:txXfrm>
    </dsp:sp>
    <dsp:sp modelId="{055DF95B-8806-4767-8F35-B105444F5EA0}">
      <dsp:nvSpPr>
        <dsp:cNvPr id="0" name=""/>
        <dsp:cNvSpPr/>
      </dsp:nvSpPr>
      <dsp:spPr>
        <a:xfrm>
          <a:off x="2244280" y="533766"/>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High information density overwhelms readers, making content harder to understand and slowing decision making.</a:t>
          </a:r>
        </a:p>
      </dsp:txBody>
      <dsp:txXfrm>
        <a:off x="2244280" y="533766"/>
        <a:ext cx="2040254" cy="3042666"/>
      </dsp:txXfrm>
    </dsp:sp>
    <dsp:sp modelId="{948C4466-0A33-4529-8E9E-797B2518ACE9}">
      <dsp:nvSpPr>
        <dsp:cNvPr id="0" name=""/>
        <dsp:cNvSpPr/>
      </dsp:nvSpPr>
      <dsp:spPr>
        <a:xfrm>
          <a:off x="4488560" y="0"/>
          <a:ext cx="2040254" cy="533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Optimizing for Entry-Level Resumes</a:t>
          </a:r>
        </a:p>
      </dsp:txBody>
      <dsp:txXfrm>
        <a:off x="4488560" y="0"/>
        <a:ext cx="2040254" cy="533766"/>
      </dsp:txXfrm>
    </dsp:sp>
    <dsp:sp modelId="{50204D5B-16CC-4926-B833-A25218851883}">
      <dsp:nvSpPr>
        <dsp:cNvPr id="0" name=""/>
        <dsp:cNvSpPr/>
      </dsp:nvSpPr>
      <dsp:spPr>
        <a:xfrm>
          <a:off x="4488560" y="533766"/>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Reducing density ensures skills and outcomes are clear, supporting equitable evaluation and faster recruiter review.</a:t>
          </a:r>
        </a:p>
      </dsp:txBody>
      <dsp:txXfrm>
        <a:off x="4488560" y="533766"/>
        <a:ext cx="2040254" cy="3042666"/>
      </dsp:txXfrm>
    </dsp:sp>
    <dsp:sp modelId="{8F329128-64B7-4882-8423-0620729B241E}">
      <dsp:nvSpPr>
        <dsp:cNvPr id="0" name=""/>
        <dsp:cNvSpPr/>
      </dsp:nvSpPr>
      <dsp:spPr>
        <a:xfrm>
          <a:off x="6732841" y="0"/>
          <a:ext cx="2040254" cy="533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Enhancing Readability</a:t>
          </a:r>
        </a:p>
      </dsp:txBody>
      <dsp:txXfrm>
        <a:off x="6732841" y="0"/>
        <a:ext cx="2040254" cy="533766"/>
      </dsp:txXfrm>
    </dsp:sp>
    <dsp:sp modelId="{BC9A3543-F170-4B76-8B8B-15F09D8382F1}">
      <dsp:nvSpPr>
        <dsp:cNvPr id="0" name=""/>
        <dsp:cNvSpPr/>
      </dsp:nvSpPr>
      <dsp:spPr>
        <a:xfrm>
          <a:off x="6732841" y="533766"/>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Consistent spacing, minimal bolding, and parallel bullet points improve readability and effectiveness of resumes.</a:t>
          </a:r>
        </a:p>
      </dsp:txBody>
      <dsp:txXfrm>
        <a:off x="6732841" y="533766"/>
        <a:ext cx="2040254" cy="30426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16B312-0099-4C27-985E-11925F4E82E3}">
      <dsp:nvSpPr>
        <dsp:cNvPr id="0" name=""/>
        <dsp:cNvSpPr/>
      </dsp:nvSpPr>
      <dsp:spPr>
        <a:xfrm>
          <a:off x="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Natural Keyword Integration</a:t>
          </a:r>
        </a:p>
      </dsp:txBody>
      <dsp:txXfrm>
        <a:off x="0" y="0"/>
        <a:ext cx="2040254" cy="600989"/>
      </dsp:txXfrm>
    </dsp:sp>
    <dsp:sp modelId="{6278EED6-E70A-4F59-96FA-676AECE91BE7}">
      <dsp:nvSpPr>
        <dsp:cNvPr id="0" name=""/>
        <dsp:cNvSpPr/>
      </dsp:nvSpPr>
      <dsp:spPr>
        <a:xfrm>
          <a:off x="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Use job description terms naturally in bullet points, skills, and accomplishments for authentic alignment.</a:t>
          </a:r>
        </a:p>
      </dsp:txBody>
      <dsp:txXfrm>
        <a:off x="0" y="600989"/>
        <a:ext cx="2040254" cy="3257778"/>
      </dsp:txXfrm>
    </dsp:sp>
    <dsp:sp modelId="{CE7B87A0-80E7-41E5-B466-7AE889FE62B9}">
      <dsp:nvSpPr>
        <dsp:cNvPr id="0" name=""/>
        <dsp:cNvSpPr/>
      </dsp:nvSpPr>
      <dsp:spPr>
        <a:xfrm>
          <a:off x="224428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Avoid Keyword Stuffing</a:t>
          </a:r>
        </a:p>
      </dsp:txBody>
      <dsp:txXfrm>
        <a:off x="2244280" y="0"/>
        <a:ext cx="2040254" cy="600989"/>
      </dsp:txXfrm>
    </dsp:sp>
    <dsp:sp modelId="{25EB7B1E-216B-4C48-A11A-6426EEE1FD1E}">
      <dsp:nvSpPr>
        <dsp:cNvPr id="0" name=""/>
        <dsp:cNvSpPr/>
      </dsp:nvSpPr>
      <dsp:spPr>
        <a:xfrm>
          <a:off x="224428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Excessive keyword repetition or irrelevant skills reduce readability and hurt ATS scoring.</a:t>
          </a:r>
        </a:p>
      </dsp:txBody>
      <dsp:txXfrm>
        <a:off x="2244280" y="600989"/>
        <a:ext cx="2040254" cy="3257778"/>
      </dsp:txXfrm>
    </dsp:sp>
    <dsp:sp modelId="{CE585CFD-A6FE-44DA-B939-35AAF48DF56F}">
      <dsp:nvSpPr>
        <dsp:cNvPr id="0" name=""/>
        <dsp:cNvSpPr/>
      </dsp:nvSpPr>
      <dsp:spPr>
        <a:xfrm>
          <a:off x="448856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Contextual Relevance</a:t>
          </a:r>
        </a:p>
      </dsp:txBody>
      <dsp:txXfrm>
        <a:off x="4488560" y="0"/>
        <a:ext cx="2040254" cy="600989"/>
      </dsp:txXfrm>
    </dsp:sp>
    <dsp:sp modelId="{CD733071-5A9B-49E2-BABB-8A4F49D1C1A2}">
      <dsp:nvSpPr>
        <dsp:cNvPr id="0" name=""/>
        <dsp:cNvSpPr/>
      </dsp:nvSpPr>
      <dsp:spPr>
        <a:xfrm>
          <a:off x="448856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Incorporate keywords only when they accurately describe responsibilities or achievements.</a:t>
          </a:r>
        </a:p>
      </dsp:txBody>
      <dsp:txXfrm>
        <a:off x="4488560" y="600989"/>
        <a:ext cx="2040254" cy="3257778"/>
      </dsp:txXfrm>
    </dsp:sp>
    <dsp:sp modelId="{80A3B6D0-30CF-43EA-A55A-27DFAC1AD7B8}">
      <dsp:nvSpPr>
        <dsp:cNvPr id="0" name=""/>
        <dsp:cNvSpPr/>
      </dsp:nvSpPr>
      <dsp:spPr>
        <a:xfrm>
          <a:off x="6732841"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Benefits for Entry-Level</a:t>
          </a:r>
        </a:p>
      </dsp:txBody>
      <dsp:txXfrm>
        <a:off x="6732841" y="0"/>
        <a:ext cx="2040254" cy="600989"/>
      </dsp:txXfrm>
    </dsp:sp>
    <dsp:sp modelId="{9FF24A4F-B231-4B38-8B16-7E1E108A44A2}">
      <dsp:nvSpPr>
        <dsp:cNvPr id="0" name=""/>
        <dsp:cNvSpPr/>
      </dsp:nvSpPr>
      <dsp:spPr>
        <a:xfrm>
          <a:off x="6732841"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Thoughtful keyword alignment improves evaluation by both ATS systems and human recruiters.</a:t>
          </a:r>
        </a:p>
      </dsp:txBody>
      <dsp:txXfrm>
        <a:off x="6732841" y="600989"/>
        <a:ext cx="2040254" cy="32577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1AF4A7-9A23-4688-91C3-8E314943DBB8}">
      <dsp:nvSpPr>
        <dsp:cNvPr id="0" name=""/>
        <dsp:cNvSpPr/>
      </dsp:nvSpPr>
      <dsp:spPr>
        <a:xfrm>
          <a:off x="0" y="0"/>
          <a:ext cx="2040254" cy="57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Consistent Formatting</a:t>
          </a:r>
        </a:p>
      </dsp:txBody>
      <dsp:txXfrm>
        <a:off x="0" y="0"/>
        <a:ext cx="2040254" cy="574100"/>
      </dsp:txXfrm>
    </dsp:sp>
    <dsp:sp modelId="{BA4B83FF-A04E-4CD4-B050-AB62662C904B}">
      <dsp:nvSpPr>
        <dsp:cNvPr id="0" name=""/>
        <dsp:cNvSpPr/>
      </dsp:nvSpPr>
      <dsp:spPr>
        <a:xfrm>
          <a:off x="0" y="574100"/>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Use uniform formatting across all work entries to create a cohesive and professional resume appearance.</a:t>
          </a:r>
        </a:p>
      </dsp:txBody>
      <dsp:txXfrm>
        <a:off x="0" y="574100"/>
        <a:ext cx="2040254" cy="3042666"/>
      </dsp:txXfrm>
    </dsp:sp>
    <dsp:sp modelId="{E131A208-C4D0-4152-BD59-25A328B5E8C1}">
      <dsp:nvSpPr>
        <dsp:cNvPr id="0" name=""/>
        <dsp:cNvSpPr/>
      </dsp:nvSpPr>
      <dsp:spPr>
        <a:xfrm>
          <a:off x="2244280" y="0"/>
          <a:ext cx="2040254" cy="57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Logical Chronological Order</a:t>
          </a:r>
        </a:p>
      </dsp:txBody>
      <dsp:txXfrm>
        <a:off x="2244280" y="0"/>
        <a:ext cx="2040254" cy="574100"/>
      </dsp:txXfrm>
    </dsp:sp>
    <dsp:sp modelId="{14294042-FFEB-4152-8A29-54176423CACF}">
      <dsp:nvSpPr>
        <dsp:cNvPr id="0" name=""/>
        <dsp:cNvSpPr/>
      </dsp:nvSpPr>
      <dsp:spPr>
        <a:xfrm>
          <a:off x="2244280" y="574100"/>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Organize employment history chronologically to help recruiters quickly follow career progression.</a:t>
          </a:r>
        </a:p>
      </dsp:txBody>
      <dsp:txXfrm>
        <a:off x="2244280" y="574100"/>
        <a:ext cx="2040254" cy="3042666"/>
      </dsp:txXfrm>
    </dsp:sp>
    <dsp:sp modelId="{8B8424BB-110C-4231-9D9E-B38F1B6F50F1}">
      <dsp:nvSpPr>
        <dsp:cNvPr id="0" name=""/>
        <dsp:cNvSpPr/>
      </dsp:nvSpPr>
      <dsp:spPr>
        <a:xfrm>
          <a:off x="4488560" y="0"/>
          <a:ext cx="2040254" cy="57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Clear Section Divisions</a:t>
          </a:r>
        </a:p>
      </dsp:txBody>
      <dsp:txXfrm>
        <a:off x="4488560" y="0"/>
        <a:ext cx="2040254" cy="574100"/>
      </dsp:txXfrm>
    </dsp:sp>
    <dsp:sp modelId="{D422541C-482E-486E-BB7E-4109D53C24E6}">
      <dsp:nvSpPr>
        <dsp:cNvPr id="0" name=""/>
        <dsp:cNvSpPr/>
      </dsp:nvSpPr>
      <dsp:spPr>
        <a:xfrm>
          <a:off x="4488560" y="574100"/>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Divide resume into distinct sections to improve readability and highlight key qualifications.</a:t>
          </a:r>
        </a:p>
      </dsp:txBody>
      <dsp:txXfrm>
        <a:off x="4488560" y="574100"/>
        <a:ext cx="2040254" cy="3042666"/>
      </dsp:txXfrm>
    </dsp:sp>
    <dsp:sp modelId="{ADBBCB5A-578D-4008-BF4A-D7CB59C76A6E}">
      <dsp:nvSpPr>
        <dsp:cNvPr id="0" name=""/>
        <dsp:cNvSpPr/>
      </dsp:nvSpPr>
      <dsp:spPr>
        <a:xfrm>
          <a:off x="6732841" y="0"/>
          <a:ext cx="2040254" cy="57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Entry-Level Focus</a:t>
          </a:r>
        </a:p>
      </dsp:txBody>
      <dsp:txXfrm>
        <a:off x="6732841" y="0"/>
        <a:ext cx="2040254" cy="574100"/>
      </dsp:txXfrm>
    </dsp:sp>
    <dsp:sp modelId="{69268357-95C0-4BBD-BB61-415DB19F653A}">
      <dsp:nvSpPr>
        <dsp:cNvPr id="0" name=""/>
        <dsp:cNvSpPr/>
      </dsp:nvSpPr>
      <dsp:spPr>
        <a:xfrm>
          <a:off x="6732841" y="574100"/>
          <a:ext cx="2040254" cy="3042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Highlight transferable skills and relevant experience tailored to employer expectations for entry-level candidates.</a:t>
          </a:r>
        </a:p>
      </dsp:txBody>
      <dsp:txXfrm>
        <a:off x="6732841" y="574100"/>
        <a:ext cx="2040254" cy="30426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C55A03-273B-4566-A8BA-8FBD2C97AC35}">
      <dsp:nvSpPr>
        <dsp:cNvPr id="0" name=""/>
        <dsp:cNvSpPr/>
      </dsp:nvSpPr>
      <dsp:spPr>
        <a:xfrm>
          <a:off x="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Impact-Focused Review</a:t>
          </a:r>
        </a:p>
      </dsp:txBody>
      <dsp:txXfrm>
        <a:off x="0" y="0"/>
        <a:ext cx="2040254" cy="600989"/>
      </dsp:txXfrm>
    </dsp:sp>
    <dsp:sp modelId="{8E087A83-947D-4798-8612-A50B8BD1ED26}">
      <dsp:nvSpPr>
        <dsp:cNvPr id="0" name=""/>
        <dsp:cNvSpPr/>
      </dsp:nvSpPr>
      <dsp:spPr>
        <a:xfrm>
          <a:off x="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Ensures bullet points show measurable contributions like scale, efficiency, accuracy, or improvement.</a:t>
          </a:r>
        </a:p>
      </dsp:txBody>
      <dsp:txXfrm>
        <a:off x="0" y="600989"/>
        <a:ext cx="2040254" cy="3257778"/>
      </dsp:txXfrm>
    </dsp:sp>
    <dsp:sp modelId="{15B9ED94-272D-4016-91AB-4F1FC1D9CAF4}">
      <dsp:nvSpPr>
        <dsp:cNvPr id="0" name=""/>
        <dsp:cNvSpPr/>
      </dsp:nvSpPr>
      <dsp:spPr>
        <a:xfrm>
          <a:off x="224428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Alignment Verification</a:t>
          </a:r>
        </a:p>
      </dsp:txBody>
      <dsp:txXfrm>
        <a:off x="2244280" y="0"/>
        <a:ext cx="2040254" cy="600989"/>
      </dsp:txXfrm>
    </dsp:sp>
    <dsp:sp modelId="{BEB32064-CB47-473E-B7CF-8A38F30CAF0F}">
      <dsp:nvSpPr>
        <dsp:cNvPr id="0" name=""/>
        <dsp:cNvSpPr/>
      </dsp:nvSpPr>
      <dsp:spPr>
        <a:xfrm>
          <a:off x="224428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Verifies qualifications, preferred skills, and employer terminology match the job requirements.</a:t>
          </a:r>
        </a:p>
      </dsp:txBody>
      <dsp:txXfrm>
        <a:off x="2244280" y="600989"/>
        <a:ext cx="2040254" cy="3257778"/>
      </dsp:txXfrm>
    </dsp:sp>
    <dsp:sp modelId="{2B71B5E4-1C72-4825-986D-F8E9BEBC2C50}">
      <dsp:nvSpPr>
        <dsp:cNvPr id="0" name=""/>
        <dsp:cNvSpPr/>
      </dsp:nvSpPr>
      <dsp:spPr>
        <a:xfrm>
          <a:off x="448856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Resume Outcome Emphasis</a:t>
          </a:r>
        </a:p>
      </dsp:txBody>
      <dsp:txXfrm>
        <a:off x="4488560" y="0"/>
        <a:ext cx="2040254" cy="600989"/>
      </dsp:txXfrm>
    </dsp:sp>
    <dsp:sp modelId="{B0A7D39A-74EB-44A1-AAD9-6C3E26C5394C}">
      <dsp:nvSpPr>
        <dsp:cNvPr id="0" name=""/>
        <dsp:cNvSpPr/>
      </dsp:nvSpPr>
      <dsp:spPr>
        <a:xfrm>
          <a:off x="448856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Encourages entry-level candidates to focus on outcomes rather than tasks to show capability.</a:t>
          </a:r>
        </a:p>
      </dsp:txBody>
      <dsp:txXfrm>
        <a:off x="4488560" y="600989"/>
        <a:ext cx="2040254" cy="3257778"/>
      </dsp:txXfrm>
    </dsp:sp>
    <dsp:sp modelId="{82B538F0-5924-4033-BE5D-8C4BA946F95E}">
      <dsp:nvSpPr>
        <dsp:cNvPr id="0" name=""/>
        <dsp:cNvSpPr/>
      </dsp:nvSpPr>
      <dsp:spPr>
        <a:xfrm>
          <a:off x="6732841"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Competitive Positioning</a:t>
          </a:r>
        </a:p>
      </dsp:txBody>
      <dsp:txXfrm>
        <a:off x="6732841" y="0"/>
        <a:ext cx="2040254" cy="600989"/>
      </dsp:txXfrm>
    </dsp:sp>
    <dsp:sp modelId="{BB800471-F6FD-4A20-A5BA-FC84FCBC85F7}">
      <dsp:nvSpPr>
        <dsp:cNvPr id="0" name=""/>
        <dsp:cNvSpPr/>
      </dsp:nvSpPr>
      <dsp:spPr>
        <a:xfrm>
          <a:off x="6732841"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Clarifying relevance and alignment strengthens standing in structured hiring and evaluation systems.</a:t>
          </a:r>
        </a:p>
      </dsp:txBody>
      <dsp:txXfrm>
        <a:off x="6732841" y="600989"/>
        <a:ext cx="2040254" cy="325777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1E320B-7E6A-4425-8489-1E63511AB17E}">
      <dsp:nvSpPr>
        <dsp:cNvPr id="0" name=""/>
        <dsp:cNvSpPr/>
      </dsp:nvSpPr>
      <dsp:spPr>
        <a:xfrm>
          <a:off x="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Clarity and Structure</a:t>
          </a:r>
        </a:p>
      </dsp:txBody>
      <dsp:txXfrm>
        <a:off x="0" y="0"/>
        <a:ext cx="2040254" cy="600989"/>
      </dsp:txXfrm>
    </dsp:sp>
    <dsp:sp modelId="{4E87B57C-2D60-4B26-AF07-C58ABD4EBCAC}">
      <dsp:nvSpPr>
        <dsp:cNvPr id="0" name=""/>
        <dsp:cNvSpPr/>
      </dsp:nvSpPr>
      <dsp:spPr>
        <a:xfrm>
          <a:off x="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Clear and well-structured resumes help recruiters and ATS systems quickly identify key qualifications and experiences.</a:t>
          </a:r>
        </a:p>
      </dsp:txBody>
      <dsp:txXfrm>
        <a:off x="0" y="600989"/>
        <a:ext cx="2040254" cy="3257778"/>
      </dsp:txXfrm>
    </dsp:sp>
    <dsp:sp modelId="{E6AC3A57-884F-4355-9C37-B6EB87533EE3}">
      <dsp:nvSpPr>
        <dsp:cNvPr id="0" name=""/>
        <dsp:cNvSpPr/>
      </dsp:nvSpPr>
      <dsp:spPr>
        <a:xfrm>
          <a:off x="224428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Measurable Impact</a:t>
          </a:r>
        </a:p>
      </dsp:txBody>
      <dsp:txXfrm>
        <a:off x="2244280" y="0"/>
        <a:ext cx="2040254" cy="600989"/>
      </dsp:txXfrm>
    </dsp:sp>
    <dsp:sp modelId="{7E1C0E96-F806-49A1-871E-D04AABDF3F7A}">
      <dsp:nvSpPr>
        <dsp:cNvPr id="0" name=""/>
        <dsp:cNvSpPr/>
      </dsp:nvSpPr>
      <dsp:spPr>
        <a:xfrm>
          <a:off x="224428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Highlighting measurable results strengthens the resume's effectiveness and demonstrates real achievements.</a:t>
          </a:r>
        </a:p>
      </dsp:txBody>
      <dsp:txXfrm>
        <a:off x="2244280" y="600989"/>
        <a:ext cx="2040254" cy="3257778"/>
      </dsp:txXfrm>
    </dsp:sp>
    <dsp:sp modelId="{24D2E329-063B-425F-9401-A2943D4CFDDB}">
      <dsp:nvSpPr>
        <dsp:cNvPr id="0" name=""/>
        <dsp:cNvSpPr/>
      </dsp:nvSpPr>
      <dsp:spPr>
        <a:xfrm>
          <a:off x="4488560"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Alignment with Job Description</a:t>
          </a:r>
        </a:p>
      </dsp:txBody>
      <dsp:txXfrm>
        <a:off x="4488560" y="0"/>
        <a:ext cx="2040254" cy="600989"/>
      </dsp:txXfrm>
    </dsp:sp>
    <dsp:sp modelId="{652BE3E1-4925-4A22-A3AD-4A2A21AD3500}">
      <dsp:nvSpPr>
        <dsp:cNvPr id="0" name=""/>
        <dsp:cNvSpPr/>
      </dsp:nvSpPr>
      <dsp:spPr>
        <a:xfrm>
          <a:off x="4488560"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Using terminology aligned with job descriptions increases compatibility with ATS keyword scanning.</a:t>
          </a:r>
        </a:p>
      </dsp:txBody>
      <dsp:txXfrm>
        <a:off x="4488560" y="600989"/>
        <a:ext cx="2040254" cy="3257778"/>
      </dsp:txXfrm>
    </dsp:sp>
    <dsp:sp modelId="{2EDEA352-2157-4BA0-8ED3-633A490DE5B0}">
      <dsp:nvSpPr>
        <dsp:cNvPr id="0" name=""/>
        <dsp:cNvSpPr/>
      </dsp:nvSpPr>
      <dsp:spPr>
        <a:xfrm>
          <a:off x="6732841" y="0"/>
          <a:ext cx="2040254" cy="60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Entry-Level Applicant Focus</a:t>
          </a:r>
        </a:p>
      </dsp:txBody>
      <dsp:txXfrm>
        <a:off x="6732841" y="0"/>
        <a:ext cx="2040254" cy="600989"/>
      </dsp:txXfrm>
    </dsp:sp>
    <dsp:sp modelId="{D3B46115-EF29-43A3-9327-9AD6C8CEC43E}">
      <dsp:nvSpPr>
        <dsp:cNvPr id="0" name=""/>
        <dsp:cNvSpPr/>
      </dsp:nvSpPr>
      <dsp:spPr>
        <a:xfrm>
          <a:off x="6732841" y="600989"/>
          <a:ext cx="2040254" cy="32577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Entry-level resumes should emphasize evidence-based skills and accomplishments to stand out in large applicant pools.</a:t>
          </a:r>
        </a:p>
      </dsp:txBody>
      <dsp:txXfrm>
        <a:off x="6732841" y="600989"/>
        <a:ext cx="2040254" cy="3257778"/>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872CA1-F547-4BDE-B74B-CBDAFF33C549}" type="datetimeFigureOut">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D0723-0788-4A21-A109-57EDCE2BEAC4}" type="slidenum">
              <a:t>‹#›</a:t>
            </a:fld>
            <a:endParaRPr lang="en-US"/>
          </a:p>
        </p:txBody>
      </p:sp>
    </p:spTree>
    <p:extLst>
      <p:ext uri="{BB962C8B-B14F-4D97-AF65-F5344CB8AC3E}">
        <p14:creationId xmlns:p14="http://schemas.microsoft.com/office/powerpoint/2010/main" val="330114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5997711-2C3A-45C9-9A23-07E2A306852E}" type="slidenum">
              <a:t>1</a:t>
            </a:fld>
            <a:endParaRPr lang="en-US"/>
          </a:p>
        </p:txBody>
      </p:sp>
    </p:spTree>
    <p:extLst>
      <p:ext uri="{BB962C8B-B14F-4D97-AF65-F5344CB8AC3E}">
        <p14:creationId xmlns:p14="http://schemas.microsoft.com/office/powerpoint/2010/main" val="2235894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Resumes Function in High-Volume Hiring Environments, How Recruiters Process Information Quickly, Why Clarity and Structure Reduce Cognitive Load</a:t>
            </a:r>
          </a:p>
        </p:txBody>
      </p:sp>
      <p:sp>
        <p:nvSpPr>
          <p:cNvPr id="4" name="Slide Number Placeholder 3"/>
          <p:cNvSpPr>
            <a:spLocks noGrp="1"/>
          </p:cNvSpPr>
          <p:nvPr>
            <p:ph type="sldNum" sz="quarter" idx="5"/>
          </p:nvPr>
        </p:nvSpPr>
        <p:spPr/>
        <p:txBody>
          <a:bodyPr/>
          <a:lstStyle/>
          <a:p>
            <a:fld id="{25997711-2C3A-45C9-9A23-07E2A306852E}" type="slidenum">
              <a:t>2</a:t>
            </a:fld>
            <a:endParaRPr lang="en-US"/>
          </a:p>
        </p:txBody>
      </p:sp>
    </p:spTree>
    <p:extLst>
      <p:ext uri="{BB962C8B-B14F-4D97-AF65-F5344CB8AC3E}">
        <p14:creationId xmlns:p14="http://schemas.microsoft.com/office/powerpoint/2010/main" val="3633502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high-volume hiring environments, resumes operate primarily as rapid signaling tools that help recruiters determine baseline fit within seconds. Because organizations often receive hundreds of applications for a single entry-level role, recruiters rely heavily on structured cues—such as clear headings, chronological work history, and job-relevant terminology—to quickly separate viable candidates from those who do not meet minimum requirements. The design and structure of a resume therefore play a critical role in reducing the amount of cognitive effort required during initial screening. Research on recruiter behavior consistently shows that resumes with predictable formatting allow screeners to locate essential details, such as job titles and core skills, with greater efficiency. This means that clarity and organization function not as aesthetic preferences but as performance mechanisms that improve the likelihood that a resume is read accurately and completely. Recruiters also tend to prioritize information that demonstrates alignment with job qualifications, and resumes overloaded with dense text or inconsistent layout patterns can obscure this alignment. For entry-level job seekers, this underscores the importance of creating documents that communicate qualifications directly, avoid ambiguity, and present experience in a manner that supports swift, accurate interpretation. A resume that is easy to navigate supports better decision-making for recruiters and increases the chances of progressing to later evaluation stages. By understanding how resumes serve this signaling purpose, job seekers can structure their documents to match the scanning behaviors that define early hiring funnel processes.</a:t>
            </a:r>
          </a:p>
        </p:txBody>
      </p:sp>
      <p:sp>
        <p:nvSpPr>
          <p:cNvPr id="4" name="Slide Number Placeholder 3"/>
          <p:cNvSpPr>
            <a:spLocks noGrp="1"/>
          </p:cNvSpPr>
          <p:nvPr>
            <p:ph type="sldNum" sz="quarter" idx="5"/>
          </p:nvPr>
        </p:nvSpPr>
        <p:spPr/>
        <p:txBody>
          <a:bodyPr/>
          <a:lstStyle/>
          <a:p>
            <a:fld id="{25997711-2C3A-45C9-9A23-07E2A306852E}" type="slidenum">
              <a:t>3</a:t>
            </a:fld>
            <a:endParaRPr lang="en-US"/>
          </a:p>
        </p:txBody>
      </p:sp>
    </p:spTree>
    <p:extLst>
      <p:ext uri="{BB962C8B-B14F-4D97-AF65-F5344CB8AC3E}">
        <p14:creationId xmlns:p14="http://schemas.microsoft.com/office/powerpoint/2010/main" val="1450223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Recruiters process resume information under significant time constraints, often scanning each document for only a few seconds before deciding whether to continue reading. Eye‑tracking studies show that recruiters follow consistent visual patterns, focusing first on job titles, company names, and dates before examining secondary details such as responsibilities or skills. This means that even small inconsistencies—such as misaligned dates or nonstandard section headings—can disrupt the rapid scanning process and increase cognitive load. A recruiter’s ability to evaluate a resume efficiently depends heavily on how well the applicant structures core information, which is why predictable formatting is valued so highly in structured hiring systems. Bullet points that communicate scope and results, rather than task descriptions, also support faster processing because they reduce the mental work required to understand level of contribution. For entry-level applicants, this emphasizes the importance of designing resumes that highlight essential facts immediately and minimize reliance on long paragraphs or unconventional layouts. By aligning resume structure with the way recruiters naturally read documents, job seekers increase the likelihood that their qualifications will be seen, interpreted correctly, and considered for advancement.</a:t>
            </a:r>
          </a:p>
        </p:txBody>
      </p:sp>
      <p:sp>
        <p:nvSpPr>
          <p:cNvPr id="4" name="Slide Number Placeholder 3"/>
          <p:cNvSpPr>
            <a:spLocks noGrp="1"/>
          </p:cNvSpPr>
          <p:nvPr>
            <p:ph type="sldNum" sz="quarter" idx="5"/>
          </p:nvPr>
        </p:nvSpPr>
        <p:spPr/>
        <p:txBody>
          <a:bodyPr/>
          <a:lstStyle/>
          <a:p>
            <a:fld id="{25997711-2C3A-45C9-9A23-07E2A306852E}" type="slidenum">
              <a:t>4</a:t>
            </a:fld>
            <a:endParaRPr lang="en-US"/>
          </a:p>
        </p:txBody>
      </p:sp>
    </p:spTree>
    <p:extLst>
      <p:ext uri="{BB962C8B-B14F-4D97-AF65-F5344CB8AC3E}">
        <p14:creationId xmlns:p14="http://schemas.microsoft.com/office/powerpoint/2010/main" val="1225148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Cognitive load refers to the amount of mental effort required to interpret information. When resumes contain irregular formatting, unusual fonts, embedded graphics, or long text blocks, recruiters must expend more effort to locate the details required for evaluation. This increased cognitive load often leads to scanning errors, missed qualifications, or premature dismissal of an otherwise qualified candidate. Research in information processing demonstrates that structured layouts with clear hierarchy reduce ambiguity, enabling readers to process content more accurately and efficiently. For resumes, this means job titles should be easy to identify, dates must follow consistent patterns, and bullet points should convey information in succinct, parallel structures. Entry-level job seekers particularly benefit from reducing cognitive load because they often rely on transferable skills rather than extensive experience; if these skills are difficult to find, the resume may not effectively communicate potential. Additionally, clarity supports more equitable evaluation by reducing the influence of subjective interpretation. A well-structured resume places the focus on qualifications rather than design complexity and helps employers compare candidates more consistently. By understanding the relationship between clarity, structure, and cognitive load, applicants can make intentional formatting choices that support quick, accurate assessment.</a:t>
            </a:r>
          </a:p>
        </p:txBody>
      </p:sp>
      <p:sp>
        <p:nvSpPr>
          <p:cNvPr id="4" name="Slide Number Placeholder 3"/>
          <p:cNvSpPr>
            <a:spLocks noGrp="1"/>
          </p:cNvSpPr>
          <p:nvPr>
            <p:ph type="sldNum" sz="quarter" idx="5"/>
          </p:nvPr>
        </p:nvSpPr>
        <p:spPr/>
        <p:txBody>
          <a:bodyPr/>
          <a:lstStyle/>
          <a:p>
            <a:fld id="{25997711-2C3A-45C9-9A23-07E2A306852E}" type="slidenum">
              <a:t>5</a:t>
            </a:fld>
            <a:endParaRPr lang="en-US"/>
          </a:p>
        </p:txBody>
      </p:sp>
    </p:spTree>
    <p:extLst>
      <p:ext uri="{BB962C8B-B14F-4D97-AF65-F5344CB8AC3E}">
        <p14:creationId xmlns:p14="http://schemas.microsoft.com/office/powerpoint/2010/main" val="2776599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ATS Systems Read and Structure Resume Data, Common Parsing Failures, Alignment With Job Descriptions and Required Qualifications</a:t>
            </a:r>
          </a:p>
        </p:txBody>
      </p:sp>
      <p:sp>
        <p:nvSpPr>
          <p:cNvPr id="4" name="Slide Number Placeholder 3"/>
          <p:cNvSpPr>
            <a:spLocks noGrp="1"/>
          </p:cNvSpPr>
          <p:nvPr>
            <p:ph type="sldNum" sz="quarter" idx="5"/>
          </p:nvPr>
        </p:nvSpPr>
        <p:spPr/>
        <p:txBody>
          <a:bodyPr/>
          <a:lstStyle/>
          <a:p>
            <a:fld id="{25997711-2C3A-45C9-9A23-07E2A306852E}" type="slidenum">
              <a:t>6</a:t>
            </a:fld>
            <a:endParaRPr lang="en-US"/>
          </a:p>
        </p:txBody>
      </p:sp>
    </p:spTree>
    <p:extLst>
      <p:ext uri="{BB962C8B-B14F-4D97-AF65-F5344CB8AC3E}">
        <p14:creationId xmlns:p14="http://schemas.microsoft.com/office/powerpoint/2010/main" val="1203893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Applicant Tracking Systems (ATS) convert resume content into structured data by reading text from top to bottom and left to right, extracting fields such as job titles, employer names, dates, skills, and education. ATS platforms rely on pattern recognition rather than human judgment, meaning they look for standardized formatting to correctly categorize information. For example, if a job title is embedded inside a graphic or placed in an unconventional location, the system may fail to interpret it. ATS platforms also map extracted information to the job description’s required and preferred qualifications, prioritizing resumes whose content aligns with employer-defined criteria. Entry-level job seekers benefit from understanding these reading patterns because alignment between resume structure and ATS expectations increases the likelihood of accurate parsing. Using clear headers such as “Experience,” “Education,” and “Skills,” along with straightforward chronological formatting, ensures that essential details are captured. By designing resumes that support accurate extraction, candidates help prevent system-driven misinterpretation and improve downstream human review.</a:t>
            </a:r>
          </a:p>
        </p:txBody>
      </p:sp>
      <p:sp>
        <p:nvSpPr>
          <p:cNvPr id="4" name="Slide Number Placeholder 3"/>
          <p:cNvSpPr>
            <a:spLocks noGrp="1"/>
          </p:cNvSpPr>
          <p:nvPr>
            <p:ph type="sldNum" sz="quarter" idx="5"/>
          </p:nvPr>
        </p:nvSpPr>
        <p:spPr/>
        <p:txBody>
          <a:bodyPr/>
          <a:lstStyle/>
          <a:p>
            <a:fld id="{25997711-2C3A-45C9-9A23-07E2A306852E}" type="slidenum">
              <a:t>7</a:t>
            </a:fld>
            <a:endParaRPr lang="en-US"/>
          </a:p>
        </p:txBody>
      </p:sp>
    </p:spTree>
    <p:extLst>
      <p:ext uri="{BB962C8B-B14F-4D97-AF65-F5344CB8AC3E}">
        <p14:creationId xmlns:p14="http://schemas.microsoft.com/office/powerpoint/2010/main" val="3245334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Parsing failures occur when an ATS cannot correctly interpret resume information due to formatting decisions. Common issues include the use of text boxes, columns, tables, images, and decorative elements that disrupt the reading order. When ATS encounters these structures, it may skip content, merge unrelated fields, or mislabel information, reducing the resume’s accuracy score and its relevance match. Unconventional headers, such as replacing “Experience” with creative alternatives, can also cause the system to miscategorize sections, leading to missing or fragmented data. Additionally, placing critical details in headers or footers can prevent them from being read at all. For entry-level job seekers, avoiding these pitfalls is essential because early-career candidates often rely on clarity of transferable skills and education history; if these sections do not parse correctly, the system may not surface the candidate for recruiter review. Using standard formatting increases the predictability of parsing and improves the alignment between resume content and job qualification requirements.</a:t>
            </a:r>
          </a:p>
        </p:txBody>
      </p:sp>
      <p:sp>
        <p:nvSpPr>
          <p:cNvPr id="4" name="Slide Number Placeholder 3"/>
          <p:cNvSpPr>
            <a:spLocks noGrp="1"/>
          </p:cNvSpPr>
          <p:nvPr>
            <p:ph type="sldNum" sz="quarter" idx="5"/>
          </p:nvPr>
        </p:nvSpPr>
        <p:spPr/>
        <p:txBody>
          <a:bodyPr/>
          <a:lstStyle/>
          <a:p>
            <a:fld id="{25997711-2C3A-45C9-9A23-07E2A306852E}" type="slidenum">
              <a:t>8</a:t>
            </a:fld>
            <a:endParaRPr lang="en-US"/>
          </a:p>
        </p:txBody>
      </p:sp>
    </p:spTree>
    <p:extLst>
      <p:ext uri="{BB962C8B-B14F-4D97-AF65-F5344CB8AC3E}">
        <p14:creationId xmlns:p14="http://schemas.microsoft.com/office/powerpoint/2010/main" val="1813635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ATS platforms compare resume text with job descriptions to determine how closely an applicant’s qualifications match employer-defined criteria. This comparison often includes required skills, preferred competencies, certifications, software tools, and role-specific terminology. Alignment does not require keyword repetition but instead relies on accurately reflecting the terminology used in the job posting. For example, if a role requires “data entry,” using synonymous but different phrasing such as “information input” may reduce alignment because the ATS may not connect the two. Entry-level job seekers benefit from reviewing job descriptions carefully, identifying essential qualifications, and incorporating those terms where they truthfully apply. This strategy increases the likelihood that the resume will be flagged as relevant for human review. It also supports candidate evaluation by ensuring clarity about which skills are present and how they relate to role requirements. Alignment should always reflect genuine capability rather than keyword stuffing, which can harm readability and undermine credibility.</a:t>
            </a:r>
          </a:p>
        </p:txBody>
      </p:sp>
      <p:sp>
        <p:nvSpPr>
          <p:cNvPr id="4" name="Slide Number Placeholder 3"/>
          <p:cNvSpPr>
            <a:spLocks noGrp="1"/>
          </p:cNvSpPr>
          <p:nvPr>
            <p:ph type="sldNum" sz="quarter" idx="5"/>
          </p:nvPr>
        </p:nvSpPr>
        <p:spPr/>
        <p:txBody>
          <a:bodyPr/>
          <a:lstStyle/>
          <a:p>
            <a:fld id="{25997711-2C3A-45C9-9A23-07E2A306852E}" type="slidenum">
              <a:t>9</a:t>
            </a:fld>
            <a:endParaRPr lang="en-US"/>
          </a:p>
        </p:txBody>
      </p:sp>
    </p:spTree>
    <p:extLst>
      <p:ext uri="{BB962C8B-B14F-4D97-AF65-F5344CB8AC3E}">
        <p14:creationId xmlns:p14="http://schemas.microsoft.com/office/powerpoint/2010/main" val="4029175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Research on Recruiter Eye-Tracking and Resume Scanning, Importance of Job Titles, Employer Names, and Dates, Visual Hierarchy and Information Density</a:t>
            </a:r>
          </a:p>
        </p:txBody>
      </p:sp>
      <p:sp>
        <p:nvSpPr>
          <p:cNvPr id="4" name="Slide Number Placeholder 3"/>
          <p:cNvSpPr>
            <a:spLocks noGrp="1"/>
          </p:cNvSpPr>
          <p:nvPr>
            <p:ph type="sldNum" sz="quarter" idx="5"/>
          </p:nvPr>
        </p:nvSpPr>
        <p:spPr/>
        <p:txBody>
          <a:bodyPr/>
          <a:lstStyle/>
          <a:p>
            <a:fld id="{25997711-2C3A-45C9-9A23-07E2A306852E}" type="slidenum">
              <a:t>10</a:t>
            </a:fld>
            <a:endParaRPr lang="en-US"/>
          </a:p>
        </p:txBody>
      </p:sp>
    </p:spTree>
    <p:extLst>
      <p:ext uri="{BB962C8B-B14F-4D97-AF65-F5344CB8AC3E}">
        <p14:creationId xmlns:p14="http://schemas.microsoft.com/office/powerpoint/2010/main" val="823026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Eye-tracking studies consistently demonstrate that recruiters scan resumes following predictable visual patterns that prioritize job titles, employer names, dates, and section headings. These studies reveal that resumes presented with clear hierarchy and consistent formatting allow recruiters to extract critical information more efficiently. Conversely, dense text blocks and inconsistent layouts slow down scanning, increase errors, and lead to missed information. Eye-tracking evidence also shows that recruiters rarely read resumes linearly; instead, they focus on anchor points that help them determine whether a candidate meets minimum qualifications. Entry-level job seekers benefit from designing resumes that match this scanning behavior by using bolded job titles, consistent spacing, and clean section divisions. Structuring content to support natural reading patterns increases the probability that essential qualifications will be seen quickly, reducing the risk of early dismissal.</a:t>
            </a:r>
          </a:p>
        </p:txBody>
      </p:sp>
      <p:sp>
        <p:nvSpPr>
          <p:cNvPr id="4" name="Slide Number Placeholder 3"/>
          <p:cNvSpPr>
            <a:spLocks noGrp="1"/>
          </p:cNvSpPr>
          <p:nvPr>
            <p:ph type="sldNum" sz="quarter" idx="5"/>
          </p:nvPr>
        </p:nvSpPr>
        <p:spPr/>
        <p:txBody>
          <a:bodyPr/>
          <a:lstStyle/>
          <a:p>
            <a:fld id="{25997711-2C3A-45C9-9A23-07E2A306852E}" type="slidenum">
              <a:t>11</a:t>
            </a:fld>
            <a:endParaRPr lang="en-US"/>
          </a:p>
        </p:txBody>
      </p:sp>
    </p:spTree>
    <p:extLst>
      <p:ext uri="{BB962C8B-B14F-4D97-AF65-F5344CB8AC3E}">
        <p14:creationId xmlns:p14="http://schemas.microsoft.com/office/powerpoint/2010/main" val="1763475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Job titles, employer names, and dates serve as the primary anchors recruiters use to evaluate career progression and role relevance. These elements allow screeners to assess experience level, determine continuity of employment, and place accomplishments in context. When these details are difficult to locate—due to inconsistent formatting, creative layouts, or unconventional placement—recruiters may struggle to interpret the applicant’s background accurately. Standardizing these elements across all positions helps reduce confusion, enabling faster and more reliable evaluation. For entry-level applicants, clarity in titles and dates is especially important because early-career experience may include internships, part‑time work, or volunteer roles that require clear contextual framing. Ensuring these elements are consistently formatted across all entries supports better interpretation and helps recruiters understand the applicant’s foundation of skills.</a:t>
            </a:r>
          </a:p>
        </p:txBody>
      </p:sp>
      <p:sp>
        <p:nvSpPr>
          <p:cNvPr id="4" name="Slide Number Placeholder 3"/>
          <p:cNvSpPr>
            <a:spLocks noGrp="1"/>
          </p:cNvSpPr>
          <p:nvPr>
            <p:ph type="sldNum" sz="quarter" idx="5"/>
          </p:nvPr>
        </p:nvSpPr>
        <p:spPr/>
        <p:txBody>
          <a:bodyPr/>
          <a:lstStyle/>
          <a:p>
            <a:fld id="{25997711-2C3A-45C9-9A23-07E2A306852E}" type="slidenum">
              <a:t>12</a:t>
            </a:fld>
            <a:endParaRPr lang="en-US"/>
          </a:p>
        </p:txBody>
      </p:sp>
    </p:spTree>
    <p:extLst>
      <p:ext uri="{BB962C8B-B14F-4D97-AF65-F5344CB8AC3E}">
        <p14:creationId xmlns:p14="http://schemas.microsoft.com/office/powerpoint/2010/main" val="284853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Visual hierarchy guides the reader’s eye through a resume by indicating which information is most important and how different elements relate to one another. Effective hierarchy relies on consistent use of typography, spacing, and formatting to create a clear reading flow. When information density is too high—such as long paragraphs, overly detailed bullet points, or crowded layouts—recruiters must expend additional effort to interpret the content, reducing retention and slowing decision‑making. For entry-level job seekers, optimizing information density ensures that transferable skills and measurable outcomes are easy to see. Visual hierarchy also supports equitable evaluation by minimizing ambiguity; recruiters do not need to infer meaning from unclear formatting. Prioritizing readability through clean spacing, restrained use of bolding, and parallel bullet structures strengthens the overall effectiveness of the resume and supports faster, more accurate assessment.</a:t>
            </a:r>
          </a:p>
        </p:txBody>
      </p:sp>
      <p:sp>
        <p:nvSpPr>
          <p:cNvPr id="4" name="Slide Number Placeholder 3"/>
          <p:cNvSpPr>
            <a:spLocks noGrp="1"/>
          </p:cNvSpPr>
          <p:nvPr>
            <p:ph type="sldNum" sz="quarter" idx="5"/>
          </p:nvPr>
        </p:nvSpPr>
        <p:spPr/>
        <p:txBody>
          <a:bodyPr/>
          <a:lstStyle/>
          <a:p>
            <a:fld id="{25997711-2C3A-45C9-9A23-07E2A306852E}" type="slidenum">
              <a:t>13</a:t>
            </a:fld>
            <a:endParaRPr lang="en-US"/>
          </a:p>
        </p:txBody>
      </p:sp>
    </p:spTree>
    <p:extLst>
      <p:ext uri="{BB962C8B-B14F-4D97-AF65-F5344CB8AC3E}">
        <p14:creationId xmlns:p14="http://schemas.microsoft.com/office/powerpoint/2010/main" val="595899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on Quantified Achievements in Hiring Decisions, Difference Between Task-Based Bullets and Results-Based Bullets, Examples of Transforming Weak Bullets Into Measurable Impact Statements</a:t>
            </a:r>
          </a:p>
        </p:txBody>
      </p:sp>
      <p:sp>
        <p:nvSpPr>
          <p:cNvPr id="4" name="Slide Number Placeholder 3"/>
          <p:cNvSpPr>
            <a:spLocks noGrp="1"/>
          </p:cNvSpPr>
          <p:nvPr>
            <p:ph type="sldNum" sz="quarter" idx="5"/>
          </p:nvPr>
        </p:nvSpPr>
        <p:spPr/>
        <p:txBody>
          <a:bodyPr/>
          <a:lstStyle/>
          <a:p>
            <a:fld id="{25997711-2C3A-45C9-9A23-07E2A306852E}" type="slidenum">
              <a:t>14</a:t>
            </a:fld>
            <a:endParaRPr lang="en-US"/>
          </a:p>
        </p:txBody>
      </p:sp>
    </p:spTree>
    <p:extLst>
      <p:ext uri="{BB962C8B-B14F-4D97-AF65-F5344CB8AC3E}">
        <p14:creationId xmlns:p14="http://schemas.microsoft.com/office/powerpoint/2010/main" val="1835870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 on resume effectiveness shows that quantified achievements significantly improve recruiter comprehension and evaluation accuracy. Metrics such as volume handled, efficiency improvements, revenue impact, or accuracy gains enable recruiters to understand the scale of a candidate’s contributions without guessing. Quantified achievements also help differentiate candidates in high‑volume applicant pools, particularly for entry-level roles where responsibilities may be similar across applicants. Including measurable outcomes provides concrete evidence of capability and supports more objective evaluation. For example, stating that a candidate “processed 50+ customer orders weekly with 98% accuracy” provides meaningful detail that demonstrates both productivity and quality, whereas a general statement such as “processed customer orders” leaves recruiters without enough information to gauge contribution. Emphasizing measurable results strengthens credibility and aligns with hiring practices that prioritize evidence-based evaluation over subjective impressions.</a:t>
            </a:r>
          </a:p>
        </p:txBody>
      </p:sp>
      <p:sp>
        <p:nvSpPr>
          <p:cNvPr id="4" name="Slide Number Placeholder 3"/>
          <p:cNvSpPr>
            <a:spLocks noGrp="1"/>
          </p:cNvSpPr>
          <p:nvPr>
            <p:ph type="sldNum" sz="quarter" idx="5"/>
          </p:nvPr>
        </p:nvSpPr>
        <p:spPr/>
        <p:txBody>
          <a:bodyPr/>
          <a:lstStyle/>
          <a:p>
            <a:fld id="{25997711-2C3A-45C9-9A23-07E2A306852E}" type="slidenum">
              <a:t>15</a:t>
            </a:fld>
            <a:endParaRPr lang="en-US"/>
          </a:p>
        </p:txBody>
      </p:sp>
    </p:spTree>
    <p:extLst>
      <p:ext uri="{BB962C8B-B14F-4D97-AF65-F5344CB8AC3E}">
        <p14:creationId xmlns:p14="http://schemas.microsoft.com/office/powerpoint/2010/main" val="106004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Task-based bullet points describe what a candidate did, while results-based bullet points describe the outcomes of those actions. Employers increasingly prefer results‑based statements because they provide clearer insight into performance, efficiency, and impact. For example, a task-based bullet such as “Assisted customers at front desk” lacks detail about scope or effectiveness, whereas a results-based bullet such as “Resolved 25–30 customer inquiries daily while maintaining 95% satisfaction scores” communicates measurable value. Entry-level job seekers sometimes assume they lack meaningful results; however, even early-career roles generate measurable outputs related to volume, accuracy, speed, or quality. Converting tasks into results-based statements requires identifying the purpose of the task, the outcome achieved, and the metric that best represents performance. This shift improves clarity, supports stronger alignment with job requirements, and provides recruiters with evaluative information that facilitates accurate comparison.</a:t>
            </a:r>
          </a:p>
        </p:txBody>
      </p:sp>
      <p:sp>
        <p:nvSpPr>
          <p:cNvPr id="4" name="Slide Number Placeholder 3"/>
          <p:cNvSpPr>
            <a:spLocks noGrp="1"/>
          </p:cNvSpPr>
          <p:nvPr>
            <p:ph type="sldNum" sz="quarter" idx="5"/>
          </p:nvPr>
        </p:nvSpPr>
        <p:spPr/>
        <p:txBody>
          <a:bodyPr/>
          <a:lstStyle/>
          <a:p>
            <a:fld id="{25997711-2C3A-45C9-9A23-07E2A306852E}" type="slidenum">
              <a:t>16</a:t>
            </a:fld>
            <a:endParaRPr lang="en-US"/>
          </a:p>
        </p:txBody>
      </p:sp>
    </p:spTree>
    <p:extLst>
      <p:ext uri="{BB962C8B-B14F-4D97-AF65-F5344CB8AC3E}">
        <p14:creationId xmlns:p14="http://schemas.microsoft.com/office/powerpoint/2010/main" val="1712546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Transforming weak bullet points into measurable statements involves clearly defining the action taken, the context in which it occurred, and the outcome achieved. For instance, a weak bullet such as “Helped organize files” can be strengthened by adding scale and impact: “Organized and digitized 300+ records to improve retrieval time and reduce processing delays.” Another example might convert “Worked with team members on projects” into “Collaborated with a five‑person team to complete weekly project deliverables, contributing to a 20% reduction in turnaround time.” These transformations provide tangible evidence of performance and eliminate ambiguity. Entry-level job seekers can apply this approach by reviewing each bullet for clarity, identifying measurable outcomes, and specifying how their work supported broader goals. Incorporating metrics whenever possible ensures that recruiters can quickly understand the significance of each contribution and evaluate the candidate more accurately.</a:t>
            </a:r>
          </a:p>
        </p:txBody>
      </p:sp>
      <p:sp>
        <p:nvSpPr>
          <p:cNvPr id="4" name="Slide Number Placeholder 3"/>
          <p:cNvSpPr>
            <a:spLocks noGrp="1"/>
          </p:cNvSpPr>
          <p:nvPr>
            <p:ph type="sldNum" sz="quarter" idx="5"/>
          </p:nvPr>
        </p:nvSpPr>
        <p:spPr/>
        <p:txBody>
          <a:bodyPr/>
          <a:lstStyle/>
          <a:p>
            <a:fld id="{25997711-2C3A-45C9-9A23-07E2A306852E}" type="slidenum">
              <a:t>17</a:t>
            </a:fld>
            <a:endParaRPr lang="en-US"/>
          </a:p>
        </p:txBody>
      </p:sp>
    </p:spTree>
    <p:extLst>
      <p:ext uri="{BB962C8B-B14F-4D97-AF65-F5344CB8AC3E}">
        <p14:creationId xmlns:p14="http://schemas.microsoft.com/office/powerpoint/2010/main" val="1677912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to Analyze a Job Description, Identifying Required vs. Preferred Qualifications, Keyword Alignment Without Keyword Stuffing</a:t>
            </a:r>
          </a:p>
        </p:txBody>
      </p:sp>
      <p:sp>
        <p:nvSpPr>
          <p:cNvPr id="4" name="Slide Number Placeholder 3"/>
          <p:cNvSpPr>
            <a:spLocks noGrp="1"/>
          </p:cNvSpPr>
          <p:nvPr>
            <p:ph type="sldNum" sz="quarter" idx="5"/>
          </p:nvPr>
        </p:nvSpPr>
        <p:spPr/>
        <p:txBody>
          <a:bodyPr/>
          <a:lstStyle/>
          <a:p>
            <a:fld id="{25997711-2C3A-45C9-9A23-07E2A306852E}" type="slidenum">
              <a:t>18</a:t>
            </a:fld>
            <a:endParaRPr lang="en-US"/>
          </a:p>
        </p:txBody>
      </p:sp>
    </p:spTree>
    <p:extLst>
      <p:ext uri="{BB962C8B-B14F-4D97-AF65-F5344CB8AC3E}">
        <p14:creationId xmlns:p14="http://schemas.microsoft.com/office/powerpoint/2010/main" val="2735475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Analyzing a job description involves identifying the employer’s core priorities, distinguishing required qualifications from preferred ones, and recognizing the skills and outcomes emphasized throughout the posting. Job descriptions often include repeated language for key responsibilities, which signals the competencies most critical for success in the role. Entry-level job seekers should begin by highlighting these repeated terms and comparing them to their own experience to determine where alignment is strongest. Understanding the structure of job descriptions—such as sections on duties, required skills, preferred skills, and organizational context—helps candidates map their qualifications more strategically. This analysis ensures that the resume presents relevant evidence rather than generic experience. By focusing on employer‑defined needs, applicants improve both ATS alignment and recruiter comprehension.</a:t>
            </a:r>
          </a:p>
        </p:txBody>
      </p:sp>
      <p:sp>
        <p:nvSpPr>
          <p:cNvPr id="4" name="Slide Number Placeholder 3"/>
          <p:cNvSpPr>
            <a:spLocks noGrp="1"/>
          </p:cNvSpPr>
          <p:nvPr>
            <p:ph type="sldNum" sz="quarter" idx="5"/>
          </p:nvPr>
        </p:nvSpPr>
        <p:spPr/>
        <p:txBody>
          <a:bodyPr/>
          <a:lstStyle/>
          <a:p>
            <a:fld id="{25997711-2C3A-45C9-9A23-07E2A306852E}" type="slidenum">
              <a:t>19</a:t>
            </a:fld>
            <a:endParaRPr lang="en-US"/>
          </a:p>
        </p:txBody>
      </p:sp>
    </p:spTree>
    <p:extLst>
      <p:ext uri="{BB962C8B-B14F-4D97-AF65-F5344CB8AC3E}">
        <p14:creationId xmlns:p14="http://schemas.microsoft.com/office/powerpoint/2010/main" val="31399190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Required qualifications represent the minimum competencies an employer needs, while preferred qualifications indicate additional skills that strengthen candidacy but are not mandatory. Understanding this distinction helps job seekers prioritize which experiences to highlight. Required qualifications should be clearly represented through job titles, skills, and measurable outcomes, ensuring that both ATS and human reviewers can confirm eligibility quickly. Preferred qualifications, while not essential, offer opportunities to stand out when included authentically. For entry-level applicants, incorporating preferred skills can help compensate for limited experience by demonstrating additional capabilities. However, overemphasis on optional qualifications can dilute focus, so candidates must balance completeness with clarity. Differentiating these categories leads to stronger alignment and clearer communication of fit.</a:t>
            </a:r>
          </a:p>
        </p:txBody>
      </p:sp>
      <p:sp>
        <p:nvSpPr>
          <p:cNvPr id="4" name="Slide Number Placeholder 3"/>
          <p:cNvSpPr>
            <a:spLocks noGrp="1"/>
          </p:cNvSpPr>
          <p:nvPr>
            <p:ph type="sldNum" sz="quarter" idx="5"/>
          </p:nvPr>
        </p:nvSpPr>
        <p:spPr/>
        <p:txBody>
          <a:bodyPr/>
          <a:lstStyle/>
          <a:p>
            <a:fld id="{25997711-2C3A-45C9-9A23-07E2A306852E}" type="slidenum">
              <a:t>20</a:t>
            </a:fld>
            <a:endParaRPr lang="en-US"/>
          </a:p>
        </p:txBody>
      </p:sp>
    </p:spTree>
    <p:extLst>
      <p:ext uri="{BB962C8B-B14F-4D97-AF65-F5344CB8AC3E}">
        <p14:creationId xmlns:p14="http://schemas.microsoft.com/office/powerpoint/2010/main" val="918725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Effective keyword alignment requires using terminology from the job description naturally within bullet points, skills sections, and accomplishment statements. The goal is to reflect genuine experience rather than force keywords into the resume. Keyword stuffing—repeating terms excessively or including skills not actually possessed—undermines readability and credibility and may negatively affect ATS scoring that evaluates contextual relevance. Instead, candidates should incorporate keywords where they accurately describe responsibilities or achievements. For example, if the job description emphasizes “data accuracy,” a candidate might reference “maintained 98% data accuracy across weekly reports” in a relevant bullet point. This approach ensures alignment with employer terminology without compromising clarity or authenticity. For entry-level job seekers, thoughtful keyword alignment strengthens both system-level and human-level evaluation.</a:t>
            </a:r>
          </a:p>
        </p:txBody>
      </p:sp>
      <p:sp>
        <p:nvSpPr>
          <p:cNvPr id="4" name="Slide Number Placeholder 3"/>
          <p:cNvSpPr>
            <a:spLocks noGrp="1"/>
          </p:cNvSpPr>
          <p:nvPr>
            <p:ph type="sldNum" sz="quarter" idx="5"/>
          </p:nvPr>
        </p:nvSpPr>
        <p:spPr/>
        <p:txBody>
          <a:bodyPr/>
          <a:lstStyle/>
          <a:p>
            <a:fld id="{25997711-2C3A-45C9-9A23-07E2A306852E}" type="slidenum">
              <a:t>21</a:t>
            </a:fld>
            <a:endParaRPr lang="en-US"/>
          </a:p>
        </p:txBody>
      </p:sp>
    </p:spTree>
    <p:extLst>
      <p:ext uri="{BB962C8B-B14F-4D97-AF65-F5344CB8AC3E}">
        <p14:creationId xmlns:p14="http://schemas.microsoft.com/office/powerpoint/2010/main" val="9811509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Formatting Recommendations for ATS Compatibility, Structure Checklist, Impact and Alignment Checklist</a:t>
            </a:r>
          </a:p>
        </p:txBody>
      </p:sp>
      <p:sp>
        <p:nvSpPr>
          <p:cNvPr id="4" name="Slide Number Placeholder 3"/>
          <p:cNvSpPr>
            <a:spLocks noGrp="1"/>
          </p:cNvSpPr>
          <p:nvPr>
            <p:ph type="sldNum" sz="quarter" idx="5"/>
          </p:nvPr>
        </p:nvSpPr>
        <p:spPr/>
        <p:txBody>
          <a:bodyPr/>
          <a:lstStyle/>
          <a:p>
            <a:fld id="{25997711-2C3A-45C9-9A23-07E2A306852E}" type="slidenum">
              <a:t>22</a:t>
            </a:fld>
            <a:endParaRPr lang="en-US"/>
          </a:p>
        </p:txBody>
      </p:sp>
    </p:spTree>
    <p:extLst>
      <p:ext uri="{BB962C8B-B14F-4D97-AF65-F5344CB8AC3E}">
        <p14:creationId xmlns:p14="http://schemas.microsoft.com/office/powerpoint/2010/main" val="25816116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Formatting choices directly influence ATS compatibility. Standard fonts such as Arial or Calibri support reliable parsing, while decorative fonts may reduce legibility. Using .docx format is generally preferred unless the employer specifies PDF acceptance. Avoiding text boxes, images, tables, and multiple columns reduces the risk of parsing errors. Section headings should be standard and descriptive—such as “Experience,” “Education,” or “Skills”—ensuring that both ATS and recruiters interpret content correctly. Bullet points should be consistent in style and alignment, with spacing that supports readability. For entry-level job seekers, following these formatting guidelines prevents technical barriers that could prevent qualifications from being accurately read.</a:t>
            </a:r>
          </a:p>
        </p:txBody>
      </p:sp>
      <p:sp>
        <p:nvSpPr>
          <p:cNvPr id="4" name="Slide Number Placeholder 3"/>
          <p:cNvSpPr>
            <a:spLocks noGrp="1"/>
          </p:cNvSpPr>
          <p:nvPr>
            <p:ph type="sldNum" sz="quarter" idx="5"/>
          </p:nvPr>
        </p:nvSpPr>
        <p:spPr/>
        <p:txBody>
          <a:bodyPr/>
          <a:lstStyle/>
          <a:p>
            <a:fld id="{25997711-2C3A-45C9-9A23-07E2A306852E}" type="slidenum">
              <a:t>23</a:t>
            </a:fld>
            <a:endParaRPr lang="en-US"/>
          </a:p>
        </p:txBody>
      </p:sp>
    </p:spTree>
    <p:extLst>
      <p:ext uri="{BB962C8B-B14F-4D97-AF65-F5344CB8AC3E}">
        <p14:creationId xmlns:p14="http://schemas.microsoft.com/office/powerpoint/2010/main" val="24817409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strong resume structure ensures that information is presented in a logical, predictable sequence that supports rapid interpretation. Key elements include consistent formatting across all work entries, parallel bullet construction, and clear section divisions. Chronological organization helps recruiters quickly understand employment history, while consistent date formatting prevents confusion. Maintaining predictable layout patterns also improves scanning efficiency by reducing the visual complexity of the document. Entry-level applicants benefit from structuring their resumes to highlight transferable skills, emphasize relevant experience, and present their qualifications in a manner aligned with employer expectations. Strong structure not only aids ATS interpretation but also supports clear human review.</a:t>
            </a:r>
          </a:p>
        </p:txBody>
      </p:sp>
      <p:sp>
        <p:nvSpPr>
          <p:cNvPr id="4" name="Slide Number Placeholder 3"/>
          <p:cNvSpPr>
            <a:spLocks noGrp="1"/>
          </p:cNvSpPr>
          <p:nvPr>
            <p:ph type="sldNum" sz="quarter" idx="5"/>
          </p:nvPr>
        </p:nvSpPr>
        <p:spPr/>
        <p:txBody>
          <a:bodyPr/>
          <a:lstStyle/>
          <a:p>
            <a:fld id="{25997711-2C3A-45C9-9A23-07E2A306852E}" type="slidenum">
              <a:t>24</a:t>
            </a:fld>
            <a:endParaRPr lang="en-US"/>
          </a:p>
        </p:txBody>
      </p:sp>
    </p:spTree>
    <p:extLst>
      <p:ext uri="{BB962C8B-B14F-4D97-AF65-F5344CB8AC3E}">
        <p14:creationId xmlns:p14="http://schemas.microsoft.com/office/powerpoint/2010/main" val="24200264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Impact- and alignment-focused reviews help ensure that each bullet point communicates measurable contributions and relevance to the job description. An effective impact checklist examines whether each statement reflects scale, efficiency, accuracy, or improvement. The alignment checklist verifies that required qualifications are clearly demonstrated, preferred skills are incorporated appropriately, and terminology reflects employer language without unnecessary repetition. Entry-level job seekers should regularly assess whether their resume communicates outcomes rather than tasks, provides evidence of capability, and clearly aligns experience with job requirements. This approach strengthens competitive positioning in structured hiring systems where clarity and relevance drive evaluation.</a:t>
            </a:r>
          </a:p>
        </p:txBody>
      </p:sp>
      <p:sp>
        <p:nvSpPr>
          <p:cNvPr id="4" name="Slide Number Placeholder 3"/>
          <p:cNvSpPr>
            <a:spLocks noGrp="1"/>
          </p:cNvSpPr>
          <p:nvPr>
            <p:ph type="sldNum" sz="quarter" idx="5"/>
          </p:nvPr>
        </p:nvSpPr>
        <p:spPr/>
        <p:txBody>
          <a:bodyPr/>
          <a:lstStyle/>
          <a:p>
            <a:fld id="{25997711-2C3A-45C9-9A23-07E2A306852E}" type="slidenum">
              <a:t>25</a:t>
            </a:fld>
            <a:endParaRPr lang="en-US"/>
          </a:p>
        </p:txBody>
      </p:sp>
    </p:spTree>
    <p:extLst>
      <p:ext uri="{BB962C8B-B14F-4D97-AF65-F5344CB8AC3E}">
        <p14:creationId xmlns:p14="http://schemas.microsoft.com/office/powerpoint/2010/main" val="5014455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Designing a Resume That Competes in Structured Hiring Systems</a:t>
            </a:r>
          </a:p>
        </p:txBody>
      </p:sp>
      <p:sp>
        <p:nvSpPr>
          <p:cNvPr id="4" name="Slide Number Placeholder 3"/>
          <p:cNvSpPr>
            <a:spLocks noGrp="1"/>
          </p:cNvSpPr>
          <p:nvPr>
            <p:ph type="sldNum" sz="quarter" idx="5"/>
          </p:nvPr>
        </p:nvSpPr>
        <p:spPr/>
        <p:txBody>
          <a:bodyPr/>
          <a:lstStyle/>
          <a:p>
            <a:fld id="{25997711-2C3A-45C9-9A23-07E2A306852E}" type="slidenum">
              <a:t>26</a:t>
            </a:fld>
            <a:endParaRPr lang="en-US"/>
          </a:p>
        </p:txBody>
      </p:sp>
    </p:spTree>
    <p:extLst>
      <p:ext uri="{BB962C8B-B14F-4D97-AF65-F5344CB8AC3E}">
        <p14:creationId xmlns:p14="http://schemas.microsoft.com/office/powerpoint/2010/main" val="2291130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a resume that performs well in structured hiring systems requires attention to clarity, structure, measurable impact, and alignment with employer expectations. By understanding how recruiters scan documents, how ATS systems parse information, and how hiring processes evaluate candidate fit, job seekers can design resumes that communicate their qualifications efficiently and accurately. Emphasizing measurable results, maintaining consistent formatting, and aligning terminology with job descriptions all contribute to stronger evaluation outcomes. For entry-level applicants in particular, focusing on evidence-based presentation of skills and accomplishments enhances competitiveness in high-volume applicant pools. A resume that is easy to scan, system-readable, and results-oriented supports both technical and human review, increasing the likelihood of progressing to later stages of the hiring process.</a:t>
            </a:r>
          </a:p>
        </p:txBody>
      </p:sp>
      <p:sp>
        <p:nvSpPr>
          <p:cNvPr id="4" name="Slide Number Placeholder 3"/>
          <p:cNvSpPr>
            <a:spLocks noGrp="1"/>
          </p:cNvSpPr>
          <p:nvPr>
            <p:ph type="sldNum" sz="quarter" idx="5"/>
          </p:nvPr>
        </p:nvSpPr>
        <p:spPr/>
        <p:txBody>
          <a:bodyPr/>
          <a:lstStyle/>
          <a:p>
            <a:fld id="{25997711-2C3A-45C9-9A23-07E2A306852E}" type="slidenum">
              <a:t>27</a:t>
            </a:fld>
            <a:endParaRPr lang="en-US"/>
          </a:p>
        </p:txBody>
      </p:sp>
    </p:spTree>
    <p:extLst>
      <p:ext uri="{BB962C8B-B14F-4D97-AF65-F5344CB8AC3E}">
        <p14:creationId xmlns:p14="http://schemas.microsoft.com/office/powerpoint/2010/main" val="23458211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February 25, 2026</a:t>
            </a:fld>
            <a:endParaRPr lang="en-US"/>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February 25, 2026</a:t>
            </a:fld>
            <a:endParaRPr lang="en-US"/>
          </a:p>
        </p:txBody>
      </p:sp>
    </p:spTree>
    <p:extLst>
      <p:ext uri="{BB962C8B-B14F-4D97-AF65-F5344CB8AC3E}">
        <p14:creationId xmlns:p14="http://schemas.microsoft.com/office/powerpoint/2010/main" val="210065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February 25, 2026</a:t>
            </a:fld>
            <a:endParaRPr lang="en-US"/>
          </a:p>
        </p:txBody>
      </p:sp>
    </p:spTree>
    <p:extLst>
      <p:ext uri="{BB962C8B-B14F-4D97-AF65-F5344CB8AC3E}">
        <p14:creationId xmlns:p14="http://schemas.microsoft.com/office/powerpoint/2010/main" val="282536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February 25, 2026</a:t>
            </a:fld>
            <a:endParaRPr lang="en-US"/>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February 25, 2026</a:t>
            </a:fld>
            <a:endParaRPr lang="en-US"/>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February 25, 2026</a:t>
            </a:fld>
            <a:endParaRPr lang="en-US"/>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February 25, 2026</a:t>
            </a:fld>
            <a:endParaRPr lang="en-US"/>
          </a:p>
        </p:txBody>
      </p:sp>
    </p:spTree>
    <p:extLst>
      <p:ext uri="{BB962C8B-B14F-4D97-AF65-F5344CB8AC3E}">
        <p14:creationId xmlns:p14="http://schemas.microsoft.com/office/powerpoint/2010/main" val="120423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February 25, 2026</a:t>
            </a:fld>
            <a:endParaRPr lang="en-US"/>
          </a:p>
        </p:txBody>
      </p:sp>
    </p:spTree>
    <p:extLst>
      <p:ext uri="{BB962C8B-B14F-4D97-AF65-F5344CB8AC3E}">
        <p14:creationId xmlns:p14="http://schemas.microsoft.com/office/powerpoint/2010/main" val="2624309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February 25, 2026</a:t>
            </a:fld>
            <a:endParaRPr lang="en-US"/>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endParaRPr lang="en-US" dirty="0"/>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February 25, 2026</a:t>
            </a:fld>
            <a:endParaRPr lang="en-US"/>
          </a:p>
        </p:txBody>
      </p:sp>
    </p:spTree>
    <p:extLst>
      <p:ext uri="{BB962C8B-B14F-4D97-AF65-F5344CB8AC3E}">
        <p14:creationId xmlns:p14="http://schemas.microsoft.com/office/powerpoint/2010/main" val="4013705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February 25, 2026</a:t>
            </a:fld>
            <a:endParaRPr lang="en-US"/>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February 25, 2026</a:t>
            </a:fld>
            <a:endParaRPr lang="en-US"/>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February 25, 2026</a:t>
            </a:fld>
            <a:endParaRPr lang="en-US"/>
          </a:p>
        </p:txBody>
      </p:sp>
    </p:spTree>
    <p:extLst>
      <p:ext uri="{BB962C8B-B14F-4D97-AF65-F5344CB8AC3E}">
        <p14:creationId xmlns:p14="http://schemas.microsoft.com/office/powerpoint/2010/main" val="26090287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February 25, 2026</a:t>
            </a:fld>
            <a:endParaRPr lang="en-US"/>
          </a:p>
        </p:txBody>
      </p:sp>
    </p:spTree>
    <p:extLst>
      <p:ext uri="{BB962C8B-B14F-4D97-AF65-F5344CB8AC3E}">
        <p14:creationId xmlns:p14="http://schemas.microsoft.com/office/powerpoint/2010/main" val="1565620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February 25, 2026</a:t>
            </a:fld>
            <a:endParaRPr lang="en-US"/>
          </a:p>
        </p:txBody>
      </p:sp>
    </p:spTree>
    <p:extLst>
      <p:ext uri="{BB962C8B-B14F-4D97-AF65-F5344CB8AC3E}">
        <p14:creationId xmlns:p14="http://schemas.microsoft.com/office/powerpoint/2010/main" val="3019639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February 25, 2026</a:t>
            </a:fld>
            <a:endParaRPr lang="en-US"/>
          </a:p>
        </p:txBody>
      </p:sp>
    </p:spTree>
    <p:extLst>
      <p:ext uri="{BB962C8B-B14F-4D97-AF65-F5344CB8AC3E}">
        <p14:creationId xmlns:p14="http://schemas.microsoft.com/office/powerpoint/2010/main" val="3676040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February 25, 2026</a:t>
            </a:fld>
            <a:endParaRPr lang="en-US"/>
          </a:p>
        </p:txBody>
      </p:sp>
    </p:spTree>
    <p:extLst>
      <p:ext uri="{BB962C8B-B14F-4D97-AF65-F5344CB8AC3E}">
        <p14:creationId xmlns:p14="http://schemas.microsoft.com/office/powerpoint/2010/main" val="2366737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February 25, 2026</a:t>
            </a:fld>
            <a:endParaRPr lang="en-US"/>
          </a:p>
        </p:txBody>
      </p:sp>
    </p:spTree>
    <p:extLst>
      <p:ext uri="{BB962C8B-B14F-4D97-AF65-F5344CB8AC3E}">
        <p14:creationId xmlns:p14="http://schemas.microsoft.com/office/powerpoint/2010/main" val="17257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February 25, 2026</a:t>
            </a:fld>
            <a:endParaRPr lang="en-US"/>
          </a:p>
        </p:txBody>
      </p:sp>
    </p:spTree>
    <p:extLst>
      <p:ext uri="{BB962C8B-B14F-4D97-AF65-F5344CB8AC3E}">
        <p14:creationId xmlns:p14="http://schemas.microsoft.com/office/powerpoint/2010/main" val="253430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February 25, 2026</a:t>
            </a:fld>
            <a:endParaRPr lang="en-US"/>
          </a:p>
        </p:txBody>
      </p:sp>
    </p:spTree>
    <p:extLst>
      <p:ext uri="{BB962C8B-B14F-4D97-AF65-F5344CB8AC3E}">
        <p14:creationId xmlns:p14="http://schemas.microsoft.com/office/powerpoint/2010/main" val="51917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February 25, 2026</a:t>
            </a:fld>
            <a:endParaRPr lang="en-US"/>
          </a:p>
        </p:txBody>
      </p:sp>
    </p:spTree>
    <p:extLst>
      <p:ext uri="{BB962C8B-B14F-4D97-AF65-F5344CB8AC3E}">
        <p14:creationId xmlns:p14="http://schemas.microsoft.com/office/powerpoint/2010/main" val="2610922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February 25, 2026</a:t>
            </a:fld>
            <a:endParaRPr lang="en-US"/>
          </a:p>
        </p:txBody>
      </p:sp>
    </p:spTree>
    <p:extLst>
      <p:ext uri="{BB962C8B-B14F-4D97-AF65-F5344CB8AC3E}">
        <p14:creationId xmlns:p14="http://schemas.microsoft.com/office/powerpoint/2010/main" val="2667466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February 25, 2026</a:t>
            </a:fld>
            <a:endParaRPr lang="en-US"/>
          </a:p>
        </p:txBody>
      </p:sp>
    </p:spTree>
    <p:extLst>
      <p:ext uri="{BB962C8B-B14F-4D97-AF65-F5344CB8AC3E}">
        <p14:creationId xmlns:p14="http://schemas.microsoft.com/office/powerpoint/2010/main" val="4119986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February 25, 2026</a:t>
            </a:fld>
            <a:endParaRPr lang="en-US"/>
          </a:p>
        </p:txBody>
      </p:sp>
    </p:spTree>
    <p:extLst>
      <p:ext uri="{BB962C8B-B14F-4D97-AF65-F5344CB8AC3E}">
        <p14:creationId xmlns:p14="http://schemas.microsoft.com/office/powerpoint/2010/main" val="1809744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February 25, 2026</a:t>
            </a:fld>
            <a:endParaRPr lang="en-US"/>
          </a:p>
        </p:txBody>
      </p:sp>
    </p:spTree>
    <p:extLst>
      <p:ext uri="{BB962C8B-B14F-4D97-AF65-F5344CB8AC3E}">
        <p14:creationId xmlns:p14="http://schemas.microsoft.com/office/powerpoint/2010/main" val="198833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February 25, 2026</a:t>
            </a:fld>
            <a:endParaRPr lang="en-US"/>
          </a:p>
        </p:txBody>
      </p:sp>
    </p:spTree>
    <p:extLst>
      <p:ext uri="{BB962C8B-B14F-4D97-AF65-F5344CB8AC3E}">
        <p14:creationId xmlns:p14="http://schemas.microsoft.com/office/powerpoint/2010/main" val="72853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February 25, 2026</a:t>
            </a:fld>
            <a:endParaRPr lang="en-US"/>
          </a:p>
        </p:txBody>
      </p:sp>
    </p:spTree>
    <p:extLst>
      <p:ext uri="{BB962C8B-B14F-4D97-AF65-F5344CB8AC3E}">
        <p14:creationId xmlns:p14="http://schemas.microsoft.com/office/powerpoint/2010/main" val="3982414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February 25, 2026</a:t>
            </a:fld>
            <a:endParaRPr lang="en-US"/>
          </a:p>
        </p:txBody>
      </p:sp>
    </p:spTree>
    <p:extLst>
      <p:ext uri="{BB962C8B-B14F-4D97-AF65-F5344CB8AC3E}">
        <p14:creationId xmlns:p14="http://schemas.microsoft.com/office/powerpoint/2010/main" val="3482342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February 25, 2026</a:t>
            </a:fld>
            <a:endParaRPr lang="en-US"/>
          </a:p>
        </p:txBody>
      </p:sp>
    </p:spTree>
    <p:extLst>
      <p:ext uri="{BB962C8B-B14F-4D97-AF65-F5344CB8AC3E}">
        <p14:creationId xmlns:p14="http://schemas.microsoft.com/office/powerpoint/2010/main" val="3451082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February 25, 2026</a:t>
            </a:fld>
            <a:endParaRPr lang="en-US"/>
          </a:p>
        </p:txBody>
      </p:sp>
    </p:spTree>
    <p:extLst>
      <p:ext uri="{BB962C8B-B14F-4D97-AF65-F5344CB8AC3E}">
        <p14:creationId xmlns:p14="http://schemas.microsoft.com/office/powerpoint/2010/main" val="4007767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endParaRPr lang="en-US" dirty="0"/>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February 25, 2026</a:t>
            </a:fld>
            <a:endParaRPr lang="en-US"/>
          </a:p>
        </p:txBody>
      </p:sp>
    </p:spTree>
    <p:extLst>
      <p:ext uri="{BB962C8B-B14F-4D97-AF65-F5344CB8AC3E}">
        <p14:creationId xmlns:p14="http://schemas.microsoft.com/office/powerpoint/2010/main" val="2766434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endParaRPr lang="en-US" dirty="0"/>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February 25, 2026</a:t>
            </a:fld>
            <a:endParaRPr lang="en-US"/>
          </a:p>
        </p:txBody>
      </p:sp>
    </p:spTree>
    <p:extLst>
      <p:ext uri="{BB962C8B-B14F-4D97-AF65-F5344CB8AC3E}">
        <p14:creationId xmlns:p14="http://schemas.microsoft.com/office/powerpoint/2010/main" val="977051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February 25, 2026</a:t>
            </a:fld>
            <a:endParaRPr lang="en-US"/>
          </a:p>
        </p:txBody>
      </p:sp>
    </p:spTree>
    <p:extLst>
      <p:ext uri="{BB962C8B-B14F-4D97-AF65-F5344CB8AC3E}">
        <p14:creationId xmlns:p14="http://schemas.microsoft.com/office/powerpoint/2010/main" val="3821228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February 25, 2026</a:t>
            </a:fld>
            <a:endParaRPr lang="en-US"/>
          </a:p>
        </p:txBody>
      </p:sp>
    </p:spTree>
    <p:extLst>
      <p:ext uri="{BB962C8B-B14F-4D97-AF65-F5344CB8AC3E}">
        <p14:creationId xmlns:p14="http://schemas.microsoft.com/office/powerpoint/2010/main" val="3705582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February 25, 2026</a:t>
            </a:fld>
            <a:endParaRPr lang="en-US"/>
          </a:p>
        </p:txBody>
      </p:sp>
    </p:spTree>
    <p:extLst>
      <p:ext uri="{BB962C8B-B14F-4D97-AF65-F5344CB8AC3E}">
        <p14:creationId xmlns:p14="http://schemas.microsoft.com/office/powerpoint/2010/main" val="16150291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endParaRPr lang="en-US" dirty="0"/>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February 25, 2026</a:t>
            </a:fld>
            <a:endParaRPr lang="en-US"/>
          </a:p>
        </p:txBody>
      </p:sp>
    </p:spTree>
    <p:extLst>
      <p:ext uri="{BB962C8B-B14F-4D97-AF65-F5344CB8AC3E}">
        <p14:creationId xmlns:p14="http://schemas.microsoft.com/office/powerpoint/2010/main" val="123274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February 25, 2026</a:t>
            </a:fld>
            <a:endParaRPr lang="en-US"/>
          </a:p>
        </p:txBody>
      </p:sp>
    </p:spTree>
    <p:extLst>
      <p:ext uri="{BB962C8B-B14F-4D97-AF65-F5344CB8AC3E}">
        <p14:creationId xmlns:p14="http://schemas.microsoft.com/office/powerpoint/2010/main" val="280954006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dirty="0"/>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February 25, 2026</a:t>
            </a:fld>
            <a:endParaRPr lang="en-US"/>
          </a:p>
        </p:txBody>
      </p:sp>
    </p:spTree>
    <p:extLst>
      <p:ext uri="{BB962C8B-B14F-4D97-AF65-F5344CB8AC3E}">
        <p14:creationId xmlns:p14="http://schemas.microsoft.com/office/powerpoint/2010/main" val="26965471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February 25, 2026</a:t>
            </a:fld>
            <a:endParaRPr lang="en-US"/>
          </a:p>
        </p:txBody>
      </p:sp>
    </p:spTree>
    <p:extLst>
      <p:ext uri="{BB962C8B-B14F-4D97-AF65-F5344CB8AC3E}">
        <p14:creationId xmlns:p14="http://schemas.microsoft.com/office/powerpoint/2010/main" val="612284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February 25, 2026</a:t>
            </a:fld>
            <a:endParaRPr lang="en-US"/>
          </a:p>
        </p:txBody>
      </p:sp>
    </p:spTree>
    <p:extLst>
      <p:ext uri="{BB962C8B-B14F-4D97-AF65-F5344CB8AC3E}">
        <p14:creationId xmlns:p14="http://schemas.microsoft.com/office/powerpoint/2010/main" val="2174225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February 25, 2026</a:t>
            </a:fld>
            <a:endParaRPr lang="en-US"/>
          </a:p>
        </p:txBody>
      </p:sp>
    </p:spTree>
    <p:extLst>
      <p:ext uri="{BB962C8B-B14F-4D97-AF65-F5344CB8AC3E}">
        <p14:creationId xmlns:p14="http://schemas.microsoft.com/office/powerpoint/2010/main" val="54705388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February 25, 2026</a:t>
            </a:fld>
            <a:endParaRPr lang="en-US"/>
          </a:p>
        </p:txBody>
      </p:sp>
    </p:spTree>
    <p:extLst>
      <p:ext uri="{BB962C8B-B14F-4D97-AF65-F5344CB8AC3E}">
        <p14:creationId xmlns:p14="http://schemas.microsoft.com/office/powerpoint/2010/main" val="35703575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dirty="0"/>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February 25, 2026</a:t>
            </a:fld>
            <a:endParaRPr lang="en-US"/>
          </a:p>
        </p:txBody>
      </p:sp>
    </p:spTree>
    <p:extLst>
      <p:ext uri="{BB962C8B-B14F-4D97-AF65-F5344CB8AC3E}">
        <p14:creationId xmlns:p14="http://schemas.microsoft.com/office/powerpoint/2010/main" val="318557736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dirty="0"/>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February 25, 2026</a:t>
            </a:fld>
            <a:endParaRPr lang="en-US"/>
          </a:p>
        </p:txBody>
      </p:sp>
    </p:spTree>
    <p:extLst>
      <p:ext uri="{BB962C8B-B14F-4D97-AF65-F5344CB8AC3E}">
        <p14:creationId xmlns:p14="http://schemas.microsoft.com/office/powerpoint/2010/main" val="2893874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February 25,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87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February 25,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6138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February 25, 2026</a:t>
            </a:fld>
            <a:endParaRPr lang="en-US"/>
          </a:p>
        </p:txBody>
      </p:sp>
    </p:spTree>
    <p:extLst>
      <p:ext uri="{BB962C8B-B14F-4D97-AF65-F5344CB8AC3E}">
        <p14:creationId xmlns:p14="http://schemas.microsoft.com/office/powerpoint/2010/main" val="425028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February 25, 2026</a:t>
            </a:fld>
            <a:endParaRPr lang="en-US"/>
          </a:p>
        </p:txBody>
      </p:sp>
    </p:spTree>
    <p:extLst>
      <p:ext uri="{BB962C8B-B14F-4D97-AF65-F5344CB8AC3E}">
        <p14:creationId xmlns:p14="http://schemas.microsoft.com/office/powerpoint/2010/main" val="7560360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February 25, 2026</a:t>
            </a:fld>
            <a:endParaRPr lang="en-US"/>
          </a:p>
        </p:txBody>
      </p:sp>
    </p:spTree>
    <p:extLst>
      <p:ext uri="{BB962C8B-B14F-4D97-AF65-F5344CB8AC3E}">
        <p14:creationId xmlns:p14="http://schemas.microsoft.com/office/powerpoint/2010/main" val="2048023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February 25, 2026</a:t>
            </a:fld>
            <a:endParaRPr lang="en-US"/>
          </a:p>
        </p:txBody>
      </p:sp>
    </p:spTree>
    <p:extLst>
      <p:ext uri="{BB962C8B-B14F-4D97-AF65-F5344CB8AC3E}">
        <p14:creationId xmlns:p14="http://schemas.microsoft.com/office/powerpoint/2010/main" val="459542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February 25, 2026</a:t>
            </a:fld>
            <a:endParaRPr lang="en-US"/>
          </a:p>
        </p:txBody>
      </p:sp>
    </p:spTree>
    <p:extLst>
      <p:ext uri="{BB962C8B-B14F-4D97-AF65-F5344CB8AC3E}">
        <p14:creationId xmlns:p14="http://schemas.microsoft.com/office/powerpoint/2010/main" val="42620736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February 25, 2026</a:t>
            </a:fld>
            <a:endParaRPr lang="en-US"/>
          </a:p>
        </p:txBody>
      </p:sp>
    </p:spTree>
    <p:extLst>
      <p:ext uri="{BB962C8B-B14F-4D97-AF65-F5344CB8AC3E}">
        <p14:creationId xmlns:p14="http://schemas.microsoft.com/office/powerpoint/2010/main" val="12329197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February 25, 2026</a:t>
            </a:fld>
            <a:endParaRPr lang="en-US"/>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February 25, 2026</a:t>
            </a:fld>
            <a:endParaRPr lang="en-US"/>
          </a:p>
        </p:txBody>
      </p:sp>
    </p:spTree>
    <p:extLst>
      <p:ext uri="{BB962C8B-B14F-4D97-AF65-F5344CB8AC3E}">
        <p14:creationId xmlns:p14="http://schemas.microsoft.com/office/powerpoint/2010/main" val="35399855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February 25, 2026</a:t>
            </a:fld>
            <a:endParaRPr lang="en-US"/>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73" r:id="rId1"/>
    <p:sldLayoutId id="2147483882" r:id="rId2"/>
    <p:sldLayoutId id="2147483871" r:id="rId3"/>
    <p:sldLayoutId id="2147483872" r:id="rId4"/>
    <p:sldLayoutId id="2147483874" r:id="rId5"/>
    <p:sldLayoutId id="2147483867" r:id="rId6"/>
    <p:sldLayoutId id="2147483868" r:id="rId7"/>
    <p:sldLayoutId id="2147483869" r:id="rId8"/>
    <p:sldLayoutId id="2147483870" r:id="rId9"/>
    <p:sldLayoutId id="2147483875" r:id="rId10"/>
    <p:sldLayoutId id="2147483877" r:id="rId11"/>
    <p:sldLayoutId id="2147483878" r:id="rId12"/>
    <p:sldLayoutId id="2147483879"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28" r:id="rId37"/>
    <p:sldLayoutId id="2147483929" r:id="rId38"/>
    <p:sldLayoutId id="2147483930" r:id="rId39"/>
    <p:sldLayoutId id="2147483909" r:id="rId40"/>
    <p:sldLayoutId id="2147483910" r:id="rId41"/>
    <p:sldLayoutId id="2147483911" r:id="rId42"/>
    <p:sldLayoutId id="2147483924" r:id="rId43"/>
    <p:sldLayoutId id="2147483925" r:id="rId44"/>
    <p:sldLayoutId id="2147483926" r:id="rId45"/>
    <p:sldLayoutId id="2147483927" r:id="rId46"/>
    <p:sldLayoutId id="2147483916" r:id="rId47"/>
    <p:sldLayoutId id="2147483917" r:id="rId48"/>
    <p:sldLayoutId id="2147483918" r:id="rId49"/>
    <p:sldLayoutId id="2147483919" r:id="rId50"/>
    <p:sldLayoutId id="2147483920" r:id="rId51"/>
    <p:sldLayoutId id="2147483921" r:id="rId52"/>
    <p:sldLayoutId id="2147483922" r:id="rId53"/>
    <p:sldLayoutId id="2147483923"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1.xml"/><Relationship Id="rId1" Type="http://schemas.openxmlformats.org/officeDocument/2006/relationships/slideLayout" Target="../slideLayouts/slideLayout1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4.xml"/><Relationship Id="rId1" Type="http://schemas.openxmlformats.org/officeDocument/2006/relationships/slideLayout" Target="../slideLayouts/slideLayout1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5.xml"/><Relationship Id="rId1" Type="http://schemas.openxmlformats.org/officeDocument/2006/relationships/slideLayout" Target="../slideLayouts/slideLayout1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7.xml"/><Relationship Id="rId1" Type="http://schemas.openxmlformats.org/officeDocument/2006/relationships/slideLayout" Target="../slideLayouts/slideLayout19.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AA687-F8D0-6121-7D53-37D79C4E233F}"/>
              </a:ext>
            </a:extLst>
          </p:cNvPr>
          <p:cNvSpPr>
            <a:spLocks noGrp="1"/>
          </p:cNvSpPr>
          <p:nvPr>
            <p:ph type="ctrTitle"/>
          </p:nvPr>
        </p:nvSpPr>
        <p:spPr>
          <a:xfrm>
            <a:off x="1088136" y="2286000"/>
            <a:ext cx="3941064" cy="1353312"/>
          </a:xfrm>
        </p:spPr>
        <p:txBody>
          <a:bodyPr anchor="b">
            <a:normAutofit/>
          </a:bodyPr>
          <a:lstStyle/>
          <a:p>
            <a:pPr>
              <a:lnSpc>
                <a:spcPct val="110000"/>
              </a:lnSpc>
            </a:pPr>
            <a:r>
              <a:rPr lang="en-US" sz="1500"/>
              <a:t>Week 2 — Building a Resume That Survives the Filter: Structure, Measurable Impact, and ATS Alignment</a:t>
            </a:r>
          </a:p>
        </p:txBody>
      </p:sp>
      <p:sp>
        <p:nvSpPr>
          <p:cNvPr id="3" name="Subtitle 2">
            <a:extLst>
              <a:ext uri="{FF2B5EF4-FFF2-40B4-BE49-F238E27FC236}">
                <a16:creationId xmlns:a16="http://schemas.microsoft.com/office/drawing/2014/main" id="{4B478FC1-BA9C-F204-4DC7-C0E7D62A4E47}"/>
              </a:ext>
            </a:extLst>
          </p:cNvPr>
          <p:cNvSpPr>
            <a:spLocks noGrp="1"/>
          </p:cNvSpPr>
          <p:nvPr>
            <p:ph type="subTitle" idx="1"/>
          </p:nvPr>
        </p:nvSpPr>
        <p:spPr>
          <a:xfrm>
            <a:off x="1527048" y="4251960"/>
            <a:ext cx="3044952" cy="877824"/>
          </a:xfrm>
        </p:spPr>
        <p:txBody>
          <a:bodyPr anchor="t">
            <a:normAutofit/>
          </a:bodyPr>
          <a:lstStyle/>
          <a:p>
            <a:pPr>
              <a:lnSpc>
                <a:spcPct val="120000"/>
              </a:lnSpc>
            </a:pPr>
            <a:r>
              <a:rPr lang="en-US" sz="1500"/>
              <a:t>Crafting resumes that impress recruiters and software systems</a:t>
            </a:r>
          </a:p>
        </p:txBody>
      </p:sp>
      <p:pic>
        <p:nvPicPr>
          <p:cNvPr id="5" name="Picture Placeholder 4" descr="Stock photograph of job resume inside orange folder.">
            <a:extLst>
              <a:ext uri="{FF2B5EF4-FFF2-40B4-BE49-F238E27FC236}">
                <a16:creationId xmlns:a16="http://schemas.microsoft.com/office/drawing/2014/main" id="{6CBCE537-1EFA-4B9B-A572-621C53E37A18}"/>
              </a:ext>
            </a:extLst>
          </p:cNvPr>
          <p:cNvPicPr>
            <a:picLocks noGrp="1" noChangeAspect="1"/>
          </p:cNvPicPr>
          <p:nvPr>
            <p:ph type="pic" sz="quarter" idx="13"/>
          </p:nvPr>
        </p:nvPicPr>
        <p:blipFill>
          <a:blip r:embed="rId3"/>
          <a:srcRect l="20319" r="20317" b="-1"/>
          <a:stretch>
            <a:fillRect/>
          </a:stretch>
        </p:blipFill>
        <p:spPr>
          <a:xfrm>
            <a:off x="6099048" y="10"/>
            <a:ext cx="6099048" cy="6857990"/>
          </a:xfrm>
          <a:blipFill>
            <a:blip r:embed="rId4">
              <a:alphaModFix amt="80000"/>
            </a:blip>
            <a:stretch>
              <a:fillRect/>
            </a:stretch>
          </a:blipFill>
        </p:spPr>
      </p:pic>
    </p:spTree>
    <p:extLst>
      <p:ext uri="{BB962C8B-B14F-4D97-AF65-F5344CB8AC3E}">
        <p14:creationId xmlns:p14="http://schemas.microsoft.com/office/powerpoint/2010/main" val="369183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E4156-42D0-D25E-AA29-4385CDE17242}"/>
              </a:ext>
            </a:extLst>
          </p:cNvPr>
          <p:cNvSpPr>
            <a:spLocks noGrp="1"/>
          </p:cNvSpPr>
          <p:nvPr>
            <p:ph type="ctrTitle"/>
          </p:nvPr>
        </p:nvSpPr>
        <p:spPr>
          <a:xfrm>
            <a:off x="992091" y="2514602"/>
            <a:ext cx="6812280" cy="3194302"/>
          </a:xfrm>
        </p:spPr>
        <p:txBody>
          <a:bodyPr anchor="b">
            <a:normAutofit/>
          </a:bodyPr>
          <a:lstStyle/>
          <a:p>
            <a:r>
              <a:rPr lang="en-US"/>
              <a:t>The Resume as a Signal</a:t>
            </a:r>
          </a:p>
        </p:txBody>
      </p:sp>
    </p:spTree>
    <p:extLst>
      <p:ext uri="{BB962C8B-B14F-4D97-AF65-F5344CB8AC3E}">
        <p14:creationId xmlns:p14="http://schemas.microsoft.com/office/powerpoint/2010/main" val="3302688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C761E-79B8-68C8-BC50-3B9A681EAB4E}"/>
              </a:ext>
            </a:extLst>
          </p:cNvPr>
          <p:cNvSpPr>
            <a:spLocks noGrp="1"/>
          </p:cNvSpPr>
          <p:nvPr>
            <p:ph type="title"/>
          </p:nvPr>
        </p:nvSpPr>
        <p:spPr>
          <a:xfrm>
            <a:off x="1124711" y="1042416"/>
            <a:ext cx="8778239" cy="859536"/>
          </a:xfrm>
        </p:spPr>
        <p:txBody>
          <a:bodyPr anchor="b">
            <a:normAutofit/>
          </a:bodyPr>
          <a:lstStyle/>
          <a:p>
            <a:pPr>
              <a:lnSpc>
                <a:spcPct val="110000"/>
              </a:lnSpc>
            </a:pPr>
            <a:r>
              <a:rPr lang="en-US" sz="2200"/>
              <a:t>How Resumes Function in High-Volume Hiring Environments</a:t>
            </a:r>
          </a:p>
        </p:txBody>
      </p:sp>
      <p:graphicFrame>
        <p:nvGraphicFramePr>
          <p:cNvPr id="7" name="Content Placeholder 2">
            <a:extLst>
              <a:ext uri="{FF2B5EF4-FFF2-40B4-BE49-F238E27FC236}">
                <a16:creationId xmlns:a16="http://schemas.microsoft.com/office/drawing/2014/main" id="{09A011DB-48E3-7FC9-98D9-FC0B989AD425}"/>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245053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0238F-9859-BD42-0020-AE9B12334199}"/>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How Recruiters Process Information Quickly</a:t>
            </a:r>
          </a:p>
        </p:txBody>
      </p:sp>
      <p:pic>
        <p:nvPicPr>
          <p:cNvPr id="5" name="Content Placeholder 4" descr="Digital technology vision exam eye test">
            <a:extLst>
              <a:ext uri="{FF2B5EF4-FFF2-40B4-BE49-F238E27FC236}">
                <a16:creationId xmlns:a16="http://schemas.microsoft.com/office/drawing/2014/main" id="{C577A196-7FC2-4324-8141-70CA803FE334}"/>
              </a:ext>
            </a:extLst>
          </p:cNvPr>
          <p:cNvPicPr>
            <a:picLocks noGrp="1" noChangeAspect="1"/>
          </p:cNvPicPr>
          <p:nvPr>
            <p:ph type="pic" sz="quarter" idx="18"/>
          </p:nvPr>
        </p:nvPicPr>
        <p:blipFill>
          <a:blip r:embed="rId3"/>
          <a:srcRect l="11987" r="21264"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2AE0E8A4-63CD-8F11-E55A-46851F7253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Rapid Resume Scanning</a:t>
            </a:r>
          </a:p>
          <a:p>
            <a:pPr marL="0" lvl="1" indent="0">
              <a:buFont typeface="Arial" panose="020B0604020202020204" pitchFamily="34" charset="0"/>
              <a:buNone/>
            </a:pPr>
            <a:r>
              <a:t>Recruiters scan resumes quickly, focusing first on job titles, companies, and dates to decide further reading.</a:t>
            </a:r>
            <a:endParaRPr lang="en-US"/>
          </a:p>
          <a:p>
            <a:pPr marL="0" indent="0">
              <a:spcBef>
                <a:spcPts val="2500"/>
              </a:spcBef>
              <a:buFont typeface="Arial" panose="020B0604020202020204" pitchFamily="34" charset="0"/>
              <a:buNone/>
            </a:pPr>
            <a:r>
              <a:rPr lang="en-US" b="1"/>
              <a:t>Importance of Structured Formatting</a:t>
            </a:r>
          </a:p>
          <a:p>
            <a:pPr marL="0" lvl="1" indent="0">
              <a:buFont typeface="Arial" panose="020B0604020202020204" pitchFamily="34" charset="0"/>
              <a:buNone/>
            </a:pPr>
            <a:r>
              <a:t>Consistent layout and predictable formatting reduce cognitive load and support efficient resume evaluation.</a:t>
            </a:r>
            <a:endParaRPr lang="en-US"/>
          </a:p>
          <a:p>
            <a:pPr marL="0" indent="0">
              <a:spcBef>
                <a:spcPts val="2500"/>
              </a:spcBef>
              <a:buFont typeface="Arial" panose="020B0604020202020204" pitchFamily="34" charset="0"/>
              <a:buNone/>
            </a:pPr>
            <a:r>
              <a:rPr lang="en-US" b="1"/>
              <a:t>Effective Use of Bullet Points</a:t>
            </a:r>
          </a:p>
          <a:p>
            <a:pPr marL="0" lvl="1" indent="0">
              <a:buFont typeface="Arial" panose="020B0604020202020204" pitchFamily="34" charset="0"/>
              <a:buNone/>
            </a:pPr>
            <a:r>
              <a:t>Bullet points that emphasize scope and results speed up understanding of applicant contributions.</a:t>
            </a:r>
            <a:endParaRPr lang="en-US"/>
          </a:p>
          <a:p>
            <a:pPr marL="0" indent="0">
              <a:spcBef>
                <a:spcPts val="2500"/>
              </a:spcBef>
              <a:buFont typeface="Arial" panose="020B0604020202020204" pitchFamily="34" charset="0"/>
              <a:buNone/>
            </a:pPr>
            <a:r>
              <a:rPr lang="en-US" b="1"/>
              <a:t>Entry-Level Resume Design</a:t>
            </a:r>
          </a:p>
          <a:p>
            <a:pPr marL="0" lvl="1" indent="0">
              <a:buFont typeface="Arial" panose="020B0604020202020204" pitchFamily="34" charset="0"/>
              <a:buNone/>
            </a:pPr>
            <a:r>
              <a:t>Highlight essential facts immediately and avoid long paragraphs or unconventional formats for better visibility.</a:t>
            </a:r>
            <a:endParaRPr lang="en-US"/>
          </a:p>
        </p:txBody>
      </p:sp>
    </p:spTree>
    <p:extLst>
      <p:ext uri="{BB962C8B-B14F-4D97-AF65-F5344CB8AC3E}">
        <p14:creationId xmlns:p14="http://schemas.microsoft.com/office/powerpoint/2010/main" val="452554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E2A6F-15B6-46A4-76DC-6B3B68BE17A4}"/>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Why Clarity and Structure Reduce Cognitive Load</a:t>
            </a:r>
          </a:p>
        </p:txBody>
      </p:sp>
      <p:pic>
        <p:nvPicPr>
          <p:cNvPr id="5" name="Content Placeholder 4" descr="Digital Brain with abstract binary data code">
            <a:extLst>
              <a:ext uri="{FF2B5EF4-FFF2-40B4-BE49-F238E27FC236}">
                <a16:creationId xmlns:a16="http://schemas.microsoft.com/office/drawing/2014/main" id="{653901FC-96A8-4461-B973-1471D0A70270}"/>
              </a:ext>
            </a:extLst>
          </p:cNvPr>
          <p:cNvPicPr>
            <a:picLocks noGrp="1" noChangeAspect="1"/>
          </p:cNvPicPr>
          <p:nvPr>
            <p:ph type="pic" sz="quarter" idx="18"/>
          </p:nvPr>
        </p:nvPicPr>
        <p:blipFill>
          <a:blip r:embed="rId3"/>
          <a:srcRect l="1470" r="23533" b="4"/>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F64E84A6-69E6-BB0C-32FF-9B0C9BCDBB6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Cognitive Load Concept</a:t>
            </a:r>
          </a:p>
          <a:p>
            <a:pPr marL="0" lvl="1" indent="0">
              <a:buFont typeface="Arial" panose="020B0604020202020204" pitchFamily="34" charset="0"/>
              <a:buNone/>
            </a:pPr>
            <a:r>
              <a:t>Cognitive load is the mental effort needed to understand complex or poorly organized information.</a:t>
            </a:r>
            <a:endParaRPr lang="en-US"/>
          </a:p>
          <a:p>
            <a:pPr marL="0" indent="0">
              <a:spcBef>
                <a:spcPts val="2500"/>
              </a:spcBef>
              <a:buFont typeface="Arial" panose="020B0604020202020204" pitchFamily="34" charset="0"/>
              <a:buNone/>
            </a:pPr>
            <a:r>
              <a:rPr lang="en-US" b="1"/>
              <a:t>Importance of Clear Formatting</a:t>
            </a:r>
          </a:p>
          <a:p>
            <a:pPr marL="0" lvl="1" indent="0">
              <a:buFont typeface="Arial" panose="020B0604020202020204" pitchFamily="34" charset="0"/>
              <a:buNone/>
            </a:pPr>
            <a:r>
              <a:t>Clear resume formatting reduces scanning errors and helps recruiters find key details quickly.</a:t>
            </a:r>
            <a:endParaRPr lang="en-US"/>
          </a:p>
          <a:p>
            <a:pPr marL="0" indent="0">
              <a:spcBef>
                <a:spcPts val="2500"/>
              </a:spcBef>
              <a:buFont typeface="Arial" panose="020B0604020202020204" pitchFamily="34" charset="0"/>
              <a:buNone/>
            </a:pPr>
            <a:r>
              <a:rPr lang="en-US" b="1"/>
              <a:t>Benefits for Entry-Level Applicants</a:t>
            </a:r>
          </a:p>
          <a:p>
            <a:pPr marL="0" lvl="1" indent="0">
              <a:buFont typeface="Arial" panose="020B0604020202020204" pitchFamily="34" charset="0"/>
              <a:buNone/>
            </a:pPr>
            <a:r>
              <a:t>Entry-level candidates benefit from clarity by highlighting transferable skills effectively.</a:t>
            </a:r>
            <a:endParaRPr lang="en-US"/>
          </a:p>
          <a:p>
            <a:pPr marL="0" indent="0">
              <a:spcBef>
                <a:spcPts val="2500"/>
              </a:spcBef>
              <a:buFont typeface="Arial" panose="020B0604020202020204" pitchFamily="34" charset="0"/>
              <a:buNone/>
            </a:pPr>
            <a:r>
              <a:rPr lang="en-US" b="1"/>
              <a:t>Equitable Candidate Evaluation</a:t>
            </a:r>
          </a:p>
          <a:p>
            <a:pPr marL="0" lvl="1" indent="0">
              <a:buFont typeface="Arial" panose="020B0604020202020204" pitchFamily="34" charset="0"/>
              <a:buNone/>
            </a:pPr>
            <a:r>
              <a:t>Structured resumes promote fairer evaluations by minimizing subjective interpretation.</a:t>
            </a:r>
            <a:endParaRPr lang="en-US"/>
          </a:p>
        </p:txBody>
      </p:sp>
    </p:spTree>
    <p:extLst>
      <p:ext uri="{BB962C8B-B14F-4D97-AF65-F5344CB8AC3E}">
        <p14:creationId xmlns:p14="http://schemas.microsoft.com/office/powerpoint/2010/main" val="24224717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2D33C-0E7C-9639-7856-604719CDF8B2}"/>
              </a:ext>
            </a:extLst>
          </p:cNvPr>
          <p:cNvSpPr>
            <a:spLocks noGrp="1"/>
          </p:cNvSpPr>
          <p:nvPr>
            <p:ph type="ctrTitle"/>
          </p:nvPr>
        </p:nvSpPr>
        <p:spPr>
          <a:xfrm>
            <a:off x="992091" y="2514602"/>
            <a:ext cx="6812280" cy="3194302"/>
          </a:xfrm>
        </p:spPr>
        <p:txBody>
          <a:bodyPr anchor="b">
            <a:normAutofit/>
          </a:bodyPr>
          <a:lstStyle/>
          <a:p>
            <a:r>
              <a:rPr lang="en-US"/>
              <a:t>How ATS Systems Parse and Filter</a:t>
            </a:r>
          </a:p>
        </p:txBody>
      </p:sp>
    </p:spTree>
    <p:extLst>
      <p:ext uri="{BB962C8B-B14F-4D97-AF65-F5344CB8AC3E}">
        <p14:creationId xmlns:p14="http://schemas.microsoft.com/office/powerpoint/2010/main" val="41539376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13545-E023-271B-5F8A-308CBAD5A822}"/>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How ATS Systems Read and Structure Resume Data</a:t>
            </a:r>
          </a:p>
        </p:txBody>
      </p:sp>
      <p:pic>
        <p:nvPicPr>
          <p:cNvPr id="5" name="Content Placeholder 4" descr="List of dates on a digital screen">
            <a:extLst>
              <a:ext uri="{FF2B5EF4-FFF2-40B4-BE49-F238E27FC236}">
                <a16:creationId xmlns:a16="http://schemas.microsoft.com/office/drawing/2014/main" id="{DA5E19AC-B38B-435F-B2B7-2E5714989B47}"/>
              </a:ext>
            </a:extLst>
          </p:cNvPr>
          <p:cNvPicPr>
            <a:picLocks noGrp="1" noChangeAspect="1"/>
          </p:cNvPicPr>
          <p:nvPr>
            <p:ph type="pic" sz="quarter" idx="18"/>
          </p:nvPr>
        </p:nvPicPr>
        <p:blipFill>
          <a:blip r:embed="rId3"/>
          <a:srcRect l="15559" r="17692"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5BD1B017-C2B1-8BF5-548F-8E4704D6C58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ATS Text Scanning Method</a:t>
            </a:r>
          </a:p>
          <a:p>
            <a:pPr marL="0" lvl="1" indent="0">
              <a:buFont typeface="Arial" panose="020B0604020202020204" pitchFamily="34" charset="0"/>
              <a:buNone/>
            </a:pPr>
            <a:r>
              <a:t>ATS reads resumes from top to bottom and left to right, extracting key fields like job titles and skills.</a:t>
            </a:r>
            <a:endParaRPr lang="en-US"/>
          </a:p>
          <a:p>
            <a:pPr marL="0" indent="0">
              <a:spcBef>
                <a:spcPts val="2500"/>
              </a:spcBef>
              <a:buFont typeface="Arial" panose="020B0604020202020204" pitchFamily="34" charset="0"/>
              <a:buNone/>
            </a:pPr>
            <a:r>
              <a:rPr lang="en-US" b="1"/>
              <a:t>Pattern Recognition Importance</a:t>
            </a:r>
          </a:p>
          <a:p>
            <a:pPr marL="0" lvl="1" indent="0">
              <a:buFont typeface="Arial" panose="020B0604020202020204" pitchFamily="34" charset="0"/>
              <a:buNone/>
            </a:pPr>
            <a:r>
              <a:t>ATS relies on standardized formatting to recognize data; non-standard layouts can cause parsing errors.</a:t>
            </a:r>
            <a:endParaRPr lang="en-US"/>
          </a:p>
          <a:p>
            <a:pPr marL="0" indent="0">
              <a:spcBef>
                <a:spcPts val="2500"/>
              </a:spcBef>
              <a:buFont typeface="Arial" panose="020B0604020202020204" pitchFamily="34" charset="0"/>
              <a:buNone/>
            </a:pPr>
            <a:r>
              <a:rPr lang="en-US" b="1"/>
              <a:t>Alignment with Job Description</a:t>
            </a:r>
          </a:p>
          <a:p>
            <a:pPr marL="0" lvl="1" indent="0">
              <a:buFont typeface="Arial" panose="020B0604020202020204" pitchFamily="34" charset="0"/>
              <a:buNone/>
            </a:pPr>
            <a:r>
              <a:t>Extracted resume information is mapped to job requirements to prioritize matching candidates.</a:t>
            </a:r>
            <a:endParaRPr lang="en-US"/>
          </a:p>
          <a:p>
            <a:pPr marL="0" indent="0">
              <a:spcBef>
                <a:spcPts val="2500"/>
              </a:spcBef>
              <a:buFont typeface="Arial" panose="020B0604020202020204" pitchFamily="34" charset="0"/>
              <a:buNone/>
            </a:pPr>
            <a:r>
              <a:rPr lang="en-US" b="1"/>
              <a:t>Resume Design Best Practices</a:t>
            </a:r>
          </a:p>
          <a:p>
            <a:pPr marL="0" lvl="1" indent="0">
              <a:buFont typeface="Arial" panose="020B0604020202020204" pitchFamily="34" charset="0"/>
              <a:buNone/>
            </a:pPr>
            <a:r>
              <a:t>Using clear headers and chronological order helps ATS accurately extract important resume details.</a:t>
            </a:r>
            <a:endParaRPr lang="en-US"/>
          </a:p>
        </p:txBody>
      </p:sp>
    </p:spTree>
    <p:extLst>
      <p:ext uri="{BB962C8B-B14F-4D97-AF65-F5344CB8AC3E}">
        <p14:creationId xmlns:p14="http://schemas.microsoft.com/office/powerpoint/2010/main" val="3594764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27264-4E8A-FEA5-38C9-444B1273B32F}"/>
              </a:ext>
            </a:extLst>
          </p:cNvPr>
          <p:cNvSpPr>
            <a:spLocks noGrp="1"/>
          </p:cNvSpPr>
          <p:nvPr>
            <p:ph type="title"/>
          </p:nvPr>
        </p:nvSpPr>
        <p:spPr>
          <a:xfrm>
            <a:off x="1124711" y="1042416"/>
            <a:ext cx="8778239" cy="859536"/>
          </a:xfrm>
        </p:spPr>
        <p:txBody>
          <a:bodyPr anchor="b">
            <a:normAutofit/>
          </a:bodyPr>
          <a:lstStyle/>
          <a:p>
            <a:r>
              <a:rPr lang="en-US"/>
              <a:t>Common Parsing Failures</a:t>
            </a:r>
          </a:p>
        </p:txBody>
      </p:sp>
      <p:graphicFrame>
        <p:nvGraphicFramePr>
          <p:cNvPr id="7" name="Content Placeholder 2">
            <a:extLst>
              <a:ext uri="{FF2B5EF4-FFF2-40B4-BE49-F238E27FC236}">
                <a16:creationId xmlns:a16="http://schemas.microsoft.com/office/drawing/2014/main" id="{CAEFD4AB-8197-73D0-8A3D-2EE903F7963E}"/>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68806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D3472-91CD-AE3C-333A-27EA167AFD6D}"/>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Alignment With Job Descriptions and Required Qualifications</a:t>
            </a:r>
          </a:p>
        </p:txBody>
      </p:sp>
      <p:pic>
        <p:nvPicPr>
          <p:cNvPr id="5" name="Content Placeholder 4" descr="One man, contract signing, cropped photo, new begnning">
            <a:extLst>
              <a:ext uri="{FF2B5EF4-FFF2-40B4-BE49-F238E27FC236}">
                <a16:creationId xmlns:a16="http://schemas.microsoft.com/office/drawing/2014/main" id="{8E507ECC-383B-466F-9F72-D231D2DDAB9F}"/>
              </a:ext>
            </a:extLst>
          </p:cNvPr>
          <p:cNvPicPr>
            <a:picLocks noGrp="1" noChangeAspect="1"/>
          </p:cNvPicPr>
          <p:nvPr>
            <p:ph type="pic" sz="quarter" idx="18"/>
          </p:nvPr>
        </p:nvPicPr>
        <p:blipFill>
          <a:blip r:embed="rId3"/>
          <a:srcRect l="7109" r="26142"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A96B97D8-B78D-2784-50F0-7BBA886AD3C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ATS Matching Process</a:t>
            </a:r>
          </a:p>
          <a:p>
            <a:pPr marL="0" lvl="1" indent="0">
              <a:buFont typeface="Arial" panose="020B0604020202020204" pitchFamily="34" charset="0"/>
              <a:buNone/>
            </a:pPr>
            <a:r>
              <a:t>Applicant Tracking Systems compare resume text with job descriptions to assess qualification alignment accurately.</a:t>
            </a:r>
            <a:endParaRPr lang="en-US"/>
          </a:p>
          <a:p>
            <a:pPr marL="0" indent="0">
              <a:spcBef>
                <a:spcPts val="2500"/>
              </a:spcBef>
              <a:buFont typeface="Arial" panose="020B0604020202020204" pitchFamily="34" charset="0"/>
              <a:buNone/>
            </a:pPr>
            <a:r>
              <a:rPr lang="en-US" b="1"/>
              <a:t>Terminology Accuracy Over Repetition</a:t>
            </a:r>
          </a:p>
          <a:p>
            <a:pPr marL="0" lvl="1" indent="0">
              <a:buFont typeface="Arial" panose="020B0604020202020204" pitchFamily="34" charset="0"/>
              <a:buNone/>
            </a:pPr>
            <a:r>
              <a:t>Effective alignment uses exact job posting terms rather than synonyms to improve ATS recognition and resume relevance.</a:t>
            </a:r>
            <a:endParaRPr lang="en-US"/>
          </a:p>
          <a:p>
            <a:pPr marL="0" indent="0">
              <a:spcBef>
                <a:spcPts val="2500"/>
              </a:spcBef>
              <a:buFont typeface="Arial" panose="020B0604020202020204" pitchFamily="34" charset="0"/>
              <a:buNone/>
            </a:pPr>
            <a:r>
              <a:rPr lang="en-US" b="1"/>
              <a:t>Genuine Skill Reflection</a:t>
            </a:r>
          </a:p>
          <a:p>
            <a:pPr marL="0" lvl="1" indent="0">
              <a:buFont typeface="Arial" panose="020B0604020202020204" pitchFamily="34" charset="0"/>
              <a:buNone/>
            </a:pPr>
            <a:r>
              <a:t>Alignment should reflect true skills and qualifications, avoiding keyword stuffing to maintain credibility and clarity.</a:t>
            </a:r>
            <a:endParaRPr lang="en-US"/>
          </a:p>
          <a:p>
            <a:pPr marL="0" indent="0">
              <a:spcBef>
                <a:spcPts val="2500"/>
              </a:spcBef>
              <a:buFont typeface="Arial" panose="020B0604020202020204" pitchFamily="34" charset="0"/>
              <a:buNone/>
            </a:pPr>
            <a:r>
              <a:rPr lang="en-US" b="1"/>
              <a:t>Entry-Level Job Seeker Strategy</a:t>
            </a:r>
          </a:p>
          <a:p>
            <a:pPr marL="0" lvl="1" indent="0">
              <a:buFont typeface="Arial" panose="020B0604020202020204" pitchFamily="34" charset="0"/>
              <a:buNone/>
            </a:pPr>
            <a:r>
              <a:t>Entry-level applicants benefit from carefully reviewing job descriptions and incorporating essential qualifications truthfully.</a:t>
            </a:r>
            <a:endParaRPr lang="en-US"/>
          </a:p>
        </p:txBody>
      </p:sp>
    </p:spTree>
    <p:extLst>
      <p:ext uri="{BB962C8B-B14F-4D97-AF65-F5344CB8AC3E}">
        <p14:creationId xmlns:p14="http://schemas.microsoft.com/office/powerpoint/2010/main" val="3975986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CCCC2-5AA3-6E42-EB73-680E6DB1BD69}"/>
              </a:ext>
            </a:extLst>
          </p:cNvPr>
          <p:cNvSpPr>
            <a:spLocks noGrp="1"/>
          </p:cNvSpPr>
          <p:nvPr>
            <p:ph type="ctrTitle"/>
          </p:nvPr>
        </p:nvSpPr>
        <p:spPr>
          <a:xfrm>
            <a:off x="992091" y="2514602"/>
            <a:ext cx="6812280" cy="3194302"/>
          </a:xfrm>
        </p:spPr>
        <p:txBody>
          <a:bodyPr anchor="b">
            <a:normAutofit/>
          </a:bodyPr>
          <a:lstStyle/>
          <a:p>
            <a:r>
              <a:rPr lang="en-US"/>
              <a:t>Structure That Improves Scan-Ability</a:t>
            </a:r>
          </a:p>
        </p:txBody>
      </p:sp>
    </p:spTree>
    <p:extLst>
      <p:ext uri="{BB962C8B-B14F-4D97-AF65-F5344CB8AC3E}">
        <p14:creationId xmlns:p14="http://schemas.microsoft.com/office/powerpoint/2010/main" val="29416159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6190C-3006-7C01-C3AA-1AD17F5A757C}"/>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Research on Recruiter Eye-Tracking and Resume Scanning</a:t>
            </a:r>
          </a:p>
        </p:txBody>
      </p:sp>
      <p:pic>
        <p:nvPicPr>
          <p:cNvPr id="5" name="Content Placeholder 4" descr="Human eye seen through transparent digital chart">
            <a:extLst>
              <a:ext uri="{FF2B5EF4-FFF2-40B4-BE49-F238E27FC236}">
                <a16:creationId xmlns:a16="http://schemas.microsoft.com/office/drawing/2014/main" id="{3A24BCBD-75B4-41B3-AF3B-94929003E2A1}"/>
              </a:ext>
            </a:extLst>
          </p:cNvPr>
          <p:cNvPicPr>
            <a:picLocks noGrp="1" noChangeAspect="1"/>
          </p:cNvPicPr>
          <p:nvPr>
            <p:ph type="pic" sz="quarter" idx="18"/>
          </p:nvPr>
        </p:nvPicPr>
        <p:blipFill>
          <a:blip r:embed="rId3"/>
          <a:srcRect l="13314" r="29434" b="-2"/>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58CED3E9-E95F-6F80-E28C-B6EA178AF82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Recruiter Scanning Patterns</a:t>
            </a:r>
          </a:p>
          <a:p>
            <a:pPr marL="0" lvl="1" indent="0">
              <a:buFont typeface="Arial" panose="020B0604020202020204" pitchFamily="34" charset="0"/>
              <a:buNone/>
            </a:pPr>
            <a:r>
              <a:t>Recruiters follow predictable visual patterns focusing on job titles, company names, dates, and headings when scanning resumes.</a:t>
            </a:r>
            <a:endParaRPr lang="en-US"/>
          </a:p>
          <a:p>
            <a:pPr marL="0" indent="0">
              <a:spcBef>
                <a:spcPts val="2500"/>
              </a:spcBef>
              <a:buFont typeface="Arial" panose="020B0604020202020204" pitchFamily="34" charset="0"/>
              <a:buNone/>
            </a:pPr>
            <a:r>
              <a:rPr lang="en-US" b="1"/>
              <a:t>Impact of Resume Formatting</a:t>
            </a:r>
          </a:p>
          <a:p>
            <a:pPr marL="0" lvl="1" indent="0">
              <a:buFont typeface="Arial" panose="020B0604020202020204" pitchFamily="34" charset="0"/>
              <a:buNone/>
            </a:pPr>
            <a:r>
              <a:t>Clear hierarchy and consistent formatting aid recruiters in quickly extracting critical information from resumes.</a:t>
            </a:r>
            <a:endParaRPr lang="en-US"/>
          </a:p>
          <a:p>
            <a:pPr marL="0" indent="0">
              <a:spcBef>
                <a:spcPts val="2500"/>
              </a:spcBef>
              <a:buFont typeface="Arial" panose="020B0604020202020204" pitchFamily="34" charset="0"/>
              <a:buNone/>
            </a:pPr>
            <a:r>
              <a:rPr lang="en-US" b="1"/>
              <a:t>Consequences of Poor Formatting</a:t>
            </a:r>
          </a:p>
          <a:p>
            <a:pPr marL="0" lvl="1" indent="0">
              <a:buFont typeface="Arial" panose="020B0604020202020204" pitchFamily="34" charset="0"/>
              <a:buNone/>
            </a:pPr>
            <a:r>
              <a:t>Dense text blocks and inconsistent layouts slow scanning, cause errors, and lead to missed information.</a:t>
            </a:r>
            <a:endParaRPr lang="en-US"/>
          </a:p>
          <a:p>
            <a:pPr marL="0" indent="0">
              <a:spcBef>
                <a:spcPts val="2500"/>
              </a:spcBef>
              <a:buFont typeface="Arial" panose="020B0604020202020204" pitchFamily="34" charset="0"/>
              <a:buNone/>
            </a:pPr>
            <a:r>
              <a:rPr lang="en-US" b="1"/>
              <a:t>Design Tips for Entry-Level Resumes</a:t>
            </a:r>
          </a:p>
          <a:p>
            <a:pPr marL="0" lvl="1" indent="0">
              <a:buFont typeface="Arial" panose="020B0604020202020204" pitchFamily="34" charset="0"/>
              <a:buNone/>
            </a:pPr>
            <a:r>
              <a:t>Using bolded job titles, consistent spacing, and clean sections aligns with scanning behavior and reduces early dismissal risk.</a:t>
            </a:r>
            <a:endParaRPr lang="en-US"/>
          </a:p>
        </p:txBody>
      </p:sp>
    </p:spTree>
    <p:extLst>
      <p:ext uri="{BB962C8B-B14F-4D97-AF65-F5344CB8AC3E}">
        <p14:creationId xmlns:p14="http://schemas.microsoft.com/office/powerpoint/2010/main" val="5272214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C54FB-7557-1379-C5B1-350B72CD4B82}"/>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Importance of Job Titles, Employer Names, and Dates</a:t>
            </a:r>
          </a:p>
        </p:txBody>
      </p:sp>
      <p:pic>
        <p:nvPicPr>
          <p:cNvPr id="5" name="Content Placeholder 4" descr="A questionnaire is filled out very positive for all categories.Click here for related images:">
            <a:extLst>
              <a:ext uri="{FF2B5EF4-FFF2-40B4-BE49-F238E27FC236}">
                <a16:creationId xmlns:a16="http://schemas.microsoft.com/office/drawing/2014/main" id="{58F20092-E50F-4BD6-81F1-C74AC38194F1}"/>
              </a:ext>
            </a:extLst>
          </p:cNvPr>
          <p:cNvPicPr>
            <a:picLocks noGrp="1" noChangeAspect="1"/>
          </p:cNvPicPr>
          <p:nvPr>
            <p:ph type="pic" sz="quarter" idx="18"/>
          </p:nvPr>
        </p:nvPicPr>
        <p:blipFill>
          <a:blip r:embed="rId3"/>
          <a:srcRect r="-2" b="26748"/>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8074A9AD-4DD0-A71A-5DBF-BE934545484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Role and Career Progression</a:t>
            </a:r>
          </a:p>
          <a:p>
            <a:pPr marL="0" lvl="1" indent="0">
              <a:buFont typeface="Arial" panose="020B0604020202020204" pitchFamily="34" charset="0"/>
              <a:buNone/>
            </a:pPr>
            <a:r>
              <a:t>Job titles and employer names anchor recruiters to evaluate career growth and role relevance effectively.</a:t>
            </a:r>
            <a:endParaRPr lang="en-US"/>
          </a:p>
          <a:p>
            <a:pPr marL="0" indent="0">
              <a:spcBef>
                <a:spcPts val="2500"/>
              </a:spcBef>
              <a:buFont typeface="Arial" panose="020B0604020202020204" pitchFamily="34" charset="0"/>
              <a:buNone/>
            </a:pPr>
            <a:r>
              <a:rPr lang="en-US" b="1"/>
              <a:t>Employment Continuity and Context</a:t>
            </a:r>
          </a:p>
          <a:p>
            <a:pPr marL="0" lvl="1" indent="0">
              <a:buFont typeface="Arial" panose="020B0604020202020204" pitchFamily="34" charset="0"/>
              <a:buNone/>
            </a:pPr>
            <a:r>
              <a:t>Dates help recruiters assess continuity of employment and place achievements in proper context.</a:t>
            </a:r>
            <a:endParaRPr lang="en-US"/>
          </a:p>
          <a:p>
            <a:pPr marL="0" indent="0">
              <a:spcBef>
                <a:spcPts val="2500"/>
              </a:spcBef>
              <a:buFont typeface="Arial" panose="020B0604020202020204" pitchFamily="34" charset="0"/>
              <a:buNone/>
            </a:pPr>
            <a:r>
              <a:rPr lang="en-US" b="1"/>
              <a:t>Importance of Standardization</a:t>
            </a:r>
          </a:p>
          <a:p>
            <a:pPr marL="0" lvl="1" indent="0">
              <a:buFont typeface="Arial" panose="020B0604020202020204" pitchFamily="34" charset="0"/>
              <a:buNone/>
            </a:pPr>
            <a:r>
              <a:t>Standardizing titles, names, and dates reduces confusion and enables faster, reliable evaluation by recruiters.</a:t>
            </a:r>
            <a:endParaRPr lang="en-US"/>
          </a:p>
          <a:p>
            <a:pPr marL="0" indent="0">
              <a:spcBef>
                <a:spcPts val="2500"/>
              </a:spcBef>
              <a:buFont typeface="Arial" panose="020B0604020202020204" pitchFamily="34" charset="0"/>
              <a:buNone/>
            </a:pPr>
            <a:r>
              <a:rPr lang="en-US" b="1"/>
              <a:t>Clarity for Entry-Level Applicants</a:t>
            </a:r>
          </a:p>
          <a:p>
            <a:pPr marL="0" lvl="1" indent="0">
              <a:buFont typeface="Arial" panose="020B0604020202020204" pitchFamily="34" charset="0"/>
              <a:buNone/>
            </a:pPr>
            <a:r>
              <a:t>Clear formatting is crucial for early-career roles like internships or part-time jobs to show skill foundation.</a:t>
            </a:r>
            <a:endParaRPr lang="en-US"/>
          </a:p>
        </p:txBody>
      </p:sp>
    </p:spTree>
    <p:extLst>
      <p:ext uri="{BB962C8B-B14F-4D97-AF65-F5344CB8AC3E}">
        <p14:creationId xmlns:p14="http://schemas.microsoft.com/office/powerpoint/2010/main" val="1414364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B204A-C498-ACC3-A9C6-5D48B3D653B5}"/>
              </a:ext>
            </a:extLst>
          </p:cNvPr>
          <p:cNvSpPr>
            <a:spLocks noGrp="1"/>
          </p:cNvSpPr>
          <p:nvPr>
            <p:ph type="title"/>
          </p:nvPr>
        </p:nvSpPr>
        <p:spPr>
          <a:xfrm>
            <a:off x="1124711" y="1042416"/>
            <a:ext cx="8778239" cy="859536"/>
          </a:xfrm>
        </p:spPr>
        <p:txBody>
          <a:bodyPr anchor="b">
            <a:normAutofit/>
          </a:bodyPr>
          <a:lstStyle/>
          <a:p>
            <a:r>
              <a:rPr lang="en-US" sz="2600"/>
              <a:t>Visual Hierarchy and Information Density</a:t>
            </a:r>
          </a:p>
        </p:txBody>
      </p:sp>
      <p:graphicFrame>
        <p:nvGraphicFramePr>
          <p:cNvPr id="7" name="Content Placeholder 2">
            <a:extLst>
              <a:ext uri="{FF2B5EF4-FFF2-40B4-BE49-F238E27FC236}">
                <a16:creationId xmlns:a16="http://schemas.microsoft.com/office/drawing/2014/main" id="{AFA2076C-4517-7A8F-DECB-32E3CD5E9758}"/>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917986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7E6DA-06F7-029B-65CD-8B89746069CA}"/>
              </a:ext>
            </a:extLst>
          </p:cNvPr>
          <p:cNvSpPr>
            <a:spLocks noGrp="1"/>
          </p:cNvSpPr>
          <p:nvPr>
            <p:ph type="ctrTitle"/>
          </p:nvPr>
        </p:nvSpPr>
        <p:spPr>
          <a:xfrm>
            <a:off x="992091" y="2514602"/>
            <a:ext cx="6812280" cy="3194302"/>
          </a:xfrm>
        </p:spPr>
        <p:txBody>
          <a:bodyPr anchor="b">
            <a:normAutofit/>
          </a:bodyPr>
          <a:lstStyle/>
          <a:p>
            <a:r>
              <a:rPr lang="en-US"/>
              <a:t>Measurable Impact vs. Responsibilities</a:t>
            </a:r>
          </a:p>
        </p:txBody>
      </p:sp>
    </p:spTree>
    <p:extLst>
      <p:ext uri="{BB962C8B-B14F-4D97-AF65-F5344CB8AC3E}">
        <p14:creationId xmlns:p14="http://schemas.microsoft.com/office/powerpoint/2010/main" val="37044345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0040D-B1D1-52A9-FD76-1933A22ED18A}"/>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Evidence on Quantified Achievements in Hiring Decisions</a:t>
            </a:r>
          </a:p>
        </p:txBody>
      </p:sp>
      <p:pic>
        <p:nvPicPr>
          <p:cNvPr id="5" name="Content Placeholder 4" descr="Tax form payment">
            <a:extLst>
              <a:ext uri="{FF2B5EF4-FFF2-40B4-BE49-F238E27FC236}">
                <a16:creationId xmlns:a16="http://schemas.microsoft.com/office/drawing/2014/main" id="{C5C6D273-EC10-442C-9ACF-29DA5293A456}"/>
              </a:ext>
            </a:extLst>
          </p:cNvPr>
          <p:cNvPicPr>
            <a:picLocks noGrp="1" noChangeAspect="1"/>
          </p:cNvPicPr>
          <p:nvPr>
            <p:ph type="pic" sz="quarter" idx="18"/>
          </p:nvPr>
        </p:nvPicPr>
        <p:blipFill>
          <a:blip r:embed="rId3"/>
          <a:srcRect l="17592" r="7411" b="4"/>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62CCF6BB-7D27-4AC5-C109-BEB41A46F89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Improves Recruiter Understanding</a:t>
            </a:r>
          </a:p>
          <a:p>
            <a:pPr marL="0" lvl="1" indent="0">
              <a:buFont typeface="Arial" panose="020B0604020202020204" pitchFamily="34" charset="0"/>
              <a:buNone/>
            </a:pPr>
            <a:r>
              <a:t>Quantified achievements help recruiters grasp the scale and impact of candidates’ work quickly and accurately.</a:t>
            </a:r>
            <a:endParaRPr lang="en-US"/>
          </a:p>
          <a:p>
            <a:pPr marL="0" indent="0">
              <a:spcBef>
                <a:spcPts val="2500"/>
              </a:spcBef>
              <a:buFont typeface="Arial" panose="020B0604020202020204" pitchFamily="34" charset="0"/>
              <a:buNone/>
            </a:pPr>
            <a:r>
              <a:rPr lang="en-US" b="1"/>
              <a:t>Differentiates Candidates</a:t>
            </a:r>
          </a:p>
          <a:p>
            <a:pPr marL="0" lvl="1" indent="0">
              <a:buFont typeface="Arial" panose="020B0604020202020204" pitchFamily="34" charset="0"/>
              <a:buNone/>
            </a:pPr>
            <a:r>
              <a:t>Measurable results highlight unique strengths in competitive applicant pools, especially for entry-level roles.</a:t>
            </a:r>
            <a:endParaRPr lang="en-US"/>
          </a:p>
          <a:p>
            <a:pPr marL="0" indent="0">
              <a:spcBef>
                <a:spcPts val="2500"/>
              </a:spcBef>
              <a:buFont typeface="Arial" panose="020B0604020202020204" pitchFamily="34" charset="0"/>
              <a:buNone/>
            </a:pPr>
            <a:r>
              <a:rPr lang="en-US" b="1"/>
              <a:t>Supports Objective Evaluation</a:t>
            </a:r>
          </a:p>
          <a:p>
            <a:pPr marL="0" lvl="1" indent="0">
              <a:buFont typeface="Arial" panose="020B0604020202020204" pitchFamily="34" charset="0"/>
              <a:buNone/>
            </a:pPr>
            <a:r>
              <a:t>Using measurable outcomes reduces subjectivity and provides concrete evidence of candidate capability.</a:t>
            </a:r>
            <a:endParaRPr lang="en-US"/>
          </a:p>
          <a:p>
            <a:pPr marL="0" indent="0">
              <a:spcBef>
                <a:spcPts val="2500"/>
              </a:spcBef>
              <a:buFont typeface="Arial" panose="020B0604020202020204" pitchFamily="34" charset="0"/>
              <a:buNone/>
            </a:pPr>
            <a:r>
              <a:rPr lang="en-US" b="1"/>
              <a:t>Enhances Resume Credibility</a:t>
            </a:r>
          </a:p>
          <a:p>
            <a:pPr marL="0" lvl="1" indent="0">
              <a:buFont typeface="Arial" panose="020B0604020202020204" pitchFamily="34" charset="0"/>
              <a:buNone/>
            </a:pPr>
            <a:r>
              <a:t>Including specific metrics like processing volume and accuracy improves the resume’s credibility and impact.</a:t>
            </a:r>
            <a:endParaRPr lang="en-US"/>
          </a:p>
        </p:txBody>
      </p:sp>
    </p:spTree>
    <p:extLst>
      <p:ext uri="{BB962C8B-B14F-4D97-AF65-F5344CB8AC3E}">
        <p14:creationId xmlns:p14="http://schemas.microsoft.com/office/powerpoint/2010/main" val="56039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3208-BD23-CB4C-6350-FBEC6F42FDFB}"/>
              </a:ext>
            </a:extLst>
          </p:cNvPr>
          <p:cNvSpPr>
            <a:spLocks noGrp="1"/>
          </p:cNvSpPr>
          <p:nvPr>
            <p:ph type="title"/>
          </p:nvPr>
        </p:nvSpPr>
        <p:spPr>
          <a:xfrm>
            <a:off x="612647" y="256032"/>
            <a:ext cx="6949439" cy="1124712"/>
          </a:xfrm>
        </p:spPr>
        <p:txBody>
          <a:bodyPr anchor="b">
            <a:normAutofit/>
          </a:bodyPr>
          <a:lstStyle/>
          <a:p>
            <a:pPr>
              <a:lnSpc>
                <a:spcPct val="110000"/>
              </a:lnSpc>
            </a:pPr>
            <a:r>
              <a:rPr lang="en-US" sz="2400"/>
              <a:t>Difference Between Task-Based Bullets and Results-Based Bullets</a:t>
            </a:r>
          </a:p>
        </p:txBody>
      </p:sp>
      <p:sp>
        <p:nvSpPr>
          <p:cNvPr id="4" name="Content Placeholder 3">
            <a:extLst>
              <a:ext uri="{FF2B5EF4-FFF2-40B4-BE49-F238E27FC236}">
                <a16:creationId xmlns:a16="http://schemas.microsoft.com/office/drawing/2014/main" id="{9DA03442-8BE7-1F4A-CF29-9BFFAC625F2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1755648"/>
            <a:ext cx="6949440" cy="4343400"/>
          </a:xfrm>
        </p:spPr>
        <p:txBody>
          <a:bodyPr>
            <a:normAutofit/>
          </a:bodyPr>
          <a:lstStyle/>
          <a:p>
            <a:pPr marL="0" indent="0">
              <a:lnSpc>
                <a:spcPct val="120000"/>
              </a:lnSpc>
              <a:spcBef>
                <a:spcPts val="2500"/>
              </a:spcBef>
              <a:buFont typeface="Arial" panose="020B0604020202020204" pitchFamily="34" charset="0"/>
              <a:buNone/>
            </a:pPr>
            <a:r>
              <a:rPr lang="en-US" sz="1300" b="1"/>
              <a:t>Task-Based Bullet Points</a:t>
            </a:r>
          </a:p>
          <a:p>
            <a:pPr marL="0" lvl="1" indent="0">
              <a:lnSpc>
                <a:spcPct val="120000"/>
              </a:lnSpc>
              <a:buFont typeface="Arial" panose="020B0604020202020204" pitchFamily="34" charset="0"/>
              <a:buNone/>
            </a:pPr>
            <a:r>
              <a:rPr lang="en-US" sz="1300"/>
              <a:t>Task-based bullets describe the actions a candidate performed without detailing their impact or results.</a:t>
            </a:r>
          </a:p>
          <a:p>
            <a:pPr marL="0" indent="0">
              <a:lnSpc>
                <a:spcPct val="120000"/>
              </a:lnSpc>
              <a:spcBef>
                <a:spcPts val="2500"/>
              </a:spcBef>
              <a:buFont typeface="Arial" panose="020B0604020202020204" pitchFamily="34" charset="0"/>
              <a:buNone/>
            </a:pPr>
            <a:r>
              <a:rPr lang="en-US" sz="1300" b="1"/>
              <a:t>Results-Based Bullet Points</a:t>
            </a:r>
          </a:p>
          <a:p>
            <a:pPr marL="0" lvl="1" indent="0">
              <a:lnSpc>
                <a:spcPct val="120000"/>
              </a:lnSpc>
              <a:buFont typeface="Arial" panose="020B0604020202020204" pitchFamily="34" charset="0"/>
              <a:buNone/>
            </a:pPr>
            <a:r>
              <a:rPr lang="en-US" sz="1300"/>
              <a:t>Results-based bullets highlight measurable outcomes and effectiveness, showing the candidate's true impact.</a:t>
            </a:r>
          </a:p>
          <a:p>
            <a:pPr marL="0" indent="0">
              <a:lnSpc>
                <a:spcPct val="120000"/>
              </a:lnSpc>
              <a:spcBef>
                <a:spcPts val="2500"/>
              </a:spcBef>
              <a:buFont typeface="Arial" panose="020B0604020202020204" pitchFamily="34" charset="0"/>
              <a:buNone/>
            </a:pPr>
            <a:r>
              <a:rPr lang="en-US" sz="1300" b="1"/>
              <a:t>Importance of Results Focus</a:t>
            </a:r>
          </a:p>
          <a:p>
            <a:pPr marL="0" lvl="1" indent="0">
              <a:lnSpc>
                <a:spcPct val="120000"/>
              </a:lnSpc>
              <a:buFont typeface="Arial" panose="020B0604020202020204" pitchFamily="34" charset="0"/>
              <a:buNone/>
            </a:pPr>
            <a:r>
              <a:rPr lang="en-US" sz="1300"/>
              <a:t>Employers prefer results-based statements for clearer insights into performance and to facilitate candidate comparison.</a:t>
            </a:r>
          </a:p>
          <a:p>
            <a:pPr marL="0" indent="0">
              <a:lnSpc>
                <a:spcPct val="120000"/>
              </a:lnSpc>
              <a:spcBef>
                <a:spcPts val="2500"/>
              </a:spcBef>
              <a:buFont typeface="Arial" panose="020B0604020202020204" pitchFamily="34" charset="0"/>
              <a:buNone/>
            </a:pPr>
            <a:r>
              <a:rPr lang="en-US" sz="1300" b="1"/>
              <a:t>Converting Tasks to Results</a:t>
            </a:r>
          </a:p>
          <a:p>
            <a:pPr marL="0" lvl="1" indent="0">
              <a:lnSpc>
                <a:spcPct val="120000"/>
              </a:lnSpc>
              <a:buFont typeface="Arial" panose="020B0604020202020204" pitchFamily="34" charset="0"/>
              <a:buNone/>
            </a:pPr>
            <a:r>
              <a:rPr lang="en-US" sz="1300"/>
              <a:t>Transform tasks into results by defining purpose, outcomes, and performance metrics to strengthen resumes.</a:t>
            </a:r>
          </a:p>
        </p:txBody>
      </p:sp>
      <p:pic>
        <p:nvPicPr>
          <p:cNvPr id="5" name="Content Placeholder 4" descr="Check list sign and Highlighter isolated on white background">
            <a:extLst>
              <a:ext uri="{FF2B5EF4-FFF2-40B4-BE49-F238E27FC236}">
                <a16:creationId xmlns:a16="http://schemas.microsoft.com/office/drawing/2014/main" id="{CEB5724C-EE31-422C-86BF-DBADB279E64B}"/>
              </a:ext>
            </a:extLst>
          </p:cNvPr>
          <p:cNvPicPr>
            <a:picLocks noGrp="1" noChangeAspect="1"/>
          </p:cNvPicPr>
          <p:nvPr>
            <p:ph type="pic" sz="quarter" idx="18"/>
          </p:nvPr>
        </p:nvPicPr>
        <p:blipFill>
          <a:blip r:embed="rId3"/>
          <a:srcRect r="17983" b="-3"/>
          <a:stretch>
            <a:fillRect/>
          </a:stretch>
        </p:blipFill>
        <p:spPr>
          <a:xfrm>
            <a:off x="8129016" y="758952"/>
            <a:ext cx="3300984" cy="5330952"/>
          </a:xfrm>
        </p:spPr>
      </p:pic>
    </p:spTree>
    <p:extLst>
      <p:ext uri="{BB962C8B-B14F-4D97-AF65-F5344CB8AC3E}">
        <p14:creationId xmlns:p14="http://schemas.microsoft.com/office/powerpoint/2010/main" val="1242187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B9105-3A99-33E5-72EB-FD731E172E2D}"/>
              </a:ext>
            </a:extLst>
          </p:cNvPr>
          <p:cNvSpPr>
            <a:spLocks noGrp="1"/>
          </p:cNvSpPr>
          <p:nvPr>
            <p:ph type="title"/>
          </p:nvPr>
        </p:nvSpPr>
        <p:spPr>
          <a:xfrm>
            <a:off x="7569582" y="758952"/>
            <a:ext cx="3842130" cy="1143000"/>
          </a:xfrm>
        </p:spPr>
        <p:txBody>
          <a:bodyPr anchor="b">
            <a:normAutofit/>
          </a:bodyPr>
          <a:lstStyle/>
          <a:p>
            <a:pPr>
              <a:lnSpc>
                <a:spcPct val="110000"/>
              </a:lnSpc>
            </a:pPr>
            <a:r>
              <a:rPr lang="en-US" sz="1500"/>
              <a:t>Examples of Transforming Weak Bullets Into Measurable Impact Statements</a:t>
            </a:r>
          </a:p>
        </p:txBody>
      </p:sp>
      <p:pic>
        <p:nvPicPr>
          <p:cNvPr id="5" name="Content Placeholder 4" descr="Graph">
            <a:extLst>
              <a:ext uri="{FF2B5EF4-FFF2-40B4-BE49-F238E27FC236}">
                <a16:creationId xmlns:a16="http://schemas.microsoft.com/office/drawing/2014/main" id="{E9837897-93F7-4A54-8DB1-583370F72747}"/>
              </a:ext>
            </a:extLst>
          </p:cNvPr>
          <p:cNvPicPr>
            <a:picLocks noGrp="1" noChangeAspect="1"/>
          </p:cNvPicPr>
          <p:nvPr>
            <p:ph type="pic" sz="quarter" idx="18"/>
          </p:nvPr>
        </p:nvPicPr>
        <p:blipFill>
          <a:blip r:embed="rId3"/>
          <a:srcRect l="7833" r="25391" b="2"/>
          <a:stretch>
            <a:fillRect/>
          </a:stretch>
        </p:blipFill>
        <p:spPr>
          <a:xfrm>
            <a:off x="-1" y="10"/>
            <a:ext cx="6835155" cy="6857989"/>
          </a:xfrm>
        </p:spPr>
      </p:pic>
      <p:sp>
        <p:nvSpPr>
          <p:cNvPr id="4" name="Content Placeholder 3">
            <a:extLst>
              <a:ext uri="{FF2B5EF4-FFF2-40B4-BE49-F238E27FC236}">
                <a16:creationId xmlns:a16="http://schemas.microsoft.com/office/drawing/2014/main" id="{F09B9931-B513-5457-2162-E5D3D6F2364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69582" y="2258568"/>
            <a:ext cx="3700397" cy="3840480"/>
          </a:xfrm>
        </p:spPr>
        <p:txBody>
          <a:bodyPr>
            <a:normAutofit/>
          </a:bodyPr>
          <a:lstStyle/>
          <a:p>
            <a:pPr marL="0" indent="0">
              <a:spcBef>
                <a:spcPts val="2500"/>
              </a:spcBef>
              <a:buFont typeface="Arial" panose="020B0604020202020204" pitchFamily="34" charset="0"/>
              <a:buNone/>
            </a:pPr>
            <a:r>
              <a:rPr lang="en-US" sz="1300" b="1"/>
              <a:t>Clarity in Action and Context</a:t>
            </a:r>
          </a:p>
          <a:p>
            <a:pPr marL="0" lvl="1" indent="0">
              <a:buFont typeface="Arial" panose="020B0604020202020204" pitchFamily="34" charset="0"/>
              <a:buNone/>
            </a:pPr>
            <a:r>
              <a:rPr lang="en-US" sz="1300"/>
              <a:t>Clearly define the action taken and the context to strengthen bullet points and reduce ambiguity.</a:t>
            </a:r>
          </a:p>
          <a:p>
            <a:pPr marL="0" indent="0">
              <a:spcBef>
                <a:spcPts val="2500"/>
              </a:spcBef>
              <a:buFont typeface="Arial" panose="020B0604020202020204" pitchFamily="34" charset="0"/>
              <a:buNone/>
            </a:pPr>
            <a:r>
              <a:rPr lang="en-US" sz="1300" b="1"/>
              <a:t>Measurable Outcomes</a:t>
            </a:r>
          </a:p>
          <a:p>
            <a:pPr marL="0" lvl="1" indent="0">
              <a:buFont typeface="Arial" panose="020B0604020202020204" pitchFamily="34" charset="0"/>
              <a:buNone/>
            </a:pPr>
            <a:r>
              <a:rPr lang="en-US" sz="1300"/>
              <a:t>Include quantifiable results to demonstrate impact, such as improved efficiency or reduced turnaround time.</a:t>
            </a:r>
          </a:p>
          <a:p>
            <a:pPr marL="0" indent="0">
              <a:spcBef>
                <a:spcPts val="2500"/>
              </a:spcBef>
              <a:buFont typeface="Arial" panose="020B0604020202020204" pitchFamily="34" charset="0"/>
              <a:buNone/>
            </a:pPr>
            <a:r>
              <a:rPr lang="en-US" sz="1300" b="1"/>
              <a:t>Supporting Broader Goals</a:t>
            </a:r>
          </a:p>
          <a:p>
            <a:pPr marL="0" lvl="1" indent="0">
              <a:buFont typeface="Arial" panose="020B0604020202020204" pitchFamily="34" charset="0"/>
              <a:buNone/>
            </a:pPr>
            <a:r>
              <a:rPr lang="en-US" sz="1300"/>
              <a:t>Specify how contributions align with and support larger organizational objectives for greater relevance.</a:t>
            </a:r>
          </a:p>
        </p:txBody>
      </p:sp>
    </p:spTree>
    <p:extLst>
      <p:ext uri="{BB962C8B-B14F-4D97-AF65-F5344CB8AC3E}">
        <p14:creationId xmlns:p14="http://schemas.microsoft.com/office/powerpoint/2010/main" val="4506098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2FA71-2079-D55C-332A-719A58ACA49F}"/>
              </a:ext>
            </a:extLst>
          </p:cNvPr>
          <p:cNvSpPr>
            <a:spLocks noGrp="1"/>
          </p:cNvSpPr>
          <p:nvPr>
            <p:ph type="ctrTitle"/>
          </p:nvPr>
        </p:nvSpPr>
        <p:spPr>
          <a:xfrm>
            <a:off x="992091" y="2514602"/>
            <a:ext cx="6812280" cy="3194302"/>
          </a:xfrm>
        </p:spPr>
        <p:txBody>
          <a:bodyPr anchor="b">
            <a:normAutofit/>
          </a:bodyPr>
          <a:lstStyle/>
          <a:p>
            <a:r>
              <a:rPr lang="en-US"/>
              <a:t>Resume Alignment Strategy</a:t>
            </a:r>
          </a:p>
        </p:txBody>
      </p:sp>
    </p:spTree>
    <p:extLst>
      <p:ext uri="{BB962C8B-B14F-4D97-AF65-F5344CB8AC3E}">
        <p14:creationId xmlns:p14="http://schemas.microsoft.com/office/powerpoint/2010/main" val="22708412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E5EA-9AA0-036C-AF32-E6437C2E05F6}"/>
              </a:ext>
            </a:extLst>
          </p:cNvPr>
          <p:cNvSpPr>
            <a:spLocks noGrp="1"/>
          </p:cNvSpPr>
          <p:nvPr>
            <p:ph type="title"/>
          </p:nvPr>
        </p:nvSpPr>
        <p:spPr>
          <a:xfrm>
            <a:off x="612648" y="819477"/>
            <a:ext cx="4617720" cy="1197864"/>
          </a:xfrm>
        </p:spPr>
        <p:txBody>
          <a:bodyPr anchor="t">
            <a:normAutofit/>
          </a:bodyPr>
          <a:lstStyle/>
          <a:p>
            <a:r>
              <a:rPr lang="en-US"/>
              <a:t>How to Analyze a Job Description</a:t>
            </a:r>
          </a:p>
        </p:txBody>
      </p:sp>
      <p:pic>
        <p:nvPicPr>
          <p:cNvPr id="5" name="Content Placeholder 4" descr="Pen placed on top of a signature line">
            <a:extLst>
              <a:ext uri="{FF2B5EF4-FFF2-40B4-BE49-F238E27FC236}">
                <a16:creationId xmlns:a16="http://schemas.microsoft.com/office/drawing/2014/main" id="{C2B33E09-356C-4D67-8F5D-920B8E007167}"/>
              </a:ext>
            </a:extLst>
          </p:cNvPr>
          <p:cNvPicPr>
            <a:picLocks noGrp="1" noChangeAspect="1"/>
          </p:cNvPicPr>
          <p:nvPr>
            <p:ph type="pic" sz="quarter" idx="18"/>
          </p:nvPr>
        </p:nvPicPr>
        <p:blipFill>
          <a:blip r:embed="rId3"/>
          <a:srcRect l="2497" r="30754"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D1DC8FC9-5CED-9EBD-6972-485B9C5E976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Identify Core Priorities</a:t>
            </a:r>
          </a:p>
          <a:p>
            <a:pPr marL="0" lvl="1" indent="0">
              <a:buFont typeface="Arial" panose="020B0604020202020204" pitchFamily="34" charset="0"/>
              <a:buNone/>
            </a:pPr>
            <a:r>
              <a:t>Focus on key responsibilities repeated throughout the job description to understand what employers value most.</a:t>
            </a:r>
            <a:endParaRPr lang="en-US"/>
          </a:p>
          <a:p>
            <a:pPr marL="0" indent="0">
              <a:spcBef>
                <a:spcPts val="2500"/>
              </a:spcBef>
              <a:buFont typeface="Arial" panose="020B0604020202020204" pitchFamily="34" charset="0"/>
              <a:buNone/>
            </a:pPr>
            <a:r>
              <a:rPr lang="en-US" b="1"/>
              <a:t>Distinguish Qualifications</a:t>
            </a:r>
          </a:p>
          <a:p>
            <a:pPr marL="0" lvl="1" indent="0">
              <a:buFont typeface="Arial" panose="020B0604020202020204" pitchFamily="34" charset="0"/>
              <a:buNone/>
            </a:pPr>
            <a:r>
              <a:t>Separate required qualifications from preferred ones to tailor your application accordingly.</a:t>
            </a:r>
            <a:endParaRPr lang="en-US"/>
          </a:p>
          <a:p>
            <a:pPr marL="0" indent="0">
              <a:spcBef>
                <a:spcPts val="2500"/>
              </a:spcBef>
              <a:buFont typeface="Arial" panose="020B0604020202020204" pitchFamily="34" charset="0"/>
              <a:buNone/>
            </a:pPr>
            <a:r>
              <a:rPr lang="en-US" b="1"/>
              <a:t>Map Qualifications Strategically</a:t>
            </a:r>
          </a:p>
          <a:p>
            <a:pPr marL="0" lvl="1" indent="0">
              <a:buFont typeface="Arial" panose="020B0604020202020204" pitchFamily="34" charset="0"/>
              <a:buNone/>
            </a:pPr>
            <a:r>
              <a:t>Align your experience with the job structure to present relevant evidence on your resume.</a:t>
            </a:r>
            <a:endParaRPr lang="en-US"/>
          </a:p>
          <a:p>
            <a:pPr marL="0" indent="0">
              <a:spcBef>
                <a:spcPts val="2500"/>
              </a:spcBef>
              <a:buFont typeface="Arial" panose="020B0604020202020204" pitchFamily="34" charset="0"/>
              <a:buNone/>
            </a:pPr>
            <a:r>
              <a:rPr lang="en-US" b="1"/>
              <a:t>Improve ATS and Recruiter Fit</a:t>
            </a:r>
          </a:p>
          <a:p>
            <a:pPr marL="0" lvl="1" indent="0">
              <a:buFont typeface="Arial" panose="020B0604020202020204" pitchFamily="34" charset="0"/>
              <a:buNone/>
            </a:pPr>
            <a:r>
              <a:t>Focus on employer-defined needs to enhance applicant tracking system alignment and recruiter understanding.</a:t>
            </a:r>
            <a:endParaRPr lang="en-US"/>
          </a:p>
        </p:txBody>
      </p:sp>
    </p:spTree>
    <p:extLst>
      <p:ext uri="{BB962C8B-B14F-4D97-AF65-F5344CB8AC3E}">
        <p14:creationId xmlns:p14="http://schemas.microsoft.com/office/powerpoint/2010/main" val="2444485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FC9C6-D3B1-1CBD-C502-BC70EB44B57B}"/>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Identifying Required vs. Preferred Qualifications</a:t>
            </a:r>
          </a:p>
        </p:txBody>
      </p:sp>
      <p:pic>
        <p:nvPicPr>
          <p:cNvPr id="5" name="Content Placeholder 4" descr="Checklist with checkboxes ticked by red pen.">
            <a:extLst>
              <a:ext uri="{FF2B5EF4-FFF2-40B4-BE49-F238E27FC236}">
                <a16:creationId xmlns:a16="http://schemas.microsoft.com/office/drawing/2014/main" id="{E429C1F3-98F1-4758-B5B2-33C8F0C72C13}"/>
              </a:ext>
            </a:extLst>
          </p:cNvPr>
          <p:cNvPicPr>
            <a:picLocks noGrp="1" noChangeAspect="1"/>
          </p:cNvPicPr>
          <p:nvPr>
            <p:ph type="pic" sz="quarter" idx="18"/>
          </p:nvPr>
        </p:nvPicPr>
        <p:blipFill>
          <a:blip r:embed="rId3"/>
          <a:srcRect l="4715" r="28536"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D15244C8-2E8B-BB6C-0349-95CC8440C8D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Required Qualifications Definition</a:t>
            </a:r>
          </a:p>
          <a:p>
            <a:pPr marL="0" lvl="1" indent="0">
              <a:buFont typeface="Arial" panose="020B0604020202020204" pitchFamily="34" charset="0"/>
              <a:buNone/>
            </a:pPr>
            <a:r>
              <a:t>These are essential skills and competencies an employer demands for a job position to ensure eligibility.</a:t>
            </a:r>
            <a:endParaRPr lang="en-US"/>
          </a:p>
          <a:p>
            <a:pPr marL="0" indent="0">
              <a:spcBef>
                <a:spcPts val="2500"/>
              </a:spcBef>
              <a:buFont typeface="Arial" panose="020B0604020202020204" pitchFamily="34" charset="0"/>
              <a:buNone/>
            </a:pPr>
            <a:r>
              <a:rPr lang="en-US" b="1"/>
              <a:t>Preferred Qualifications Role</a:t>
            </a:r>
          </a:p>
          <a:p>
            <a:pPr marL="0" lvl="1" indent="0">
              <a:buFont typeface="Arial" panose="020B0604020202020204" pitchFamily="34" charset="0"/>
              <a:buNone/>
            </a:pPr>
            <a:r>
              <a:t>Preferred qualifications are additional skills that enhance candidacy but are not mandatory for the role.</a:t>
            </a:r>
            <a:endParaRPr lang="en-US"/>
          </a:p>
          <a:p>
            <a:pPr marL="0" indent="0">
              <a:spcBef>
                <a:spcPts val="2500"/>
              </a:spcBef>
              <a:buFont typeface="Arial" panose="020B0604020202020204" pitchFamily="34" charset="0"/>
              <a:buNone/>
            </a:pPr>
            <a:r>
              <a:rPr lang="en-US" b="1"/>
              <a:t>Balancing Qualifications</a:t>
            </a:r>
          </a:p>
          <a:p>
            <a:pPr marL="0" lvl="1" indent="0">
              <a:buFont typeface="Arial" panose="020B0604020202020204" pitchFamily="34" charset="0"/>
              <a:buNone/>
            </a:pPr>
            <a:r>
              <a:t>Candidates should emphasize required skills while including preferred ones authentically to stand out without losing clarity.</a:t>
            </a:r>
            <a:endParaRPr lang="en-US"/>
          </a:p>
          <a:p>
            <a:pPr marL="0" indent="0">
              <a:spcBef>
                <a:spcPts val="2500"/>
              </a:spcBef>
              <a:buFont typeface="Arial" panose="020B0604020202020204" pitchFamily="34" charset="0"/>
              <a:buNone/>
            </a:pPr>
            <a:r>
              <a:rPr lang="en-US" b="1"/>
              <a:t>Impact on Entry-Level Applicants</a:t>
            </a:r>
          </a:p>
          <a:p>
            <a:pPr marL="0" lvl="1" indent="0">
              <a:buFont typeface="Arial" panose="020B0604020202020204" pitchFamily="34" charset="0"/>
              <a:buNone/>
            </a:pPr>
            <a:r>
              <a:t>Preferred skills help entry-level applicants offset limited experience by showcasing extra capabilities.</a:t>
            </a:r>
            <a:endParaRPr lang="en-US"/>
          </a:p>
        </p:txBody>
      </p:sp>
    </p:spTree>
    <p:extLst>
      <p:ext uri="{BB962C8B-B14F-4D97-AF65-F5344CB8AC3E}">
        <p14:creationId xmlns:p14="http://schemas.microsoft.com/office/powerpoint/2010/main" val="504555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8547-6476-D48D-A287-B08AF35E2255}"/>
              </a:ext>
            </a:extLst>
          </p:cNvPr>
          <p:cNvSpPr>
            <a:spLocks noGrp="1"/>
          </p:cNvSpPr>
          <p:nvPr>
            <p:ph type="title"/>
          </p:nvPr>
        </p:nvSpPr>
        <p:spPr>
          <a:xfrm>
            <a:off x="1124711" y="1042416"/>
            <a:ext cx="8778239" cy="859536"/>
          </a:xfrm>
        </p:spPr>
        <p:txBody>
          <a:bodyPr anchor="b">
            <a:normAutofit/>
          </a:bodyPr>
          <a:lstStyle/>
          <a:p>
            <a:pPr>
              <a:lnSpc>
                <a:spcPct val="110000"/>
              </a:lnSpc>
            </a:pPr>
            <a:r>
              <a:rPr lang="en-US" sz="2200"/>
              <a:t>Keyword Alignment Without Keyword Stuffing</a:t>
            </a:r>
          </a:p>
        </p:txBody>
      </p:sp>
      <p:graphicFrame>
        <p:nvGraphicFramePr>
          <p:cNvPr id="7" name="Content Placeholder 2">
            <a:extLst>
              <a:ext uri="{FF2B5EF4-FFF2-40B4-BE49-F238E27FC236}">
                <a16:creationId xmlns:a16="http://schemas.microsoft.com/office/drawing/2014/main" id="{2574FF3A-1442-A90A-94A8-0880D7902082}"/>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881094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599D2-EF76-F3A7-84E8-945AC929EC1E}"/>
              </a:ext>
            </a:extLst>
          </p:cNvPr>
          <p:cNvSpPr>
            <a:spLocks noGrp="1"/>
          </p:cNvSpPr>
          <p:nvPr>
            <p:ph type="ctrTitle"/>
          </p:nvPr>
        </p:nvSpPr>
        <p:spPr>
          <a:xfrm>
            <a:off x="992091" y="2514602"/>
            <a:ext cx="6812280" cy="3194302"/>
          </a:xfrm>
        </p:spPr>
        <p:txBody>
          <a:bodyPr anchor="b">
            <a:normAutofit/>
          </a:bodyPr>
          <a:lstStyle/>
          <a:p>
            <a:r>
              <a:rPr lang="en-US"/>
              <a:t>Practical Resume Checklist</a:t>
            </a:r>
          </a:p>
        </p:txBody>
      </p:sp>
    </p:spTree>
    <p:extLst>
      <p:ext uri="{BB962C8B-B14F-4D97-AF65-F5344CB8AC3E}">
        <p14:creationId xmlns:p14="http://schemas.microsoft.com/office/powerpoint/2010/main" val="41524486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D96A6-BFFD-BEC3-5E25-977232837FF8}"/>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Formatting Recommendations for ATS Compatibility</a:t>
            </a:r>
          </a:p>
        </p:txBody>
      </p:sp>
      <p:pic>
        <p:nvPicPr>
          <p:cNvPr id="5" name="Content Placeholder 4" descr="Adorable little dog finding comfort and security surrounded by pillows">
            <a:extLst>
              <a:ext uri="{FF2B5EF4-FFF2-40B4-BE49-F238E27FC236}">
                <a16:creationId xmlns:a16="http://schemas.microsoft.com/office/drawing/2014/main" id="{0F9506A8-C6CC-41FC-AFBB-97E99C5EBDE1}"/>
              </a:ext>
            </a:extLst>
          </p:cNvPr>
          <p:cNvPicPr>
            <a:picLocks noGrp="1" noChangeAspect="1"/>
          </p:cNvPicPr>
          <p:nvPr>
            <p:ph type="pic" sz="quarter" idx="18"/>
          </p:nvPr>
        </p:nvPicPr>
        <p:blipFill>
          <a:blip r:embed="rId3"/>
          <a:srcRect l="12451" r="14552" b="3"/>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AD2B95C7-DFBA-BD6C-B557-4BED5B0FBAE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Use Standard Fonts</a:t>
            </a:r>
          </a:p>
          <a:p>
            <a:pPr marL="0" lvl="1" indent="0">
              <a:buFont typeface="Arial" panose="020B0604020202020204" pitchFamily="34" charset="0"/>
              <a:buNone/>
            </a:pPr>
            <a:r>
              <a:t>Standard fonts like Arial or Calibri improve parsing accuracy in ATS systems by enhancing legibility.</a:t>
            </a:r>
            <a:endParaRPr lang="en-US"/>
          </a:p>
          <a:p>
            <a:pPr marL="0" indent="0">
              <a:spcBef>
                <a:spcPts val="2500"/>
              </a:spcBef>
              <a:buFont typeface="Arial" panose="020B0604020202020204" pitchFamily="34" charset="0"/>
              <a:buNone/>
            </a:pPr>
            <a:r>
              <a:rPr lang="en-US" b="1"/>
              <a:t>Preferred File Format</a:t>
            </a:r>
          </a:p>
          <a:p>
            <a:pPr marL="0" lvl="1" indent="0">
              <a:buFont typeface="Arial" panose="020B0604020202020204" pitchFamily="34" charset="0"/>
              <a:buNone/>
            </a:pPr>
            <a:r>
              <a:t>Using .docx format is preferred for ATS compatibility unless the employer specifies PDF acceptance.</a:t>
            </a:r>
            <a:endParaRPr lang="en-US"/>
          </a:p>
          <a:p>
            <a:pPr marL="0" indent="0">
              <a:spcBef>
                <a:spcPts val="2500"/>
              </a:spcBef>
              <a:buFont typeface="Arial" panose="020B0604020202020204" pitchFamily="34" charset="0"/>
              <a:buNone/>
            </a:pPr>
            <a:r>
              <a:rPr lang="en-US" b="1"/>
              <a:t>Avoid Complex Formatting</a:t>
            </a:r>
          </a:p>
          <a:p>
            <a:pPr marL="0" lvl="1" indent="0">
              <a:buFont typeface="Arial" panose="020B0604020202020204" pitchFamily="34" charset="0"/>
              <a:buNone/>
            </a:pPr>
            <a:r>
              <a:t>Avoid text boxes, tables, images, and multiple columns to reduce parsing errors in ATS.</a:t>
            </a:r>
            <a:endParaRPr lang="en-US"/>
          </a:p>
          <a:p>
            <a:pPr marL="0" indent="0">
              <a:spcBef>
                <a:spcPts val="2500"/>
              </a:spcBef>
              <a:buFont typeface="Arial" panose="020B0604020202020204" pitchFamily="34" charset="0"/>
              <a:buNone/>
            </a:pPr>
            <a:r>
              <a:rPr lang="en-US" b="1"/>
              <a:t>Consistent Headings and Bullets</a:t>
            </a:r>
          </a:p>
          <a:p>
            <a:pPr marL="0" lvl="1" indent="0">
              <a:buFont typeface="Arial" panose="020B0604020202020204" pitchFamily="34" charset="0"/>
              <a:buNone/>
            </a:pPr>
            <a:r>
              <a:t>Use standard section headings and consistent bullet points for better interpretation by ATS and recruiters.</a:t>
            </a:r>
            <a:endParaRPr lang="en-US"/>
          </a:p>
        </p:txBody>
      </p:sp>
    </p:spTree>
    <p:extLst>
      <p:ext uri="{BB962C8B-B14F-4D97-AF65-F5344CB8AC3E}">
        <p14:creationId xmlns:p14="http://schemas.microsoft.com/office/powerpoint/2010/main" val="19228294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55F2-CB1D-B902-5766-CB4B29AA4A8B}"/>
              </a:ext>
            </a:extLst>
          </p:cNvPr>
          <p:cNvSpPr>
            <a:spLocks noGrp="1"/>
          </p:cNvSpPr>
          <p:nvPr>
            <p:ph type="title"/>
          </p:nvPr>
        </p:nvSpPr>
        <p:spPr>
          <a:xfrm>
            <a:off x="1124711" y="1042416"/>
            <a:ext cx="8778239" cy="859536"/>
          </a:xfrm>
        </p:spPr>
        <p:txBody>
          <a:bodyPr anchor="b">
            <a:normAutofit/>
          </a:bodyPr>
          <a:lstStyle/>
          <a:p>
            <a:r>
              <a:rPr lang="en-US"/>
              <a:t>Structure Checklist</a:t>
            </a:r>
          </a:p>
        </p:txBody>
      </p:sp>
      <p:graphicFrame>
        <p:nvGraphicFramePr>
          <p:cNvPr id="7" name="Content Placeholder 2">
            <a:extLst>
              <a:ext uri="{FF2B5EF4-FFF2-40B4-BE49-F238E27FC236}">
                <a16:creationId xmlns:a16="http://schemas.microsoft.com/office/drawing/2014/main" id="{100589C7-302E-6A2B-3982-E49799B35F56}"/>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15713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5DB0-38C0-03C5-310E-0E6CFBE4ECEB}"/>
              </a:ext>
            </a:extLst>
          </p:cNvPr>
          <p:cNvSpPr>
            <a:spLocks noGrp="1"/>
          </p:cNvSpPr>
          <p:nvPr>
            <p:ph type="title"/>
          </p:nvPr>
        </p:nvSpPr>
        <p:spPr>
          <a:xfrm>
            <a:off x="1124711" y="1042416"/>
            <a:ext cx="8778239" cy="859536"/>
          </a:xfrm>
        </p:spPr>
        <p:txBody>
          <a:bodyPr anchor="b">
            <a:normAutofit/>
          </a:bodyPr>
          <a:lstStyle/>
          <a:p>
            <a:r>
              <a:rPr lang="en-US"/>
              <a:t>Impact and Alignment Checklist</a:t>
            </a:r>
          </a:p>
        </p:txBody>
      </p:sp>
      <p:graphicFrame>
        <p:nvGraphicFramePr>
          <p:cNvPr id="7" name="Content Placeholder 2">
            <a:extLst>
              <a:ext uri="{FF2B5EF4-FFF2-40B4-BE49-F238E27FC236}">
                <a16:creationId xmlns:a16="http://schemas.microsoft.com/office/drawing/2014/main" id="{37303AB9-2B7F-3403-298C-A4C0C2FAB6CF}"/>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928500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64E61-7D63-EBAE-C13A-0BC3D5ACE6D9}"/>
              </a:ext>
            </a:extLst>
          </p:cNvPr>
          <p:cNvSpPr>
            <a:spLocks noGrp="1"/>
          </p:cNvSpPr>
          <p:nvPr>
            <p:ph type="ctrTitle"/>
          </p:nvPr>
        </p:nvSpPr>
        <p:spPr>
          <a:xfrm>
            <a:off x="992091" y="2514602"/>
            <a:ext cx="6812280" cy="3194302"/>
          </a:xfrm>
        </p:spPr>
        <p:txBody>
          <a:bodyPr anchor="b">
            <a:normAutofit/>
          </a:bodyPr>
          <a:lstStyle/>
          <a:p>
            <a:r>
              <a:rPr lang="en-US"/>
              <a:t>Conclusion</a:t>
            </a:r>
          </a:p>
        </p:txBody>
      </p:sp>
    </p:spTree>
    <p:extLst>
      <p:ext uri="{BB962C8B-B14F-4D97-AF65-F5344CB8AC3E}">
        <p14:creationId xmlns:p14="http://schemas.microsoft.com/office/powerpoint/2010/main" val="3357335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22147-8674-3A18-EA57-9BDEE806EC21}"/>
              </a:ext>
            </a:extLst>
          </p:cNvPr>
          <p:cNvSpPr>
            <a:spLocks noGrp="1"/>
          </p:cNvSpPr>
          <p:nvPr>
            <p:ph type="title"/>
          </p:nvPr>
        </p:nvSpPr>
        <p:spPr>
          <a:xfrm>
            <a:off x="1124711" y="1042416"/>
            <a:ext cx="8778239" cy="859536"/>
          </a:xfrm>
        </p:spPr>
        <p:txBody>
          <a:bodyPr anchor="b">
            <a:normAutofit/>
          </a:bodyPr>
          <a:lstStyle/>
          <a:p>
            <a:pPr>
              <a:lnSpc>
                <a:spcPct val="110000"/>
              </a:lnSpc>
            </a:pPr>
            <a:r>
              <a:rPr lang="en-US" sz="2200"/>
              <a:t>Designing a Resume That Competes in Structured Hiring Systems</a:t>
            </a:r>
          </a:p>
        </p:txBody>
      </p:sp>
      <p:graphicFrame>
        <p:nvGraphicFramePr>
          <p:cNvPr id="7" name="Content Placeholder 2">
            <a:extLst>
              <a:ext uri="{FF2B5EF4-FFF2-40B4-BE49-F238E27FC236}">
                <a16:creationId xmlns:a16="http://schemas.microsoft.com/office/drawing/2014/main" id="{95FE8EC2-D94C-3464-5195-B9D36FF99DC4}"/>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3167186"/>
      </p:ext>
    </p:extLst>
  </p:cSld>
  <p:clrMapOvr>
    <a:masterClrMapping/>
  </p:clrMapOvr>
  <p:transition>
    <p:fade/>
  </p:transition>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91a20c6-7779-4c7e-8e3a-acf878330878" xsi:nil="true"/>
    <MediaServiceKeyPoints xmlns="194603e3-38c2-4ee5-8f94-33c99f98e49d" xsi:nil="true"/>
    <lcf76f155ced4ddcb4097134ff3c332f xmlns="194603e3-38c2-4ee5-8f94-33c99f98e49d">
      <Terms xmlns="http://schemas.microsoft.com/office/infopath/2007/PartnerControls"/>
    </lcf76f155ced4ddcb4097134ff3c332f>
    <Videoinfo xmlns="194603e3-38c2-4ee5-8f94-33c99f98e49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D286F105BDD214FA81D4A6BFB238CC4" ma:contentTypeVersion="19" ma:contentTypeDescription="Create a new document." ma:contentTypeScope="" ma:versionID="fe64a8a06ac5abb6f1946da17dd894f6">
  <xsd:schema xmlns:xsd="http://www.w3.org/2001/XMLSchema" xmlns:xs="http://www.w3.org/2001/XMLSchema" xmlns:p="http://schemas.microsoft.com/office/2006/metadata/properties" xmlns:ns2="991a20c6-7779-4c7e-8e3a-acf878330878" xmlns:ns3="194603e3-38c2-4ee5-8f94-33c99f98e49d" targetNamespace="http://schemas.microsoft.com/office/2006/metadata/properties" ma:root="true" ma:fieldsID="39ee7167373acdab14387c30e3645137" ns2:_="" ns3:_="">
    <xsd:import namespace="991a20c6-7779-4c7e-8e3a-acf878330878"/>
    <xsd:import namespace="194603e3-38c2-4ee5-8f94-33c99f98e49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lcf76f155ced4ddcb4097134ff3c332f" minOccurs="0"/>
                <xsd:element ref="ns2:TaxCatchAll" minOccurs="0"/>
                <xsd:element ref="ns3:MediaServiceSearchProperties" minOccurs="0"/>
                <xsd:element ref="ns3:MediaLengthInSeconds" minOccurs="0"/>
                <xsd:element ref="ns3:Videoinfo"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a20c6-7779-4c7e-8e3a-acf87833087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07b50ae-e15c-491e-9502-aec67d0a10f6}" ma:internalName="TaxCatchAll" ma:showField="CatchAllData" ma:web="991a20c6-7779-4c7e-8e3a-acf8783308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03e3-38c2-4ee5-8f94-33c99f98e49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468a54d-6a37-4c52-9176-b0e2c72a8f97"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Videoinfo" ma:index="24" nillable="true" ma:displayName="Video info" ma:format="Dropdown" ma:internalName="Videoinfo">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98A4A3-E691-488B-80DD-C39460F0CA79}">
  <ds:schemaRefs>
    <ds:schemaRef ds:uri="http://schemas.microsoft.com/sharepoint/v3/contenttype/forms"/>
  </ds:schemaRefs>
</ds:datastoreItem>
</file>

<file path=customXml/itemProps2.xml><?xml version="1.0" encoding="utf-8"?>
<ds:datastoreItem xmlns:ds="http://schemas.openxmlformats.org/officeDocument/2006/customXml" ds:itemID="{8230244F-B41E-4EF0-A264-C4482E5B071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7BF99FB-5D8E-4661-81BB-5410F69A0B5C}"/>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Portal</Template>
  <TotalTime>91</TotalTime>
  <Words>4788</Words>
  <Application>Microsoft Office PowerPoint</Application>
  <PresentationFormat>Widescreen</PresentationFormat>
  <Paragraphs>232</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Trade Gothic Next Cond</vt:lpstr>
      <vt:lpstr>Trade Gothic Next Light</vt:lpstr>
      <vt:lpstr>Portal</vt:lpstr>
      <vt:lpstr>Week 2 — Building a Resume That Survives the Filter: Structure, Measurable Impact, and ATS Alignment</vt:lpstr>
      <vt:lpstr>The Resume as a Signal</vt:lpstr>
      <vt:lpstr>How Resumes Function in High-Volume Hiring Environments</vt:lpstr>
      <vt:lpstr>How Recruiters Process Information Quickly</vt:lpstr>
      <vt:lpstr>Why Clarity and Structure Reduce Cognitive Load</vt:lpstr>
      <vt:lpstr>How ATS Systems Parse and Filter</vt:lpstr>
      <vt:lpstr>How ATS Systems Read and Structure Resume Data</vt:lpstr>
      <vt:lpstr>Common Parsing Failures</vt:lpstr>
      <vt:lpstr>Alignment With Job Descriptions and Required Qualifications</vt:lpstr>
      <vt:lpstr>Structure That Improves Scan-Ability</vt:lpstr>
      <vt:lpstr>Research on Recruiter Eye-Tracking and Resume Scanning</vt:lpstr>
      <vt:lpstr>Importance of Job Titles, Employer Names, and Dates</vt:lpstr>
      <vt:lpstr>Visual Hierarchy and Information Density</vt:lpstr>
      <vt:lpstr>Measurable Impact vs. Responsibilities</vt:lpstr>
      <vt:lpstr>Evidence on Quantified Achievements in Hiring Decisions</vt:lpstr>
      <vt:lpstr>Difference Between Task-Based Bullets and Results-Based Bullets</vt:lpstr>
      <vt:lpstr>Examples of Transforming Weak Bullets Into Measurable Impact Statements</vt:lpstr>
      <vt:lpstr>Resume Alignment Strategy</vt:lpstr>
      <vt:lpstr>How to Analyze a Job Description</vt:lpstr>
      <vt:lpstr>Identifying Required vs. Preferred Qualifications</vt:lpstr>
      <vt:lpstr>Keyword Alignment Without Keyword Stuffing</vt:lpstr>
      <vt:lpstr>Practical Resume Checklist</vt:lpstr>
      <vt:lpstr>Formatting Recommendations for ATS Compatibility</vt:lpstr>
      <vt:lpstr>Structure Checklist</vt:lpstr>
      <vt:lpstr>Impact and Alignment Checklist</vt:lpstr>
      <vt:lpstr>Conclusion</vt:lpstr>
      <vt:lpstr>Designing a Resume That Competes in Structured Hiring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K</dc:creator>
  <cp:lastModifiedBy>Matthew Kohlmorgen</cp:lastModifiedBy>
  <cp:revision>2</cp:revision>
  <dcterms:created xsi:type="dcterms:W3CDTF">2025-08-21T17:42:37Z</dcterms:created>
  <dcterms:modified xsi:type="dcterms:W3CDTF">2026-02-25T20:04:17Z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0x010100AD286F105BDD214FA81D4A6BFB238CC4</vt:lpwstr>
  </property>
</Properties>
</file>