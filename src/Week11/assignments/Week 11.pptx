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ilience &amp; The Long Game" id="{CA3A6E29-3954-4743-AEEF-ADF52752C267}">
          <p14:sldIdLst>
            <p14:sldId id="2561"/>
          </p14:sldIdLst>
        </p14:section>
        <p14:section name="Resilience During a Slow Job Search" id="{8D912F86-A917-44F4-A3C5-6709E9EFD8BB}">
          <p14:sldIdLst>
            <p14:sldId id="2562"/>
            <p14:sldId id="2563"/>
            <p14:sldId id="2564"/>
            <p14:sldId id="2565"/>
            <p14:sldId id="2566"/>
            <p14:sldId id="2567"/>
            <p14:sldId id="2568"/>
            <p14:sldId id="2569"/>
            <p14:sldId id="2570"/>
            <p14:sldId id="2571"/>
            <p14:sldId id="257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416785-E7DA-F8A5-0202-6FE13BDAB0A9}" v="1" dt="2026-03-16T15:06:48.5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105" d="100"/>
          <a:sy n="105" d="100"/>
        </p:scale>
        <p:origin x="834" y="96"/>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76B7FE-568D-4485-AB91-26A9310E3902}" type="datetimeFigureOut">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037C18-590C-49FF-9CED-1A511ECDAAE9}" type="slidenum">
              <a:t>‹#›</a:t>
            </a:fld>
            <a:endParaRPr lang="en-US"/>
          </a:p>
        </p:txBody>
      </p:sp>
    </p:spTree>
    <p:extLst>
      <p:ext uri="{BB962C8B-B14F-4D97-AF65-F5344CB8AC3E}">
        <p14:creationId xmlns:p14="http://schemas.microsoft.com/office/powerpoint/2010/main" val="709395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a:t>
            </a:r>
          </a:p>
        </p:txBody>
      </p:sp>
      <p:sp>
        <p:nvSpPr>
          <p:cNvPr id="4" name="Slide Number Placeholder 3"/>
          <p:cNvSpPr>
            <a:spLocks noGrp="1"/>
          </p:cNvSpPr>
          <p:nvPr>
            <p:ph type="sldNum" sz="quarter" idx="5"/>
          </p:nvPr>
        </p:nvSpPr>
        <p:spPr/>
        <p:txBody>
          <a:bodyPr/>
          <a:lstStyle/>
          <a:p>
            <a:fld id="{6FE1ECC9-533B-4B24-87F5-85EA5D7846B9}" type="slidenum">
              <a:t>1</a:t>
            </a:fld>
            <a:endParaRPr lang="en-US"/>
          </a:p>
        </p:txBody>
      </p:sp>
    </p:spTree>
    <p:extLst>
      <p:ext uri="{BB962C8B-B14F-4D97-AF65-F5344CB8AC3E}">
        <p14:creationId xmlns:p14="http://schemas.microsoft.com/office/powerpoint/2010/main" val="968175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Resilience &amp; The Long Game, What's Actually Happening in Your Brain, The Strategy Problem: Why Mass Applying Fails, Rejection Is Data, Not a Verdict, The Rejection Ritual: A Three‑Part Framework, Process Goals vs. Outcome Goals, Mindset Shifts That Actually Work, The Long Game Perspective, When to Get Real Support, Your Action Step This Week</a:t>
            </a:r>
          </a:p>
        </p:txBody>
      </p:sp>
      <p:sp>
        <p:nvSpPr>
          <p:cNvPr id="4" name="Slide Number Placeholder 3"/>
          <p:cNvSpPr>
            <a:spLocks noGrp="1"/>
          </p:cNvSpPr>
          <p:nvPr>
            <p:ph type="sldNum" sz="quarter" idx="5"/>
          </p:nvPr>
        </p:nvSpPr>
        <p:spPr/>
        <p:txBody>
          <a:bodyPr/>
          <a:lstStyle/>
          <a:p>
            <a:fld id="{6FE1ECC9-533B-4B24-87F5-85EA5D7846B9}" type="slidenum">
              <a:t>2</a:t>
            </a:fld>
            <a:endParaRPr lang="en-US"/>
          </a:p>
        </p:txBody>
      </p:sp>
    </p:spTree>
    <p:extLst>
      <p:ext uri="{BB962C8B-B14F-4D97-AF65-F5344CB8AC3E}">
        <p14:creationId xmlns:p14="http://schemas.microsoft.com/office/powerpoint/2010/main" val="19743863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workshop starts from an honest place: a slow job search can hurt, especially early in your career when you expected momentum and instead met silence. Psychology and career research show that this experience is not a personal failure, but a predictable stressor that challenges confidence, motivation, and emotional regulation. Studies on Job Search Self‑Efficacy (JSSE) consistently find that believing you can carry out job‑search tasks effectively is strongly linked to persistence and better outcomes, even when labor markets are unstable. Importantly, this belief is not a personality trait you either have or lack. Research frames it as a skill that can be built through practice, feedback, and small, repeatable wins. Systematic reviews of unemployment interventions reinforce this idea: people do better when psychological skills like cognitive behavioral strategies and resilience training are combined with practical job‑search coaching. In other words, mindset alone is not enough, and tactics alone are not enough. The most effective approach treats emotional resilience and strategic action as a single system. This presentation is designed to help you stabilize that system during a discouraging stretch. The goal is not to pretend rejection doesn’t sting, or to push toxic positivity. It is to help you understand what is happening, regain a sense of agency, and make choices that protect both your mental health and your long‑term career trajectory. The long game matters because early career paths are rarely linear. Research on long‑term career development emphasizes multi‑step growth, skill accumulation, and psychological capital—hope, optimism, self‑efficacy, and resilience—as foundations for both well‑being and re‑employment. This workshop frames your current search as one demanding chapter in a much longer story, not a verdict on your ability or future. **Reframe:** This season is not proof you are behind; it is training in skills you will use for decades. 
 Image source: Microsoft 365 content library</a:t>
            </a:r>
          </a:p>
        </p:txBody>
      </p:sp>
      <p:sp>
        <p:nvSpPr>
          <p:cNvPr id="4" name="Slide Number Placeholder 3"/>
          <p:cNvSpPr>
            <a:spLocks noGrp="1"/>
          </p:cNvSpPr>
          <p:nvPr>
            <p:ph type="sldNum" sz="quarter" idx="5"/>
          </p:nvPr>
        </p:nvSpPr>
        <p:spPr/>
        <p:txBody>
          <a:bodyPr/>
          <a:lstStyle/>
          <a:p>
            <a:fld id="{6FE1ECC9-533B-4B24-87F5-85EA5D7846B9}" type="slidenum">
              <a:t>3</a:t>
            </a:fld>
            <a:endParaRPr lang="en-US"/>
          </a:p>
        </p:txBody>
      </p:sp>
    </p:spTree>
    <p:extLst>
      <p:ext uri="{BB962C8B-B14F-4D97-AF65-F5344CB8AC3E}">
        <p14:creationId xmlns:p14="http://schemas.microsoft.com/office/powerpoint/2010/main" val="1311717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Repeated rejection during a job search does more than bruise confidence; it activates well‑documented psychological and neurological stress responses. Research and clinical psychology writing describe how ongoing uncertainty and negative feedback trigger threat circuits in the brain. Over time, this can lead to learned helplessness, a state where people reduce effort not because they are lazy or incapable, but because past attempts did not produce results. In a job search, learned helplessness often shows up as avoidance, numbing, or compulsive mass applying that feels busy but disconnected from strategy. Studies on unemployment and mental health show that prolonged job searching is associated with higher rates of depression and anxiety, while re‑employment improves mental health outcomes. This connection explains why motivation can drop sharply even when you intellectually know you “should keep going.” Importantly, the research also shows that this cycle can be interrupted. Interventions that restore structure, predictability, and a sense of control—such as daily routines, defined job‑search blocks, and achievable process goals—help calm threat responses and re‑engage problem‑solving. Cognitive behavioral techniques are especially effective here. Tracking automatic thoughts like “I’ll never get hired” and replacing them with evidence‑based alternatives helps shift attribution from personal deficiency to modifiable factors like strategy, fit, and timing. Neuroscience‑informed career psychology emphasizes that your brain is responding normally to sustained stress. The solution is not willpower, but systems that rebuild efficacy through action you can control. **Bold reframe:** Your brain isn’t broken—it’s reacting predictably to repeated uncertainty, and it can be retrained with the right supports. 
 Image source: Microsoft 365 content library</a:t>
            </a:r>
          </a:p>
        </p:txBody>
      </p:sp>
      <p:sp>
        <p:nvSpPr>
          <p:cNvPr id="4" name="Slide Number Placeholder 3"/>
          <p:cNvSpPr>
            <a:spLocks noGrp="1"/>
          </p:cNvSpPr>
          <p:nvPr>
            <p:ph type="sldNum" sz="quarter" idx="5"/>
          </p:nvPr>
        </p:nvSpPr>
        <p:spPr/>
        <p:txBody>
          <a:bodyPr/>
          <a:lstStyle/>
          <a:p>
            <a:fld id="{6FE1ECC9-533B-4B24-87F5-85EA5D7846B9}" type="slidenum">
              <a:t>4</a:t>
            </a:fld>
            <a:endParaRPr lang="en-US"/>
          </a:p>
        </p:txBody>
      </p:sp>
    </p:spTree>
    <p:extLst>
      <p:ext uri="{BB962C8B-B14F-4D97-AF65-F5344CB8AC3E}">
        <p14:creationId xmlns:p14="http://schemas.microsoft.com/office/powerpoint/2010/main" val="3421037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One of the most discouraging patterns in modern job searches is the gap between effort and response. Research and career platform data show that application volumes have increased dramatically since 2022, but this surge has not translated into more offers. Instead, mass or “spray‑and‑pray” applying primarily increases silence and automated rejections. Coaching and labor‑market research consistently find that targeted, tailored applications generate three to five times more responses than generic submissions. This difference matters not only for outcomes, but for resilience. Sending hundreds of applications with little feedback reinforces helplessness by disconnecting effort from results. Strategic job searching reverses that pattern. Research‑aligned strategies recommend identifying a focused set of roles and companies, tailoring materials to those roles, and tracking metrics such as response rate or interviews per ten applications. These metrics provide concrete feedback loops that allow adjustment instead of self‑blame. Psychology‑informed career guidance also highlights that visible improvement in hit rate— even small gains—can significantly boost job‑search self‑efficacy. When you can see that a change in approach leads to a change in outcomes, your brain relearns that effort matters. This does not mean applying to fewer roles forever, but it does mean being deliberate about when and why you broaden. Strategic phases protect both emotional energy and confidence. **Key reframe:** Silence is usually a strategy signal, not a verdict on your potential or value. 
 Image source: Microsoft 365 content library</a:t>
            </a:r>
          </a:p>
        </p:txBody>
      </p:sp>
      <p:sp>
        <p:nvSpPr>
          <p:cNvPr id="4" name="Slide Number Placeholder 3"/>
          <p:cNvSpPr>
            <a:spLocks noGrp="1"/>
          </p:cNvSpPr>
          <p:nvPr>
            <p:ph type="sldNum" sz="quarter" idx="5"/>
          </p:nvPr>
        </p:nvSpPr>
        <p:spPr/>
        <p:txBody>
          <a:bodyPr/>
          <a:lstStyle/>
          <a:p>
            <a:fld id="{6FE1ECC9-533B-4B24-87F5-85EA5D7846B9}" type="slidenum">
              <a:t>5</a:t>
            </a:fld>
            <a:endParaRPr lang="en-US"/>
          </a:p>
        </p:txBody>
      </p:sp>
    </p:spTree>
    <p:extLst>
      <p:ext uri="{BB962C8B-B14F-4D97-AF65-F5344CB8AC3E}">
        <p14:creationId xmlns:p14="http://schemas.microsoft.com/office/powerpoint/2010/main" val="321027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Career psychology research strongly supports reframing rejection as information rather than identity. A rejection does not measure your worth, intelligence, or long‑term potential. It reflects fit, timing, competition, and tactics at a specific moment. Cognitive behavioral approaches applied to job search show that how you interpret rejection directly affects persistence, emotional well‑being, and future performance. When rejection is framed globally—“I’m not good enough”—motivation drops and avoidance increases. When it is framed specifically—“This application didn’t align well enough”—people are more likely to adjust and continue. Practical exercises supported by coaching research include explicitly labeling each rejection as “not the right fit, at this moment” and identifying controllable variables such as resume targeting, networking approach, or interview preparation. Writing down what you learned after a rejection helps externalize the experience and prevents it from becoming an internal verdict. Systematic reviews of unemployment interventions show that attribution retraining—shifting explanations from internal, permanent causes to external, changeable ones—improves both mental health and re‑employment outcomes. This reframing does not deny disappointment; it gives disappointment a useful role. **Bold callout:** Rejection is feedback about strategy and fit, not a statement about who you are or what you’re worth. 
 Image source: Microsoft 365 content library</a:t>
            </a:r>
          </a:p>
        </p:txBody>
      </p:sp>
      <p:sp>
        <p:nvSpPr>
          <p:cNvPr id="4" name="Slide Number Placeholder 3"/>
          <p:cNvSpPr>
            <a:spLocks noGrp="1"/>
          </p:cNvSpPr>
          <p:nvPr>
            <p:ph type="sldNum" sz="quarter" idx="5"/>
          </p:nvPr>
        </p:nvSpPr>
        <p:spPr/>
        <p:txBody>
          <a:bodyPr/>
          <a:lstStyle/>
          <a:p>
            <a:fld id="{6FE1ECC9-533B-4B24-87F5-85EA5D7846B9}" type="slidenum">
              <a:t>6</a:t>
            </a:fld>
            <a:endParaRPr lang="en-US"/>
          </a:p>
        </p:txBody>
      </p:sp>
    </p:spTree>
    <p:extLst>
      <p:ext uri="{BB962C8B-B14F-4D97-AF65-F5344CB8AC3E}">
        <p14:creationId xmlns:p14="http://schemas.microsoft.com/office/powerpoint/2010/main" val="34766511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Research‑aligned coaching emphasizes the value of structured reflection after rejection to prevent emotional spiral and learned helplessness. A simple three‑part rejection ritual creates a learning loop instead of a stress loop. First, identify what you learned. This might include patterns in roles responding, feedback themes, or stages where progress stalls. Second, decide what you will adjust next time. This keeps the focus on controllable inputs such as tailoring, networking, or skill development. Third, name one thing you did well. This step is critical for maintaining job‑search self‑efficacy, as research shows that acknowledging mastery experiences strengthens confidence and persistence. Studies on CBT‑based unemployment interventions show that structured reflection improves attribution style and reduces rumination. Importantly, the ritual should be brief and time‑bounded. Psychology research recommends limiting how long you dwell on rejection to prevent threat circuits from dominating attention. Once the reflection is complete, move directly to a concrete next action, such as revising one bullet on your resume or scheduling one networking conversation. Over time, this ritual trains your brain to associate rejection with adjustment and forward motion, not shutdown. **Reframe:** Every no can become a small step forward if it ends with a decision, not a judgment. 
 Image source: Microsoft 365 content library</a:t>
            </a:r>
          </a:p>
        </p:txBody>
      </p:sp>
      <p:sp>
        <p:nvSpPr>
          <p:cNvPr id="4" name="Slide Number Placeholder 3"/>
          <p:cNvSpPr>
            <a:spLocks noGrp="1"/>
          </p:cNvSpPr>
          <p:nvPr>
            <p:ph type="sldNum" sz="quarter" idx="5"/>
          </p:nvPr>
        </p:nvSpPr>
        <p:spPr/>
        <p:txBody>
          <a:bodyPr/>
          <a:lstStyle/>
          <a:p>
            <a:fld id="{6FE1ECC9-533B-4B24-87F5-85EA5D7846B9}" type="slidenum">
              <a:t>7</a:t>
            </a:fld>
            <a:endParaRPr lang="en-US"/>
          </a:p>
        </p:txBody>
      </p:sp>
    </p:spTree>
    <p:extLst>
      <p:ext uri="{BB962C8B-B14F-4D97-AF65-F5344CB8AC3E}">
        <p14:creationId xmlns:p14="http://schemas.microsoft.com/office/powerpoint/2010/main" val="499784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key finding across resilience and job‑search research is the importance of distinguishing between what you can control and what you cannot. Outcome goals—interviews, offers, timelines—are motivating, but they are not fully controllable. Fixating on them alone increases anxiety and helplessness. Process goals, by contrast, focus on actions within your control, such as the number of tailored applications, networking conversations, or practice sessions per week. Career resilience guides and JSSE research show that confidence grows when people experience mastery over controllable tasks. Process goals also provide daily structure, which systematic reviews identify as protective against the mental‑health impacts of unemployment. This does not mean outcomes do not matter; it means they are lagging indicators. Process goals are leading indicators that keep momentum alive during slow periods. When process goals are met consistently, outcomes tend to follow over time. This approach aligns with CBT principles by anchoring motivation in behavior rather than prediction. **Bold callout:** You can’t control when someone hires, but you can control how skillfully you show up to the search. 
 Image source: Microsoft 365 content library</a:t>
            </a:r>
          </a:p>
        </p:txBody>
      </p:sp>
      <p:sp>
        <p:nvSpPr>
          <p:cNvPr id="4" name="Slide Number Placeholder 3"/>
          <p:cNvSpPr>
            <a:spLocks noGrp="1"/>
          </p:cNvSpPr>
          <p:nvPr>
            <p:ph type="sldNum" sz="quarter" idx="5"/>
          </p:nvPr>
        </p:nvSpPr>
        <p:spPr/>
        <p:txBody>
          <a:bodyPr/>
          <a:lstStyle/>
          <a:p>
            <a:fld id="{6FE1ECC9-533B-4B24-87F5-85EA5D7846B9}" type="slidenum">
              <a:t>8</a:t>
            </a:fld>
            <a:endParaRPr lang="en-US"/>
          </a:p>
        </p:txBody>
      </p:sp>
    </p:spTree>
    <p:extLst>
      <p:ext uri="{BB962C8B-B14F-4D97-AF65-F5344CB8AC3E}">
        <p14:creationId xmlns:p14="http://schemas.microsoft.com/office/powerpoint/2010/main" val="1939325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Research distinguishes between unhelpful positivity and evidence‑based mindset shifts. The latter are grounded in behavioral and cognitive science. Effective strategies include limiting rumination by time‑boxing how long you think about rejection, scheduling pleasant or restorative activities, and practicing gratitude or kindness exercises to rebuild a sense of efficacy. Psychology literature emphasizes that these practices are not distractions; they directly support resilience by broadening attention and restoring emotional regulation. CBT‑style thought tracking is another research‑backed tool. Writing down automatic thoughts and challenging them with evidence improves well‑being and persistence. Career research also highlights the role of psychological capital—hope, optimism, self‑efficacy, and resilience—as a buffer against prolonged stress. These qualities grow through small, repeated wins, not through pressure to “stay positive.” Mindset shifts work best when paired with strategic action, not as a substitute for it. **Reframe:** Resilience is built through habits and evidence, not slogans. 
 Image source: Microsoft 365 content library</a:t>
            </a:r>
          </a:p>
        </p:txBody>
      </p:sp>
      <p:sp>
        <p:nvSpPr>
          <p:cNvPr id="4" name="Slide Number Placeholder 3"/>
          <p:cNvSpPr>
            <a:spLocks noGrp="1"/>
          </p:cNvSpPr>
          <p:nvPr>
            <p:ph type="sldNum" sz="quarter" idx="5"/>
          </p:nvPr>
        </p:nvSpPr>
        <p:spPr/>
        <p:txBody>
          <a:bodyPr/>
          <a:lstStyle/>
          <a:p>
            <a:fld id="{6FE1ECC9-533B-4B24-87F5-85EA5D7846B9}" type="slidenum">
              <a:t>9</a:t>
            </a:fld>
            <a:endParaRPr lang="en-US"/>
          </a:p>
        </p:txBody>
      </p:sp>
    </p:spTree>
    <p:extLst>
      <p:ext uri="{BB962C8B-B14F-4D97-AF65-F5344CB8AC3E}">
        <p14:creationId xmlns:p14="http://schemas.microsoft.com/office/powerpoint/2010/main" val="184678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Long‑term career research and coaching emphasize that early careers unfold over decades, not months. Viewing a job search as a single high‑stakes test increases distress and narrows decision‑making. In contrast, framing it as one chapter in a multi‑step path supports both well‑being and adaptability. Research on psychological capital shows that hope and resilience are strengthened when people pursue realistic, staged goals rather than a single ideal outcome. Practical guidance encourages defining two or three broad career directions and viewing each role as a stepping stone that builds skills, networks, and confidence. After each application cycle, adjusting strategy based on evidence rather than self‑judgment reinforces learning and agency. This long‑game lens reduces the emotional weight of any single rejection and supports sustainable persistence. **Bold callout:** This search is part of your story, not the whole plot. 
 Image source: Microsoft 365 content library</a:t>
            </a:r>
          </a:p>
        </p:txBody>
      </p:sp>
      <p:sp>
        <p:nvSpPr>
          <p:cNvPr id="4" name="Slide Number Placeholder 3"/>
          <p:cNvSpPr>
            <a:spLocks noGrp="1"/>
          </p:cNvSpPr>
          <p:nvPr>
            <p:ph type="sldNum" sz="quarter" idx="5"/>
          </p:nvPr>
        </p:nvSpPr>
        <p:spPr/>
        <p:txBody>
          <a:bodyPr/>
          <a:lstStyle/>
          <a:p>
            <a:fld id="{6FE1ECC9-533B-4B24-87F5-85EA5D7846B9}" type="slidenum">
              <a:t>10</a:t>
            </a:fld>
            <a:endParaRPr lang="en-US"/>
          </a:p>
        </p:txBody>
      </p:sp>
    </p:spTree>
    <p:extLst>
      <p:ext uri="{BB962C8B-B14F-4D97-AF65-F5344CB8AC3E}">
        <p14:creationId xmlns:p14="http://schemas.microsoft.com/office/powerpoint/2010/main" val="3894451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Research on unemployment and mental health is clear that prolonged job searching can significantly affect mood and functioning. Seeking support is not an overreaction; it is an evidence‑based protective step. Systematic reviews recommend screening for depression and anxiety among long‑term job seekers, as targeted interventions—often CBT‑based—reduce symptoms and can indirectly improve job outcomes. Indicators for seeking support include persistent low mood, hopelessness, difficulty completing daily tasks, or withdrawal from social contact. Group‑based or coaching interventions that combine emotional skills with job‑search strategy are particularly effective, improving both well‑being and re‑employment rates. Career services, peer groups, coaches, and mental health professionals are all valid forms of support. **Reframe:** Needing support means the situation is heavy, not that you are weak. 
 Image source: Microsoft 365 content library</a:t>
            </a:r>
          </a:p>
        </p:txBody>
      </p:sp>
      <p:sp>
        <p:nvSpPr>
          <p:cNvPr id="4" name="Slide Number Placeholder 3"/>
          <p:cNvSpPr>
            <a:spLocks noGrp="1"/>
          </p:cNvSpPr>
          <p:nvPr>
            <p:ph type="sldNum" sz="quarter" idx="5"/>
          </p:nvPr>
        </p:nvSpPr>
        <p:spPr/>
        <p:txBody>
          <a:bodyPr/>
          <a:lstStyle/>
          <a:p>
            <a:fld id="{6FE1ECC9-533B-4B24-87F5-85EA5D7846B9}" type="slidenum">
              <a:t>11</a:t>
            </a:fld>
            <a:endParaRPr lang="en-US"/>
          </a:p>
        </p:txBody>
      </p:sp>
    </p:spTree>
    <p:extLst>
      <p:ext uri="{BB962C8B-B14F-4D97-AF65-F5344CB8AC3E}">
        <p14:creationId xmlns:p14="http://schemas.microsoft.com/office/powerpoint/2010/main" val="34949004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Research‑aligned resilience improves when insight turns into action. After your next rejection, commit to one simple, repeatable step. Complete the three‑part rejection ritual: write what you learned, what you will adjust, and one thing you did well. Then choose one concrete next action within your control, such as refining one application bullet, reaching out to one contact, or scheduling one practice session. Studies on job‑search self‑efficacy show that these small mastery experiences rebuild confidence and persistence over time. Pair this action with structure by placing it in a defined block on your calendar. This protects follow‑through and reduces rumination. Over weeks, this approach compounds into both strategic improvement and emotional resilience. **Bold callout:** Keep the loop moving forward—reflection, adjustment, action. 
 Image source: Microsoft 365 content library</a:t>
            </a:r>
          </a:p>
        </p:txBody>
      </p:sp>
      <p:sp>
        <p:nvSpPr>
          <p:cNvPr id="4" name="Slide Number Placeholder 3"/>
          <p:cNvSpPr>
            <a:spLocks noGrp="1"/>
          </p:cNvSpPr>
          <p:nvPr>
            <p:ph type="sldNum" sz="quarter" idx="5"/>
          </p:nvPr>
        </p:nvSpPr>
        <p:spPr/>
        <p:txBody>
          <a:bodyPr/>
          <a:lstStyle/>
          <a:p>
            <a:fld id="{6FE1ECC9-533B-4B24-87F5-85EA5D7846B9}" type="slidenum">
              <a:t>12</a:t>
            </a:fld>
            <a:endParaRPr lang="en-US"/>
          </a:p>
        </p:txBody>
      </p:sp>
    </p:spTree>
    <p:extLst>
      <p:ext uri="{BB962C8B-B14F-4D97-AF65-F5344CB8AC3E}">
        <p14:creationId xmlns:p14="http://schemas.microsoft.com/office/powerpoint/2010/main" val="35292936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 uri="{C183D7F6-B498-43B3-948B-1728B52AA6E4}">
                <adec:decorative xmlns:adec="http://schemas.microsoft.com/office/drawing/2017/decorative" val="1"/>
              </a:ext>
            </a:extLst>
          </p:cNvPr>
          <p:cNvSpPr/>
          <p:nvPr/>
        </p:nvSpPr>
        <p:spPr>
          <a:xfrm>
            <a:off x="5067300" y="-429"/>
            <a:ext cx="7142987" cy="6858429"/>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 uri="{C183D7F6-B498-43B3-948B-1728B52AA6E4}">
                <adec:decorative xmlns:adec="http://schemas.microsoft.com/office/drawing/2017/decorative" val="1"/>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 uri="{C183D7F6-B498-43B3-948B-1728B52AA6E4}">
                <adec:decorative xmlns:adec="http://schemas.microsoft.com/office/drawing/2017/decorative" val="1"/>
              </a:ext>
            </a:extLst>
          </p:cNvPr>
          <p:cNvSpPr/>
          <p:nvPr/>
        </p:nvSpPr>
        <p:spPr>
          <a:xfrm rot="10800000">
            <a:off x="5067300" y="4571999"/>
            <a:ext cx="7140054"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 uri="{C183D7F6-B498-43B3-948B-1728B52AA6E4}">
                <adec:decorative xmlns:adec="http://schemas.microsoft.com/office/drawing/2017/decorative" val="1"/>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endParaRPr lang="en-US" dirty="0"/>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tx1"/>
                </a:solidFill>
              </a:defRPr>
            </a:lvl1pPr>
          </a:lstStyle>
          <a:p>
            <a:fld id="{8AF2F4EA-388B-424B-AC17-965C10DAF675}" type="datetime2">
              <a:rPr lang="en-US" smtClean="0"/>
              <a:t>Monday, March 16,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46608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E7ACF9F-8FDB-4ADC-A9FD-4B179047B36A}" type="datetime2">
              <a:rPr lang="en-US" smtClean="0"/>
              <a:t>Monday, March 16,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 uri="{C183D7F6-B498-43B3-948B-1728B52AA6E4}">
                <adec:decorative xmlns:adec="http://schemas.microsoft.com/office/drawing/2017/decorative" val="1"/>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 uri="{C183D7F6-B498-43B3-948B-1728B52AA6E4}">
                <adec:decorative xmlns:adec="http://schemas.microsoft.com/office/drawing/2017/decorative" val="1"/>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 uri="{C183D7F6-B498-43B3-948B-1728B52AA6E4}">
                <adec:decorative xmlns:adec="http://schemas.microsoft.com/office/drawing/2017/decorative" val="1"/>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 uri="{C183D7F6-B498-43B3-948B-1728B52AA6E4}">
                <adec:decorative xmlns:adec="http://schemas.microsoft.com/office/drawing/2017/decorative" val="1"/>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tx1"/>
                </a:solidFill>
                <a:latin typeface="+mj-lt"/>
              </a:defRPr>
            </a:lvl1pPr>
          </a:lstStyle>
          <a:p>
            <a:pPr lvl="0"/>
            <a:r>
              <a:rPr lang="en-US"/>
              <a:t>Click to edit Master subtitle style</a:t>
            </a:r>
            <a:endParaRPr lang="en-US" dirty="0"/>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tx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3D4AF38C-0923-462D-8E8F-DFB1FB3CD655}" type="datetime2">
              <a:rPr lang="en-US" smtClean="0"/>
              <a:t>Monday, March 16, 2026</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19273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 uri="{C183D7F6-B498-43B3-948B-1728B52AA6E4}">
                <adec:decorative xmlns:adec="http://schemas.microsoft.com/office/drawing/2017/decorative" val="1"/>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 uri="{C183D7F6-B498-43B3-948B-1728B52AA6E4}">
                <adec:decorative xmlns:adec="http://schemas.microsoft.com/office/drawing/2017/decorative" val="1"/>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 uri="{C183D7F6-B498-43B3-948B-1728B52AA6E4}">
                <adec:decorative xmlns:adec="http://schemas.microsoft.com/office/drawing/2017/decorative" val="1"/>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 uri="{C183D7F6-B498-43B3-948B-1728B52AA6E4}">
                <adec:decorative xmlns:adec="http://schemas.microsoft.com/office/drawing/2017/decorative" val="1"/>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tx1"/>
                </a:solidFill>
              </a:defRPr>
            </a:lvl1pPr>
          </a:lstStyle>
          <a:p>
            <a:fld id="{5531B838-A2A1-4E5F-8CE5-ED5C785421C8}" type="datetime2">
              <a:rPr lang="en-US" smtClean="0"/>
              <a:t>Monday, March 16,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643556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 uri="{C183D7F6-B498-43B3-948B-1728B52AA6E4}">
                <adec:decorative xmlns:adec="http://schemas.microsoft.com/office/drawing/2017/decorative" val="1"/>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 uri="{C183D7F6-B498-43B3-948B-1728B52AA6E4}">
                <adec:decorative xmlns:adec="http://schemas.microsoft.com/office/drawing/2017/decorative" val="1"/>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 uri="{C183D7F6-B498-43B3-948B-1728B52AA6E4}">
                <adec:decorative xmlns:adec="http://schemas.microsoft.com/office/drawing/2017/decorative" val="1"/>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tx1"/>
                </a:solidFill>
                <a:latin typeface="+mj-lt"/>
              </a:defRPr>
            </a:lvl1pPr>
          </a:lstStyle>
          <a:p>
            <a:pPr lvl="0"/>
            <a:r>
              <a:rPr lang="en-US"/>
              <a:t>Click to edit Master subtitle style</a:t>
            </a:r>
            <a:endParaRPr lang="en-US" dirty="0"/>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tx1"/>
                </a:solidFill>
              </a:defRPr>
            </a:lvl1pPr>
          </a:lstStyle>
          <a:p>
            <a:fld id="{B369E90C-83BE-474F-8867-84D9D4BA9A64}" type="datetime2">
              <a:rPr lang="en-US" smtClean="0"/>
              <a:t>Monday, March 16, 2026</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801579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 uri="{C183D7F6-B498-43B3-948B-1728B52AA6E4}">
                <adec:decorative xmlns:adec="http://schemas.microsoft.com/office/drawing/2017/decorative" val="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 uri="{C183D7F6-B498-43B3-948B-1728B52AA6E4}">
                <adec:decorative xmlns:adec="http://schemas.microsoft.com/office/drawing/2017/decorative" val="1"/>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 uri="{C183D7F6-B498-43B3-948B-1728B52AA6E4}">
                <adec:decorative xmlns:adec="http://schemas.microsoft.com/office/drawing/2017/decorative" val="1"/>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 uri="{C183D7F6-B498-43B3-948B-1728B52AA6E4}">
                <adec:decorative xmlns:adec="http://schemas.microsoft.com/office/drawing/2017/decorative" val="1"/>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 uri="{C183D7F6-B498-43B3-948B-1728B52AA6E4}">
                <adec:decorative xmlns:adec="http://schemas.microsoft.com/office/drawing/2017/decorative" val="1"/>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 uri="{C183D7F6-B498-43B3-948B-1728B52AA6E4}">
                <adec:decorative xmlns:adec="http://schemas.microsoft.com/office/drawing/2017/decorative" val="1"/>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tx1"/>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B5CA67-94ED-4C14-9B73-CCE5A85B4E93}" type="datetime2">
              <a:rPr lang="en-US" smtClean="0"/>
              <a:t>Monday, March 16,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86110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C38FEA-146D-53B3-36B0-5CBD8040636E}"/>
              </a:ext>
              <a:ext uri="{C183D7F6-B498-43B3-948B-1728B52AA6E4}">
                <adec:decorative xmlns:adec="http://schemas.microsoft.com/office/drawing/2017/decorative" val="1"/>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 uri="{C183D7F6-B498-43B3-948B-1728B52AA6E4}">
                <adec:decorative xmlns:adec="http://schemas.microsoft.com/office/drawing/2017/decorative" val="1"/>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 uri="{C183D7F6-B498-43B3-948B-1728B52AA6E4}">
                <adec:decorative xmlns:adec="http://schemas.microsoft.com/office/drawing/2017/decorative" val="1"/>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 uri="{C183D7F6-B498-43B3-948B-1728B52AA6E4}">
                <adec:decorative xmlns:adec="http://schemas.microsoft.com/office/drawing/2017/decorative" val="1"/>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a:t>Click to edit Master subtitle style</a:t>
            </a:r>
            <a:endParaRPr lang="en-US" dirty="0"/>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7723C116-3055-4F7F-9A49-EB260F9EF6F6}" type="datetime2">
              <a:rPr lang="en-US" smtClean="0"/>
              <a:t>Monday, March 16, 2026</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1851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E2F783-0ED7-1F0B-219A-198549E350DD}"/>
              </a:ext>
              <a:ext uri="{C183D7F6-B498-43B3-948B-1728B52AA6E4}">
                <adec:decorative xmlns:adec="http://schemas.microsoft.com/office/drawing/2017/decorative" val="1"/>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 uri="{C183D7F6-B498-43B3-948B-1728B52AA6E4}">
                <adec:decorative xmlns:adec="http://schemas.microsoft.com/office/drawing/2017/decorative" val="1"/>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 uri="{C183D7F6-B498-43B3-948B-1728B52AA6E4}">
                <adec:decorative xmlns:adec="http://schemas.microsoft.com/office/drawing/2017/decorative" val="1"/>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 uri="{C183D7F6-B498-43B3-948B-1728B52AA6E4}">
                <adec:decorative xmlns:adec="http://schemas.microsoft.com/office/drawing/2017/decorative" val="1"/>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a:t>Click to edit Master subtitle style</a:t>
            </a:r>
            <a:endParaRPr lang="en-US" dirty="0"/>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A6A5EF91-D53E-428D-B2CB-7C1F753E44DB}" type="datetime2">
              <a:rPr lang="en-US" smtClean="0"/>
              <a:t>Monday, March 16, 2026</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6551022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 uri="{C183D7F6-B498-43B3-948B-1728B52AA6E4}">
                <adec:decorative xmlns:adec="http://schemas.microsoft.com/office/drawing/2017/decorative" val="1"/>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 uri="{C183D7F6-B498-43B3-948B-1728B52AA6E4}">
                <adec:decorative xmlns:adec="http://schemas.microsoft.com/office/drawing/2017/decorative" val="1"/>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 uri="{C183D7F6-B498-43B3-948B-1728B52AA6E4}">
                <adec:decorative xmlns:adec="http://schemas.microsoft.com/office/drawing/2017/decorative" val="1"/>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 uri="{C183D7F6-B498-43B3-948B-1728B52AA6E4}">
                <adec:decorative xmlns:adec="http://schemas.microsoft.com/office/drawing/2017/decorative" val="1"/>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 uri="{C183D7F6-B498-43B3-948B-1728B52AA6E4}">
                <adec:decorative xmlns:adec="http://schemas.microsoft.com/office/drawing/2017/decorative" val="1"/>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 uri="{C183D7F6-B498-43B3-948B-1728B52AA6E4}">
                <adec:decorative xmlns:adec="http://schemas.microsoft.com/office/drawing/2017/decorative" val="0"/>
              </a:ext>
            </a:extLst>
          </p:cNvPr>
          <p:cNvSpPr>
            <a:spLocks noGrp="1"/>
          </p:cNvSpPr>
          <p:nvPr>
            <p:ph type="title"/>
          </p:nvPr>
        </p:nvSpPr>
        <p:spPr>
          <a:xfrm>
            <a:off x="3657600" y="2807208"/>
            <a:ext cx="7772400" cy="3346704"/>
          </a:xfrm>
        </p:spPr>
        <p:txBody>
          <a:bodyPr anchor="t">
            <a:normAutofit/>
          </a:bodyPr>
          <a:lstStyle>
            <a:lvl1pPr>
              <a:lnSpc>
                <a:spcPct val="110000"/>
              </a:lnSpc>
              <a:defRPr sz="5400" cap="all" spc="700"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B4EA7F42-44CA-4E2D-BE54-54E50F1A95AA}" type="datetime2">
              <a:rPr lang="en-US" smtClean="0"/>
              <a:t>Monday, March 16,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237459441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 uri="{C183D7F6-B498-43B3-948B-1728B52AA6E4}">
                <adec:decorative xmlns:adec="http://schemas.microsoft.com/office/drawing/2017/decorative" val="1"/>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 uri="{C183D7F6-B498-43B3-948B-1728B52AA6E4}">
                <adec:decorative xmlns:adec="http://schemas.microsoft.com/office/drawing/2017/decorative" val="1"/>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 uri="{C183D7F6-B498-43B3-948B-1728B52AA6E4}">
                <adec:decorative xmlns:adec="http://schemas.microsoft.com/office/drawing/2017/decorative" val="1"/>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 uri="{C183D7F6-B498-43B3-948B-1728B52AA6E4}">
                <adec:decorative xmlns:adec="http://schemas.microsoft.com/office/drawing/2017/decorative" val="1"/>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 uri="{C183D7F6-B498-43B3-948B-1728B52AA6E4}">
                <adec:decorative xmlns:adec="http://schemas.microsoft.com/office/drawing/2017/decorative" val="1"/>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 uri="{C183D7F6-B498-43B3-948B-1728B52AA6E4}">
                <adec:decorative xmlns:adec="http://schemas.microsoft.com/office/drawing/2017/decorative" val="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A5F6D2C8-34B4-4D49-8BA1-BACB1E5E91D7}" type="datetime2">
              <a:rPr lang="en-US" smtClean="0"/>
              <a:t>Monday, March 16,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37511183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35CD2-2790-A02E-C1A3-EB251A110779}"/>
              </a:ext>
              <a:ext uri="{C183D7F6-B498-43B3-948B-1728B52AA6E4}">
                <adec:decorative xmlns:adec="http://schemas.microsoft.com/office/drawing/2017/decorative" val="1"/>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 uri="{C183D7F6-B498-43B3-948B-1728B52AA6E4}">
                <adec:decorative xmlns:adec="http://schemas.microsoft.com/office/drawing/2017/decorative" val="1"/>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 uri="{C183D7F6-B498-43B3-948B-1728B52AA6E4}">
                <adec:decorative xmlns:adec="http://schemas.microsoft.com/office/drawing/2017/decorative" val="1"/>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 uri="{C183D7F6-B498-43B3-948B-1728B52AA6E4}">
                <adec:decorative xmlns:adec="http://schemas.microsoft.com/office/drawing/2017/decorative" val="1"/>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07FA98E2-6F7F-4A51-8E1F-EB59A50F0269}" type="datetime2">
              <a:rPr lang="en-US" smtClean="0"/>
              <a:t>Monday, March 16,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4035622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150BB71E-4F8F-41C0-A92F-F3C4EFE8AC7B}" type="datetime2">
              <a:rPr lang="en-US" smtClean="0"/>
              <a:t>Monday, March 16,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61023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8963436-5FD3-4DBA-BA14-7BB2834C5EC5}" type="datetime2">
              <a:rPr lang="en-US" smtClean="0"/>
              <a:t>Monday, March 16,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2DB3D6C-C357-4A18-98FF-C5DAE1A10B46}" type="datetime2">
              <a:rPr lang="en-US" smtClean="0"/>
              <a:t>Monday, March 16,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6848E0B-8A0C-48E4-ADBA-2AC6A8CE7CBF}" type="datetime2">
              <a:rPr lang="en-US" smtClean="0"/>
              <a:t>Monday, March 16,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BDCCA7-F1A7-4374-A53E-DDBF6669B4DA}" type="datetime2">
              <a:rPr lang="en-US" smtClean="0"/>
              <a:t>Monday, March 16,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3554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7A4E53C8-4441-4494-9A33-9A60A8C010FF}" type="datetime2">
              <a:rPr lang="en-US" smtClean="0"/>
              <a:t>Monday, March 16,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74857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8606AF-234E-F01C-E350-3E326E5ABE30}"/>
              </a:ext>
              <a:ext uri="{C183D7F6-B498-43B3-948B-1728B52AA6E4}">
                <adec:decorative xmlns:adec="http://schemas.microsoft.com/office/drawing/2017/decorative" val="1"/>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 uri="{C183D7F6-B498-43B3-948B-1728B52AA6E4}">
                <adec:decorative xmlns:adec="http://schemas.microsoft.com/office/drawing/2017/decorative" val="1"/>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 uri="{C183D7F6-B498-43B3-948B-1728B52AA6E4}">
                <adec:decorative xmlns:adec="http://schemas.microsoft.com/office/drawing/2017/decorative" val="1"/>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27853E-A83C-4AE4-BB8D-D1C2F70D8524}" type="datetime2">
              <a:rPr lang="en-US" smtClean="0"/>
              <a:t>Monday, March 16,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56591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358C6A-FFB7-7F91-94AA-423822AA8C38}"/>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 uri="{C183D7F6-B498-43B3-948B-1728B52AA6E4}">
                <adec:decorative xmlns:adec="http://schemas.microsoft.com/office/drawing/2017/decorative" val="1"/>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2BDBDAA-674F-41A5-9B7A-63B7C6B4BF31}" type="datetime2">
              <a:rPr lang="en-US" smtClean="0"/>
              <a:t>Monday, March 16,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214047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C72D07-FB95-F16C-6535-C8AEB3ACAFA0}"/>
              </a:ext>
              <a:ext uri="{C183D7F6-B498-43B3-948B-1728B52AA6E4}">
                <adec:decorative xmlns:adec="http://schemas.microsoft.com/office/drawing/2017/decorative" val="1"/>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 uri="{C183D7F6-B498-43B3-948B-1728B52AA6E4}">
                <adec:decorative xmlns:adec="http://schemas.microsoft.com/office/drawing/2017/decorative" val="1"/>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15508136-2BE5-4DEB-BFFF-CA82AE75DA81}" type="datetime2">
              <a:rPr lang="en-US" smtClean="0"/>
              <a:t>Monday, March 16,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Monday, March 16,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7197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0" y="-1"/>
            <a:ext cx="5247320" cy="6400369"/>
          </a:xfrm>
          <a:blipFill>
            <a:blip r:embed="rId2">
              <a:alphaModFix amt="70000"/>
            </a:blip>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a:xfrm>
            <a:off x="67056" y="6455664"/>
            <a:ext cx="3557016" cy="365760"/>
          </a:xfrm>
        </p:spPr>
        <p:txBody>
          <a:bodyPr/>
          <a:lstStyle>
            <a:lvl1pPr>
              <a:defRPr>
                <a:solidFill>
                  <a:schemeClr val="bg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F8C0C47F-6992-403B-A8BD-DAD08522434F}" type="datetime2">
              <a:rPr lang="en-US" smtClean="0"/>
              <a:t>Monday, March 16, 2026</a:t>
            </a:fld>
            <a:endParaRPr lang="en-US" dirty="0"/>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5593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6922008" y="6400799"/>
            <a:ext cx="526998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440680" cy="1197864"/>
          </a:xfrm>
        </p:spPr>
        <p:txBody>
          <a:bodyPr anchor="b"/>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F6328336-AE7A-4C2D-0270-493DC7303B6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922008" y="-1"/>
            <a:ext cx="5269992" cy="6400369"/>
          </a:xfrm>
          <a:blipFill>
            <a:blip r:embed="rId2">
              <a:alphaModFix amt="70000"/>
            </a:blip>
            <a:stretch>
              <a:fillRect/>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ACE75CBF-C3DD-595A-4D09-0BDBE3A20100}"/>
              </a:ext>
            </a:extLst>
          </p:cNvPr>
          <p:cNvSpPr>
            <a:spLocks noGrp="1"/>
          </p:cNvSpPr>
          <p:nvPr>
            <p:ph type="dt" sz="half" idx="16"/>
          </p:nvPr>
        </p:nvSpPr>
        <p:spPr/>
        <p:txBody>
          <a:bodyPr/>
          <a:lstStyle/>
          <a:p>
            <a:fld id="{4EE2BF70-051F-4182-B873-1FBEE890188B}" type="datetime2">
              <a:rPr lang="en-US" smtClean="0"/>
              <a:t>Monday, March 16, 2026</a:t>
            </a:fld>
            <a:endParaRPr lang="en-US"/>
          </a:p>
        </p:txBody>
      </p:sp>
      <p:sp>
        <p:nvSpPr>
          <p:cNvPr id="5" name="Slide Number Placeholder 4">
            <a:extLst>
              <a:ext uri="{FF2B5EF4-FFF2-40B4-BE49-F238E27FC236}">
                <a16:creationId xmlns:a16="http://schemas.microsoft.com/office/drawing/2014/main" id="{FFC4C584-842E-9FEF-D13D-CAA866F0BFEA}"/>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23006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1E3123-7D9E-2A08-F196-CDF340945D9D}"/>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 uri="{C183D7F6-B498-43B3-948B-1728B52AA6E4}">
                <adec:decorative xmlns:adec="http://schemas.microsoft.com/office/drawing/2017/decorative" val="1"/>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2B29163A-D4FD-4B13-B760-29FEA46D26A0}" type="datetime2">
              <a:rPr lang="en-US" smtClean="0"/>
              <a:t>Monday, March 16,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a:t>Click to edit Master title style</a:t>
            </a:r>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dirty="0"/>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BF31E3F0-C597-454C-9C6A-C05C00896517}" type="datetime2">
              <a:rPr lang="en-US" smtClean="0"/>
              <a:t>Monday, March 16,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204121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a:t>Click to edit Master title style</a:t>
            </a:r>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dirty="0"/>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64C03E46-357C-41AA-B644-5D238512659D}" type="datetime2">
              <a:rPr lang="en-US" smtClean="0"/>
              <a:t>Monday, March 16,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80353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BABC61-0C94-EB2C-729D-13A2A74C04A2}"/>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F7317806-C1A4-4898-A392-58092F2DAC1E}" type="datetime2">
              <a:rPr lang="en-US" smtClean="0"/>
              <a:t>Monday, March 16,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923169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460BC6-378A-8F4F-1D44-FA6677F92D4E}"/>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5EBE550A-BFEE-40D6-A0EE-F4BD2148E98A}" type="datetime2">
              <a:rPr lang="en-US" smtClean="0"/>
              <a:t>Monday, March 16,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035166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dirty="0"/>
              <a:t> </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3F60DE63-5C97-4D17-AD5B-559BE78F8C6E}" type="datetime2">
              <a:rPr lang="en-US" smtClean="0"/>
              <a:t>Monday, March 16,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37920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BED10C-5619-54D2-5D2D-E5D0A3E26E93}"/>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 uri="{C183D7F6-B498-43B3-948B-1728B52AA6E4}">
                <adec:decorative xmlns:adec="http://schemas.microsoft.com/office/drawing/2017/decorative" val="1"/>
              </a:ext>
            </a:extLst>
          </p:cNvPr>
          <p:cNvSpPr/>
          <p:nvPr/>
        </p:nvSpPr>
        <p:spPr>
          <a:xfrm flipH="1">
            <a:off x="6945630" y="6401228"/>
            <a:ext cx="524636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C3B1CEA-5D85-42AB-95DF-BF2F02172CA4}" type="datetime2">
              <a:rPr lang="en-US" smtClean="0"/>
              <a:t>Monday, March 16,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93A5D-CF9E-656F-6E4D-BBE26617BBEC}"/>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 uri="{C183D7F6-B498-43B3-948B-1728B52AA6E4}">
                <adec:decorative xmlns:adec="http://schemas.microsoft.com/office/drawing/2017/decorative" val="1"/>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B5151AB-126F-4C4D-9C0D-9B9B07DC1CFA}" type="datetime2">
              <a:rPr lang="en-US" smtClean="0"/>
              <a:t>Monday, March 16,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78578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EA2F20-DFC9-8EAE-10DC-BC89113C2D4F}"/>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 uri="{C183D7F6-B498-43B3-948B-1728B52AA6E4}">
                <adec:decorative xmlns:adec="http://schemas.microsoft.com/office/drawing/2017/decorative" val="1"/>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8EB0D61-5867-4B60-96C2-F34431D24F0C}" type="datetime2">
              <a:rPr lang="en-US" smtClean="0"/>
              <a:t>Monday, March 16,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 uri="{C183D7F6-B498-43B3-948B-1728B52AA6E4}">
                <adec:decorative xmlns:adec="http://schemas.microsoft.com/office/drawing/2017/decorative" val="1"/>
              </a:ext>
            </a:extLst>
          </p:cNvPr>
          <p:cNvSpPr/>
          <p:nvPr/>
        </p:nvSpPr>
        <p:spPr>
          <a:xfrm>
            <a:off x="-18286" y="4719145"/>
            <a:ext cx="12221346" cy="2148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solidFill>
                  <a:schemeClr val="bg1"/>
                </a:solidFill>
                <a:latin typeface="+mn-lt"/>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tx1"/>
                </a:solidFill>
                <a:latin typeface="+mj-lt"/>
              </a:defRPr>
            </a:lvl1pPr>
          </a:lstStyle>
          <a:p>
            <a:pPr lvl="0"/>
            <a:r>
              <a:rPr lang="en-US" dirty="0"/>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774365B4-2BDD-42A8-8AD0-4FD66D3F5C4E}" type="datetime2">
              <a:rPr lang="en-US" smtClean="0"/>
              <a:t>Monday, March 16,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1987367"/>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Number Larg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 uri="{C183D7F6-B498-43B3-948B-1728B52AA6E4}">
                <adec:decorative xmlns:adec="http://schemas.microsoft.com/office/drawing/2017/decorative" val="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 uri="{C183D7F6-B498-43B3-948B-1728B52AA6E4}">
                <adec:decorative xmlns:adec="http://schemas.microsoft.com/office/drawing/2017/decorative" val="1"/>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 uri="{C183D7F6-B498-43B3-948B-1728B52AA6E4}">
                <adec:decorative xmlns:adec="http://schemas.microsoft.com/office/drawing/2017/decorative" val="1"/>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 uri="{C183D7F6-B498-43B3-948B-1728B52AA6E4}">
                <adec:decorative xmlns:adec="http://schemas.microsoft.com/office/drawing/2017/decorative" val="1"/>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tx1"/>
                </a:solidFill>
                <a:latin typeface="+mn-lt"/>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tx1"/>
                </a:solidFill>
                <a:latin typeface="+mj-lt"/>
              </a:defRPr>
            </a:lvl1pPr>
          </a:lstStyle>
          <a:p>
            <a:pPr lvl="0"/>
            <a:r>
              <a:rPr lang="en-US" dirty="0"/>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18042AE0-E8A0-4C07-BDCE-3F5EAB477031}" type="datetime2">
              <a:rPr lang="en-US" smtClean="0"/>
              <a:t>Monday, March 16,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82734611"/>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a:t>Click to edit Master title style</a:t>
            </a:r>
            <a:endParaRPr lang="en-US" dirty="0"/>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dirty="0"/>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118D1234-C791-4FA0-B7BF-3B97E1AFD349}" type="datetime2">
              <a:rPr lang="en-US" smtClean="0"/>
              <a:t>Monday, March 16,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213799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A70C64-A82F-539E-FA22-E9EDFA88F0CB}"/>
              </a:ext>
              <a:ext uri="{C183D7F6-B498-43B3-948B-1728B52AA6E4}">
                <adec:decorative xmlns:adec="http://schemas.microsoft.com/office/drawing/2017/decorative" val="1"/>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 uri="{C183D7F6-B498-43B3-948B-1728B52AA6E4}">
                <adec:decorative xmlns:adec="http://schemas.microsoft.com/office/drawing/2017/decorative" val="1"/>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 uri="{C183D7F6-B498-43B3-948B-1728B52AA6E4}">
                <adec:decorative xmlns:adec="http://schemas.microsoft.com/office/drawing/2017/decorative" val="1"/>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 uri="{C183D7F6-B498-43B3-948B-1728B52AA6E4}">
                <adec:decorative xmlns:adec="http://schemas.microsoft.com/office/drawing/2017/decorative" val="1"/>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599FD6B-A98A-41CE-AE80-E9BFC922155F}" type="datetime2">
              <a:rPr lang="en-US" smtClean="0"/>
              <a:t>Monday, March 16,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792323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952A27B-DA16-4786-8944-4B1CF34905EE}" type="datetime2">
              <a:rPr lang="en-US" smtClean="0"/>
              <a:t>Monday, March 16,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942459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 uri="{C183D7F6-B498-43B3-948B-1728B52AA6E4}">
                <adec:decorative xmlns:adec="http://schemas.microsoft.com/office/drawing/2017/decorative" val="1"/>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 uri="{C183D7F6-B498-43B3-948B-1728B52AA6E4}">
                <adec:decorative xmlns:adec="http://schemas.microsoft.com/office/drawing/2017/decorative" val="1"/>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5DA190-1DE0-42AE-81F7-BAE9BB470D89}" type="datetime2">
              <a:rPr lang="en-US" smtClean="0"/>
              <a:t>Monday, March 16,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526282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 uri="{C183D7F6-B498-43B3-948B-1728B52AA6E4}">
                <adec:decorative xmlns:adec="http://schemas.microsoft.com/office/drawing/2017/decorative" val="1"/>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 uri="{C183D7F6-B498-43B3-948B-1728B52AA6E4}">
                <adec:decorative xmlns:adec="http://schemas.microsoft.com/office/drawing/2017/decorative" val="1"/>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dirty="0"/>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2100A192-F923-4AB4-BDCC-6ACB26A0AAAE}" type="datetime2">
              <a:rPr lang="en-US" smtClean="0"/>
              <a:t>Monday, March 16, 2026</a:t>
            </a:fld>
            <a:endParaRPr lang="en-US" dirty="0"/>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115647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 uri="{C183D7F6-B498-43B3-948B-1728B52AA6E4}">
                <adec:decorative xmlns:adec="http://schemas.microsoft.com/office/drawing/2017/decorative" val="1"/>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 uri="{C183D7F6-B498-43B3-948B-1728B52AA6E4}">
                <adec:decorative xmlns:adec="http://schemas.microsoft.com/office/drawing/2017/decorative" val="1"/>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 uri="{C183D7F6-B498-43B3-948B-1728B52AA6E4}">
                <adec:decorative xmlns:adec="http://schemas.microsoft.com/office/drawing/2017/decorative" val="1"/>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 uri="{C183D7F6-B498-43B3-948B-1728B52AA6E4}">
                <adec:decorative xmlns:adec="http://schemas.microsoft.com/office/drawing/2017/decorative" val="1"/>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tx1"/>
                </a:solidFill>
              </a:defRPr>
            </a:lvl1pPr>
          </a:lstStyle>
          <a:p>
            <a:pPr lvl="0"/>
            <a:r>
              <a:rPr lang="en-US" dirty="0"/>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tx1"/>
                </a:solidFill>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bg1"/>
                </a:solidFill>
              </a:defRPr>
            </a:lvl1pPr>
          </a:lstStyle>
          <a:p>
            <a:fld id="{F3769460-8E62-40CA-83A8-CB830C3D7F18}" type="datetime2">
              <a:rPr lang="en-US" smtClean="0"/>
              <a:t>Monday, March 16, 2026</a:t>
            </a:fld>
            <a:endParaRPr lang="en-US" dirty="0"/>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85779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 uri="{C183D7F6-B498-43B3-948B-1728B52AA6E4}">
                <adec:decorative xmlns:adec="http://schemas.microsoft.com/office/drawing/2017/decorative" val="1"/>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 uri="{C183D7F6-B498-43B3-948B-1728B52AA6E4}">
                <adec:decorative xmlns:adec="http://schemas.microsoft.com/office/drawing/2017/decorative" val="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dirty="0"/>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4D9BF413-3F81-4C14-A195-E47B863670C3}" type="datetime2">
              <a:rPr lang="en-US" smtClean="0"/>
              <a:t>Monday, March 16, 2026</a:t>
            </a:fld>
            <a:endParaRPr lang="en-US" dirty="0"/>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911058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0D0CE8AB-DD53-DE37-0172-0F4C2D9FEBDA}"/>
              </a:ext>
            </a:extLst>
          </p:cNvPr>
          <p:cNvSpPr>
            <a:spLocks noGrp="1"/>
          </p:cNvSpPr>
          <p:nvPr>
            <p:ph sz="quarter" idx="15"/>
          </p:nvPr>
        </p:nvSpPr>
        <p:spPr>
          <a:xfrm>
            <a:off x="731838"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3467A339-2191-25DF-DA14-F9F1C27E8EBD}"/>
              </a:ext>
            </a:extLst>
          </p:cNvPr>
          <p:cNvSpPr>
            <a:spLocks noGrp="1"/>
          </p:cNvSpPr>
          <p:nvPr>
            <p:ph sz="quarter" idx="16"/>
          </p:nvPr>
        </p:nvSpPr>
        <p:spPr>
          <a:xfrm>
            <a:off x="6500813"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3F1486C-F518-4593-A9F9-71F14C909BBB}" type="datetime2">
              <a:rPr lang="en-US" smtClean="0"/>
              <a:t>Monday, March 16,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D0ED8F7-2A3F-80A9-EF90-A2A4073C69D3}"/>
              </a:ext>
            </a:extLst>
          </p:cNvPr>
          <p:cNvSpPr>
            <a:spLocks noGrp="1"/>
          </p:cNvSpPr>
          <p:nvPr>
            <p:ph sz="quarter" idx="15"/>
          </p:nvPr>
        </p:nvSpPr>
        <p:spPr>
          <a:xfrm>
            <a:off x="731838" y="2020888"/>
            <a:ext cx="50736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4">
            <a:extLst>
              <a:ext uri="{FF2B5EF4-FFF2-40B4-BE49-F238E27FC236}">
                <a16:creationId xmlns:a16="http://schemas.microsoft.com/office/drawing/2014/main" id="{5D723F4E-0022-57BD-B68A-67BA61881741}"/>
              </a:ext>
            </a:extLst>
          </p:cNvPr>
          <p:cNvSpPr>
            <a:spLocks noGrp="1"/>
          </p:cNvSpPr>
          <p:nvPr>
            <p:ph sz="quarter" idx="16"/>
          </p:nvPr>
        </p:nvSpPr>
        <p:spPr>
          <a:xfrm>
            <a:off x="6500813" y="2020888"/>
            <a:ext cx="50752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54DDA2C-4D95-4DB6-BF4A-4F688D05F62F}" type="datetime2">
              <a:rPr lang="en-US" smtClean="0"/>
              <a:t>Monday, March 16,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2AE4565-505C-457E-BFE9-7CA5ED3C51C4}" type="datetime2">
              <a:rPr lang="en-US" smtClean="0"/>
              <a:t>Monday, March 16,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882EFDC-6A75-4D73-91E7-2ECC26E96D93}" type="datetime2">
              <a:rPr lang="en-US" smtClean="0"/>
              <a:t>Monday, March 16,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2"/>
            <a:ext cx="3309608" cy="38245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58207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B8D072B-0F30-4743-AD00-90BD7F92FC91}" type="datetime2">
              <a:rPr lang="en-US" smtClean="0"/>
              <a:t>Monday, March 16,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F8FF1A8-4BF9-4B7D-9A44-0F91B76D49BD}" type="datetime2">
              <a:rPr lang="en-US" smtClean="0"/>
              <a:t>Monday, March 16,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690216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1DC8D0-ECB3-9C81-4ADA-D2C30B00B146}"/>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 uri="{C183D7F6-B498-43B3-948B-1728B52AA6E4}">
                <adec:decorative xmlns:adec="http://schemas.microsoft.com/office/drawing/2017/decorative" val="1"/>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F7636FB-A6BA-4E3C-9023-5FBFE4689724}" type="datetime2">
              <a:rPr lang="en-US" smtClean="0"/>
              <a:t>Monday, March 16,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5662841"/>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17130E-6216-789E-BE08-6D1E3E75622B}"/>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 uri="{C183D7F6-B498-43B3-948B-1728B52AA6E4}">
                <adec:decorative xmlns:adec="http://schemas.microsoft.com/office/drawing/2017/decorative" val="1"/>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BFE3FE3-B74C-4213-AB2F-60F99F3419C3}" type="datetime2">
              <a:rPr lang="en-US" smtClean="0"/>
              <a:t>Monday, March 16,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7397011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 uri="{C183D7F6-B498-43B3-948B-1728B52AA6E4}">
                <adec:decorative xmlns:adec="http://schemas.microsoft.com/office/drawing/2017/decorative" val="1"/>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 uri="{C183D7F6-B498-43B3-948B-1728B52AA6E4}">
                <adec:decorative xmlns:adec="http://schemas.microsoft.com/office/drawing/2017/decorative" val="1"/>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39174FB3-ACF6-4A9B-9D1F-91EEB8A6966E}" type="datetime2">
              <a:rPr lang="en-US" smtClean="0"/>
              <a:t>Monday, March 16, 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89" r:id="rId1"/>
    <p:sldLayoutId id="2147483662" r:id="rId2"/>
    <p:sldLayoutId id="2147483788" r:id="rId3"/>
    <p:sldLayoutId id="2147483792" r:id="rId4"/>
    <p:sldLayoutId id="2147483785" r:id="rId5"/>
    <p:sldLayoutId id="2147483781" r:id="rId6"/>
    <p:sldLayoutId id="2147483783" r:id="rId7"/>
    <p:sldLayoutId id="2147483784" r:id="rId8"/>
    <p:sldLayoutId id="2147483729" r:id="rId9"/>
    <p:sldLayoutId id="2147483810" r:id="rId10"/>
    <p:sldLayoutId id="2147483716" r:id="rId11"/>
    <p:sldLayoutId id="2147483841" r:id="rId12"/>
    <p:sldLayoutId id="2147483679" r:id="rId13"/>
    <p:sldLayoutId id="2147483680" r:id="rId14"/>
    <p:sldLayoutId id="2147483681" r:id="rId15"/>
    <p:sldLayoutId id="2147483778" r:id="rId16"/>
    <p:sldLayoutId id="2147483797" r:id="rId17"/>
    <p:sldLayoutId id="2147483794" r:id="rId18"/>
    <p:sldLayoutId id="2147483690" r:id="rId19"/>
    <p:sldLayoutId id="2147483707" r:id="rId20"/>
    <p:sldLayoutId id="2147483708" r:id="rId21"/>
    <p:sldLayoutId id="2147483848" r:id="rId22"/>
    <p:sldLayoutId id="2147483849" r:id="rId23"/>
    <p:sldLayoutId id="2147483694" r:id="rId24"/>
    <p:sldLayoutId id="2147483803" r:id="rId25"/>
    <p:sldLayoutId id="2147483824" r:id="rId26"/>
    <p:sldLayoutId id="2147483770" r:id="rId27"/>
    <p:sldLayoutId id="2147483801" r:id="rId28"/>
    <p:sldLayoutId id="2147483808" r:id="rId29"/>
    <p:sldLayoutId id="2147483672" r:id="rId30"/>
    <p:sldLayoutId id="2147483804" r:id="rId31"/>
    <p:sldLayoutId id="2147483696" r:id="rId32"/>
    <p:sldLayoutId id="2147483845" r:id="rId33"/>
    <p:sldLayoutId id="2147483846" r:id="rId34"/>
    <p:sldLayoutId id="2147483847" r:id="rId35"/>
    <p:sldLayoutId id="2147483826" r:id="rId36"/>
    <p:sldLayoutId id="2147483775" r:id="rId37"/>
    <p:sldLayoutId id="2147483823" r:id="rId38"/>
    <p:sldLayoutId id="2147483842" r:id="rId39"/>
    <p:sldLayoutId id="2147483843" r:id="rId40"/>
    <p:sldLayoutId id="2147483844" r:id="rId41"/>
    <p:sldLayoutId id="2147483664" r:id="rId42"/>
    <p:sldLayoutId id="2147483665" r:id="rId43"/>
    <p:sldLayoutId id="2147483666" r:id="rId44"/>
    <p:sldLayoutId id="2147483667" r:id="rId45"/>
    <p:sldLayoutId id="2147483668" r:id="rId46"/>
    <p:sldLayoutId id="2147483669" r:id="rId47"/>
    <p:sldLayoutId id="2147483685" r:id="rId48"/>
    <p:sldLayoutId id="2147483730" r:id="rId4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42.xml"/><Relationship Id="rId5" Type="http://schemas.openxmlformats.org/officeDocument/2006/relationships/image" Target="../media/image22.jpeg"/><Relationship Id="rId4" Type="http://schemas.openxmlformats.org/officeDocument/2006/relationships/image" Target="../media/image21.svg"/></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42.xml"/><Relationship Id="rId4" Type="http://schemas.openxmlformats.org/officeDocument/2006/relationships/image" Target="../media/image24.svg"/></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42.xml"/><Relationship Id="rId5" Type="http://schemas.openxmlformats.org/officeDocument/2006/relationships/image" Target="../media/image25.jpeg"/><Relationship Id="rId4" Type="http://schemas.openxmlformats.org/officeDocument/2006/relationships/image" Target="../media/image21.sv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42.xml"/><Relationship Id="rId5" Type="http://schemas.openxmlformats.org/officeDocument/2006/relationships/image" Target="../media/image26.jpeg"/><Relationship Id="rId4" Type="http://schemas.openxmlformats.org/officeDocument/2006/relationships/image" Target="../media/image21.sv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42.xml"/><Relationship Id="rId5" Type="http://schemas.openxmlformats.org/officeDocument/2006/relationships/image" Target="../media/image27.jpeg"/><Relationship Id="rId4"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42.xml"/><Relationship Id="rId5" Type="http://schemas.openxmlformats.org/officeDocument/2006/relationships/image" Target="../media/image28.jpeg"/><Relationship Id="rId4" Type="http://schemas.openxmlformats.org/officeDocument/2006/relationships/image" Target="../media/image21.sv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42.xml"/><Relationship Id="rId5" Type="http://schemas.openxmlformats.org/officeDocument/2006/relationships/image" Target="../media/image29.jpeg"/><Relationship Id="rId4" Type="http://schemas.openxmlformats.org/officeDocument/2006/relationships/image" Target="../media/image21.sv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42.xml"/><Relationship Id="rId5" Type="http://schemas.openxmlformats.org/officeDocument/2006/relationships/image" Target="../media/image30.jpeg"/><Relationship Id="rId4" Type="http://schemas.openxmlformats.org/officeDocument/2006/relationships/image" Target="../media/image21.sv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42.xml"/><Relationship Id="rId5" Type="http://schemas.openxmlformats.org/officeDocument/2006/relationships/image" Target="../media/image29.jpeg"/><Relationship Id="rId4" Type="http://schemas.openxmlformats.org/officeDocument/2006/relationships/image" Target="../media/image21.sv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42.xml"/><Relationship Id="rId5" Type="http://schemas.openxmlformats.org/officeDocument/2006/relationships/image" Target="../media/image31.jpeg"/><Relationship Id="rId4" Type="http://schemas.openxmlformats.org/officeDocument/2006/relationships/image" Target="../media/image21.sv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42.xml"/><Relationship Id="rId5" Type="http://schemas.openxmlformats.org/officeDocument/2006/relationships/image" Target="../media/image32.jpe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42.xml"/><Relationship Id="rId5" Type="http://schemas.openxmlformats.org/officeDocument/2006/relationships/image" Target="../media/image33.jpeg"/><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A298B24-F026-4317-AA9D-060CA53DF3A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mountain road through grassy meadow at night. wonderful summer adventure in full moon light. clouds on the blue sky">
            <a:extLst>
              <a:ext uri="{FF2B5EF4-FFF2-40B4-BE49-F238E27FC236}">
                <a16:creationId xmlns:a16="http://schemas.microsoft.com/office/drawing/2014/main" id="{E639FAF8-95C7-4677-89A8-C1A7D7E25444}"/>
              </a:ext>
            </a:extLst>
          </p:cNvPr>
          <p:cNvPicPr>
            <a:picLocks noGrp="1" noChangeAspect="1"/>
          </p:cNvPicPr>
          <p:nvPr>
            <p:ph sz="quarter" idx="16"/>
          </p:nvPr>
        </p:nvPicPr>
        <p:blipFill>
          <a:blip r:embed="rId5"/>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67D63061-E117-4A15-8CD0-903452C36CC5}"/>
              </a:ext>
            </a:extLst>
          </p:cNvPr>
          <p:cNvSpPr txBox="1"/>
          <p:nvPr/>
        </p:nvSpPr>
        <p:spPr>
          <a:xfrm>
            <a:off x="619125" y="999232"/>
            <a:ext cx="4391025" cy="2011412"/>
          </a:xfrm>
          <a:prstGeom prst="rect">
            <a:avLst/>
          </a:prstGeom>
          <a:noFill/>
        </p:spPr>
        <p:txBody>
          <a:bodyPr wrap="square" rtlCol="0">
            <a:normAutofit/>
          </a:bodyPr>
          <a:lstStyle/>
          <a:p>
            <a:pPr marL="0" algn="l">
              <a:buNone/>
            </a:pPr>
            <a:r>
              <a:rPr sz="4800" b="0">
                <a:solidFill>
                  <a:srgbClr val="1B334D"/>
                </a:solidFill>
                <a:effectLst/>
                <a:latin typeface="Daytona Bold" panose="020B0804030500040204" pitchFamily="34" charset="0"/>
              </a:rPr>
              <a:t>Resilience &amp; The Long Game</a:t>
            </a:r>
            <a:r>
              <a:rPr>
                <a:effectLst/>
              </a:rPr>
              <a:t> </a:t>
            </a:r>
            <a:endParaRPr lang="en-US"/>
          </a:p>
        </p:txBody>
      </p:sp>
      <p:sp>
        <p:nvSpPr>
          <p:cNvPr id="8" name="TextBox 7">
            <a:extLst>
              <a:ext uri="{FF2B5EF4-FFF2-40B4-BE49-F238E27FC236}">
                <a16:creationId xmlns:a16="http://schemas.microsoft.com/office/drawing/2014/main" id="{7C60166C-0A3F-4799-9C00-7FFF04D5A6FC}"/>
              </a:ext>
            </a:extLst>
          </p:cNvPr>
          <p:cNvSpPr txBox="1"/>
          <p:nvPr/>
        </p:nvSpPr>
        <p:spPr>
          <a:xfrm>
            <a:off x="619125" y="5752058"/>
            <a:ext cx="4391025" cy="297060"/>
          </a:xfrm>
          <a:prstGeom prst="rect">
            <a:avLst/>
          </a:prstGeom>
          <a:noFill/>
        </p:spPr>
        <p:txBody>
          <a:bodyPr wrap="square" rtlCol="0">
            <a:normAutofit/>
          </a:bodyPr>
          <a:lstStyle/>
          <a:p>
            <a:pPr marL="0" algn="l">
              <a:buNone/>
            </a:pPr>
            <a:r>
              <a:rPr sz="1800" b="0">
                <a:solidFill>
                  <a:srgbClr val="1B334D"/>
                </a:solidFill>
                <a:effectLst/>
                <a:latin typeface="Daytona Bold" panose="020B0804030500040204" pitchFamily="34" charset="0"/>
              </a:rPr>
              <a:t>Endurance and long-term vision</a:t>
            </a:r>
            <a:r>
              <a:rPr>
                <a:effectLst/>
              </a:rPr>
              <a:t> </a:t>
            </a:r>
            <a:endParaRPr lang="en-US"/>
          </a:p>
        </p:txBody>
      </p:sp>
    </p:spTree>
    <p:extLst>
      <p:ext uri="{BB962C8B-B14F-4D97-AF65-F5344CB8AC3E}">
        <p14:creationId xmlns:p14="http://schemas.microsoft.com/office/powerpoint/2010/main" val="2764584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87FAEA3-CD95-4BE3-9716-7F21C5A1644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826E2838-B222-9A35-AE3F-B8C9D8E16D0E}"/>
              </a:ext>
            </a:extLst>
          </p:cNvPr>
          <p:cNvSpPr>
            <a:spLocks noGrp="1"/>
          </p:cNvSpPr>
          <p:nvPr>
            <p:ph sz="quarter" idx="16"/>
          </p:nvPr>
        </p:nvSpPr>
        <p:spPr>
          <a:xfrm>
            <a:off x="828675" y="5425975"/>
            <a:ext cx="10534650" cy="603349"/>
          </a:xfrm>
        </p:spPr>
        <p:txBody>
          <a:bodyPr/>
          <a:lstStyle/>
          <a:p>
            <a:pPr marL="0" marR="0" indent="0" algn="l" fontAlgn="b">
              <a:buNone/>
            </a:pPr>
            <a:r>
              <a:rPr>
                <a:solidFill>
                  <a:srgbClr val="1B334D"/>
                </a:solidFill>
                <a:effectLst/>
                <a:latin typeface="Daytona Bold" panose="020B0804030500040204" pitchFamily="34" charset="0"/>
              </a:rPr>
              <a:t>Resilience During a Slow Job Search </a:t>
            </a:r>
            <a:endParaRPr lang="en-US"/>
          </a:p>
        </p:txBody>
      </p:sp>
    </p:spTree>
    <p:extLst>
      <p:ext uri="{BB962C8B-B14F-4D97-AF65-F5344CB8AC3E}">
        <p14:creationId xmlns:p14="http://schemas.microsoft.com/office/powerpoint/2010/main" val="2803364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77651DA-CDA7-47B8-9463-BDC6C7809BF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the malvern hills worcestershire">
            <a:extLst>
              <a:ext uri="{FF2B5EF4-FFF2-40B4-BE49-F238E27FC236}">
                <a16:creationId xmlns:a16="http://schemas.microsoft.com/office/drawing/2014/main" id="{F7B9D2B9-E011-43D8-B6F6-AA343ADF8523}"/>
              </a:ext>
            </a:extLst>
          </p:cNvPr>
          <p:cNvPicPr>
            <a:picLocks noGrp="1" noChangeAspect="1"/>
          </p:cNvPicPr>
          <p:nvPr>
            <p:ph sz="quarter" idx="16"/>
          </p:nvPr>
        </p:nvPicPr>
        <p:blipFill>
          <a:blip r:embed="rId5"/>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C700796A-5E63-4893-B039-AB45518DE335}"/>
              </a:ext>
            </a:extLst>
          </p:cNvPr>
          <p:cNvSpPr txBox="1"/>
          <p:nvPr/>
        </p:nvSpPr>
        <p:spPr>
          <a:xfrm>
            <a:off x="7200900" y="581025"/>
            <a:ext cx="4391025" cy="335160"/>
          </a:xfrm>
          <a:prstGeom prst="rect">
            <a:avLst/>
          </a:prstGeom>
          <a:noFill/>
        </p:spPr>
        <p:txBody>
          <a:bodyPr wrap="square" rtlCol="0">
            <a:normAutofit/>
          </a:bodyPr>
          <a:lstStyle/>
          <a:p>
            <a:pPr marL="0" algn="l">
              <a:buNone/>
            </a:pPr>
            <a:r>
              <a:rPr>
                <a:solidFill>
                  <a:srgbClr val="1B334D"/>
                </a:solidFill>
                <a:effectLst/>
                <a:latin typeface="Daytona Bold" panose="020B0804030500040204" pitchFamily="34" charset="0"/>
              </a:rPr>
              <a:t>Resilience &amp; The Long Game </a:t>
            </a:r>
            <a:endParaRPr lang="en-US"/>
          </a:p>
        </p:txBody>
      </p:sp>
      <p:sp>
        <p:nvSpPr>
          <p:cNvPr id="8" name="TextBox 7">
            <a:extLst>
              <a:ext uri="{FF2B5EF4-FFF2-40B4-BE49-F238E27FC236}">
                <a16:creationId xmlns:a16="http://schemas.microsoft.com/office/drawing/2014/main" id="{73315590-CF4C-479E-9DC3-BE4B5396EB1B}"/>
              </a:ext>
            </a:extLst>
          </p:cNvPr>
          <p:cNvSpPr txBox="1"/>
          <p:nvPr/>
        </p:nvSpPr>
        <p:spPr>
          <a:xfrm>
            <a:off x="7200900" y="1182885"/>
            <a:ext cx="4391025" cy="214312"/>
          </a:xfrm>
          <a:prstGeom prst="rect">
            <a:avLst/>
          </a:prstGeom>
          <a:noFill/>
        </p:spPr>
        <p:txBody>
          <a:bodyPr wrap="square" rtlCol="0">
            <a:normAutofit/>
          </a:bodyPr>
          <a:lstStyle/>
          <a:p>
            <a:pPr marL="0" algn="l">
              <a:buNone/>
            </a:pPr>
            <a:r>
              <a:rPr sz="1350" b="1">
                <a:solidFill>
                  <a:srgbClr val="1B334D"/>
                </a:solidFill>
                <a:effectLst/>
                <a:latin typeface="Daytona Bold" panose="020B0804030500040204" pitchFamily="34" charset="0"/>
              </a:rPr>
              <a:t>A slow search is a predictable stressor </a:t>
            </a:r>
            <a:endParaRPr lang="en-US"/>
          </a:p>
        </p:txBody>
      </p:sp>
      <p:sp>
        <p:nvSpPr>
          <p:cNvPr id="9" name="TextBox 8">
            <a:extLst>
              <a:ext uri="{FF2B5EF4-FFF2-40B4-BE49-F238E27FC236}">
                <a16:creationId xmlns:a16="http://schemas.microsoft.com/office/drawing/2014/main" id="{4DDF6596-1D37-482B-B4AE-3D03769E2EA6}"/>
              </a:ext>
            </a:extLst>
          </p:cNvPr>
          <p:cNvSpPr txBox="1"/>
          <p:nvPr/>
        </p:nvSpPr>
        <p:spPr>
          <a:xfrm>
            <a:off x="7200900" y="1492448"/>
            <a:ext cx="4391025" cy="694283"/>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Early-career silence can hit confidence, motivation, and emotional regulation. It’s not personal failure—it’s an understandable response to uncertainty. </a:t>
            </a:r>
            <a:endParaRPr lang="en-US"/>
          </a:p>
        </p:txBody>
      </p:sp>
      <p:sp>
        <p:nvSpPr>
          <p:cNvPr id="10" name="TextBox 9">
            <a:extLst>
              <a:ext uri="{FF2B5EF4-FFF2-40B4-BE49-F238E27FC236}">
                <a16:creationId xmlns:a16="http://schemas.microsoft.com/office/drawing/2014/main" id="{3A040003-5C13-4761-B363-568A765FCD5A}"/>
              </a:ext>
            </a:extLst>
          </p:cNvPr>
          <p:cNvSpPr txBox="1"/>
          <p:nvPr/>
        </p:nvSpPr>
        <p:spPr>
          <a:xfrm>
            <a:off x="7200900" y="2320081"/>
            <a:ext cx="4391025" cy="214312"/>
          </a:xfrm>
          <a:prstGeom prst="rect">
            <a:avLst/>
          </a:prstGeom>
          <a:noFill/>
        </p:spPr>
        <p:txBody>
          <a:bodyPr wrap="square" rtlCol="0">
            <a:normAutofit/>
          </a:bodyPr>
          <a:lstStyle/>
          <a:p>
            <a:pPr marL="0" marR="0" algn="l">
              <a:spcBef>
                <a:spcPts val="1050"/>
              </a:spcBef>
              <a:buNone/>
            </a:pPr>
            <a:r>
              <a:rPr sz="1350" b="1">
                <a:solidFill>
                  <a:srgbClr val="1B334D"/>
                </a:solidFill>
                <a:effectLst/>
                <a:latin typeface="Daytona Bold" panose="020B0804030500040204" pitchFamily="34" charset="0"/>
              </a:rPr>
              <a:t>Self‑efficacy is buildable (JSSE) </a:t>
            </a:r>
            <a:endParaRPr lang="en-US"/>
          </a:p>
        </p:txBody>
      </p:sp>
      <p:sp>
        <p:nvSpPr>
          <p:cNvPr id="11" name="TextBox 10">
            <a:extLst>
              <a:ext uri="{FF2B5EF4-FFF2-40B4-BE49-F238E27FC236}">
                <a16:creationId xmlns:a16="http://schemas.microsoft.com/office/drawing/2014/main" id="{DA2F1D07-6EFA-446D-99E6-6582C40D0456}"/>
              </a:ext>
            </a:extLst>
          </p:cNvPr>
          <p:cNvSpPr txBox="1"/>
          <p:nvPr/>
        </p:nvSpPr>
        <p:spPr>
          <a:xfrm>
            <a:off x="7200900" y="2629644"/>
            <a:ext cx="4391025" cy="694283"/>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Job Search Self‑Efficacy predicts persistence and outcomes—even in unstable markets. It grows through practice, feedback, and small repeatable wins. </a:t>
            </a:r>
            <a:endParaRPr lang="en-US"/>
          </a:p>
        </p:txBody>
      </p:sp>
      <p:sp>
        <p:nvSpPr>
          <p:cNvPr id="12" name="TextBox 11">
            <a:extLst>
              <a:ext uri="{FF2B5EF4-FFF2-40B4-BE49-F238E27FC236}">
                <a16:creationId xmlns:a16="http://schemas.microsoft.com/office/drawing/2014/main" id="{59F674EE-EC76-4BC1-913D-74EAF6A7929F}"/>
              </a:ext>
            </a:extLst>
          </p:cNvPr>
          <p:cNvSpPr txBox="1"/>
          <p:nvPr/>
        </p:nvSpPr>
        <p:spPr>
          <a:xfrm>
            <a:off x="7200900" y="3457277"/>
            <a:ext cx="4391025" cy="214312"/>
          </a:xfrm>
          <a:prstGeom prst="rect">
            <a:avLst/>
          </a:prstGeom>
          <a:noFill/>
        </p:spPr>
        <p:txBody>
          <a:bodyPr wrap="square" rtlCol="0">
            <a:normAutofit/>
          </a:bodyPr>
          <a:lstStyle/>
          <a:p>
            <a:pPr marL="0" marR="0" algn="l">
              <a:spcBef>
                <a:spcPts val="1050"/>
              </a:spcBef>
              <a:buNone/>
            </a:pPr>
            <a:r>
              <a:rPr sz="1350" b="1">
                <a:solidFill>
                  <a:srgbClr val="1B334D"/>
                </a:solidFill>
                <a:effectLst/>
                <a:latin typeface="Daytona Bold" panose="020B0804030500040204" pitchFamily="34" charset="0"/>
              </a:rPr>
              <a:t>Resilience + tactics = one system </a:t>
            </a:r>
            <a:endParaRPr lang="en-US"/>
          </a:p>
        </p:txBody>
      </p:sp>
      <p:sp>
        <p:nvSpPr>
          <p:cNvPr id="13" name="TextBox 12">
            <a:extLst>
              <a:ext uri="{FF2B5EF4-FFF2-40B4-BE49-F238E27FC236}">
                <a16:creationId xmlns:a16="http://schemas.microsoft.com/office/drawing/2014/main" id="{98724AEF-AD9E-4E3A-B480-31F99F5887C4}"/>
              </a:ext>
            </a:extLst>
          </p:cNvPr>
          <p:cNvSpPr txBox="1"/>
          <p:nvPr/>
        </p:nvSpPr>
        <p:spPr>
          <a:xfrm>
            <a:off x="7200900" y="3766839"/>
            <a:ext cx="4391025" cy="1271438"/>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Evidence supports combining psychological skills (e.g., CBT, resilience) with practical coaching. The aim is agency without toxic positivity. </a:t>
            </a:r>
            <a:endParaRPr>
              <a:effectLst/>
            </a:endParaRPr>
          </a:p>
          <a:p>
            <a:pPr marL="0" marR="0" algn="l">
              <a:spcBef>
                <a:spcPts val="900"/>
              </a:spcBef>
              <a:buNone/>
            </a:pPr>
            <a:r>
              <a:rPr sz="1350">
                <a:solidFill>
                  <a:srgbClr val="01615A"/>
                </a:solidFill>
                <a:effectLst/>
                <a:latin typeface="Daytona Bold" panose="020B0804030500040204" pitchFamily="34" charset="0"/>
              </a:rPr>
              <a:t>Reframe: This season isn’t proof you’re behind—it’s training for decades. </a:t>
            </a:r>
            <a:endParaRPr lang="en-US"/>
          </a:p>
        </p:txBody>
      </p:sp>
    </p:spTree>
    <p:extLst>
      <p:ext uri="{BB962C8B-B14F-4D97-AF65-F5344CB8AC3E}">
        <p14:creationId xmlns:p14="http://schemas.microsoft.com/office/powerpoint/2010/main" val="3862627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7EAD3E2-F5B8-412E-A4DD-698CEDBEF4D8}"/>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3d illustration human brain">
            <a:extLst>
              <a:ext uri="{FF2B5EF4-FFF2-40B4-BE49-F238E27FC236}">
                <a16:creationId xmlns:a16="http://schemas.microsoft.com/office/drawing/2014/main" id="{F1D03AB4-8DB8-41ED-8472-94F856CCD6CA}"/>
              </a:ext>
            </a:extLst>
          </p:cNvPr>
          <p:cNvPicPr>
            <a:picLocks noGrp="1" noChangeAspect="1"/>
          </p:cNvPicPr>
          <p:nvPr>
            <p:ph sz="quarter" idx="16"/>
          </p:nvPr>
        </p:nvPicPr>
        <p:blipFill>
          <a:blip r:embed="rId5"/>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458E4775-C522-4B17-A3B4-F04F28098ACB}"/>
              </a:ext>
            </a:extLst>
          </p:cNvPr>
          <p:cNvSpPr txBox="1"/>
          <p:nvPr/>
        </p:nvSpPr>
        <p:spPr>
          <a:xfrm>
            <a:off x="619125" y="581025"/>
            <a:ext cx="4391025" cy="938510"/>
          </a:xfrm>
          <a:prstGeom prst="rect">
            <a:avLst/>
          </a:prstGeom>
          <a:noFill/>
        </p:spPr>
        <p:txBody>
          <a:bodyPr wrap="square" rtlCol="0">
            <a:normAutofit/>
          </a:bodyPr>
          <a:lstStyle/>
          <a:p>
            <a:pPr marL="0" algn="l">
              <a:buNone/>
            </a:pPr>
            <a:r>
              <a:rPr>
                <a:solidFill>
                  <a:srgbClr val="1B334D"/>
                </a:solidFill>
                <a:effectLst/>
                <a:latin typeface="Daytona Bold" panose="020B0804030500040204" pitchFamily="34" charset="0"/>
              </a:rPr>
              <a:t>What’s Happening in Your Brain </a:t>
            </a:r>
            <a:endParaRPr lang="en-US"/>
          </a:p>
        </p:txBody>
      </p:sp>
      <p:sp>
        <p:nvSpPr>
          <p:cNvPr id="8" name="TextBox 7">
            <a:extLst>
              <a:ext uri="{FF2B5EF4-FFF2-40B4-BE49-F238E27FC236}">
                <a16:creationId xmlns:a16="http://schemas.microsoft.com/office/drawing/2014/main" id="{FC8AE9C7-4714-495F-BCAD-44660BC919AB}"/>
              </a:ext>
            </a:extLst>
          </p:cNvPr>
          <p:cNvSpPr txBox="1"/>
          <p:nvPr/>
        </p:nvSpPr>
        <p:spPr>
          <a:xfrm>
            <a:off x="619125" y="1786235"/>
            <a:ext cx="4391025" cy="214312"/>
          </a:xfrm>
          <a:prstGeom prst="rect">
            <a:avLst/>
          </a:prstGeom>
          <a:noFill/>
        </p:spPr>
        <p:txBody>
          <a:bodyPr wrap="square" rtlCol="0">
            <a:normAutofit/>
          </a:bodyPr>
          <a:lstStyle/>
          <a:p>
            <a:pPr marL="0" algn="l">
              <a:buNone/>
            </a:pPr>
            <a:r>
              <a:rPr sz="1350" b="1">
                <a:solidFill>
                  <a:srgbClr val="1B334D"/>
                </a:solidFill>
                <a:effectLst/>
                <a:latin typeface="Daytona Bold" panose="020B0804030500040204" pitchFamily="34" charset="0"/>
              </a:rPr>
              <a:t>Threat response + motivation drop</a:t>
            </a:r>
            <a:r>
              <a:rPr>
                <a:effectLst/>
              </a:rPr>
              <a:t> </a:t>
            </a:r>
            <a:endParaRPr lang="en-US"/>
          </a:p>
        </p:txBody>
      </p:sp>
      <p:sp>
        <p:nvSpPr>
          <p:cNvPr id="9" name="TextBox 8">
            <a:extLst>
              <a:ext uri="{FF2B5EF4-FFF2-40B4-BE49-F238E27FC236}">
                <a16:creationId xmlns:a16="http://schemas.microsoft.com/office/drawing/2014/main" id="{4B91AA13-32DA-45B9-9E04-10570FCB7B41}"/>
              </a:ext>
            </a:extLst>
          </p:cNvPr>
          <p:cNvSpPr txBox="1"/>
          <p:nvPr/>
        </p:nvSpPr>
        <p:spPr>
          <a:xfrm>
            <a:off x="619125" y="2095797"/>
            <a:ext cx="4391025" cy="925710"/>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Repeated rejection and uncertainty can keep the brain in “threat mode,” making focus, confidence, and problem‑solving harder—even when you want to keep going. </a:t>
            </a:r>
            <a:endParaRPr lang="en-US"/>
          </a:p>
        </p:txBody>
      </p:sp>
      <p:sp>
        <p:nvSpPr>
          <p:cNvPr id="10" name="TextBox 9">
            <a:extLst>
              <a:ext uri="{FF2B5EF4-FFF2-40B4-BE49-F238E27FC236}">
                <a16:creationId xmlns:a16="http://schemas.microsoft.com/office/drawing/2014/main" id="{5D9D5A7E-696A-412A-86B6-145459DC852E}"/>
              </a:ext>
            </a:extLst>
          </p:cNvPr>
          <p:cNvSpPr txBox="1"/>
          <p:nvPr/>
        </p:nvSpPr>
        <p:spPr>
          <a:xfrm>
            <a:off x="619125" y="3173908"/>
            <a:ext cx="4391025" cy="214312"/>
          </a:xfrm>
          <a:prstGeom prst="rect">
            <a:avLst/>
          </a:prstGeom>
          <a:noFill/>
        </p:spPr>
        <p:txBody>
          <a:bodyPr wrap="square" rtlCol="0">
            <a:normAutofit/>
          </a:bodyPr>
          <a:lstStyle/>
          <a:p>
            <a:pPr marL="0" marR="0" algn="l">
              <a:spcBef>
                <a:spcPts val="1200"/>
              </a:spcBef>
              <a:buNone/>
            </a:pPr>
            <a:r>
              <a:rPr sz="1350" b="1">
                <a:solidFill>
                  <a:srgbClr val="1B334D"/>
                </a:solidFill>
                <a:effectLst/>
                <a:latin typeface="Daytona Bold" panose="020B0804030500040204" pitchFamily="34" charset="0"/>
              </a:rPr>
              <a:t>Learned helplessness patterns</a:t>
            </a:r>
            <a:r>
              <a:rPr>
                <a:effectLst/>
              </a:rPr>
              <a:t> </a:t>
            </a:r>
            <a:endParaRPr lang="en-US"/>
          </a:p>
        </p:txBody>
      </p:sp>
      <p:sp>
        <p:nvSpPr>
          <p:cNvPr id="11" name="TextBox 10">
            <a:extLst>
              <a:ext uri="{FF2B5EF4-FFF2-40B4-BE49-F238E27FC236}">
                <a16:creationId xmlns:a16="http://schemas.microsoft.com/office/drawing/2014/main" id="{9FC57C1F-4170-447E-A55A-8B809D8B249B}"/>
              </a:ext>
            </a:extLst>
          </p:cNvPr>
          <p:cNvSpPr txBox="1"/>
          <p:nvPr/>
        </p:nvSpPr>
        <p:spPr>
          <a:xfrm>
            <a:off x="619125" y="3483471"/>
            <a:ext cx="4391025" cy="694283"/>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Over time, effort may shrink or become misdirected—avoidance, numbing, or “mass applying” that feels busy but disconnected from strategy. </a:t>
            </a:r>
            <a:endParaRPr lang="en-US"/>
          </a:p>
        </p:txBody>
      </p:sp>
      <p:sp>
        <p:nvSpPr>
          <p:cNvPr id="12" name="TextBox 11">
            <a:extLst>
              <a:ext uri="{FF2B5EF4-FFF2-40B4-BE49-F238E27FC236}">
                <a16:creationId xmlns:a16="http://schemas.microsoft.com/office/drawing/2014/main" id="{C25732D7-08C5-42DE-A171-0EA1B122AAF1}"/>
              </a:ext>
            </a:extLst>
          </p:cNvPr>
          <p:cNvSpPr txBox="1"/>
          <p:nvPr/>
        </p:nvSpPr>
        <p:spPr>
          <a:xfrm>
            <a:off x="619125" y="4330154"/>
            <a:ext cx="4391025" cy="214312"/>
          </a:xfrm>
          <a:prstGeom prst="rect">
            <a:avLst/>
          </a:prstGeom>
          <a:noFill/>
        </p:spPr>
        <p:txBody>
          <a:bodyPr wrap="square" rtlCol="0">
            <a:normAutofit/>
          </a:bodyPr>
          <a:lstStyle/>
          <a:p>
            <a:pPr marL="0" marR="0" algn="l">
              <a:spcBef>
                <a:spcPts val="1200"/>
              </a:spcBef>
              <a:buNone/>
            </a:pPr>
            <a:r>
              <a:rPr sz="1350" b="1">
                <a:solidFill>
                  <a:srgbClr val="01615A"/>
                </a:solidFill>
                <a:effectLst/>
                <a:latin typeface="Daytona Bold" panose="020B0804030500040204" pitchFamily="34" charset="0"/>
              </a:rPr>
              <a:t>Reframe + what helps</a:t>
            </a:r>
            <a:r>
              <a:rPr>
                <a:effectLst/>
              </a:rPr>
              <a:t> </a:t>
            </a:r>
            <a:endParaRPr lang="en-US"/>
          </a:p>
        </p:txBody>
      </p:sp>
      <p:sp>
        <p:nvSpPr>
          <p:cNvPr id="13" name="TextBox 12">
            <a:extLst>
              <a:ext uri="{FF2B5EF4-FFF2-40B4-BE49-F238E27FC236}">
                <a16:creationId xmlns:a16="http://schemas.microsoft.com/office/drawing/2014/main" id="{8AD3D2FB-204F-46CF-A932-296C14CEE123}"/>
              </a:ext>
            </a:extLst>
          </p:cNvPr>
          <p:cNvSpPr txBox="1"/>
          <p:nvPr/>
        </p:nvSpPr>
        <p:spPr>
          <a:xfrm>
            <a:off x="619125" y="4639716"/>
            <a:ext cx="4391025" cy="925710"/>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Your brain isn’t broken—it’s reacting predictably. Structure and controllable process goals (routines, time blocks, CBT thought tracking) rebuild a sense of control and re‑engage problem‑solving. </a:t>
            </a:r>
            <a:endParaRPr lang="en-US"/>
          </a:p>
        </p:txBody>
      </p:sp>
    </p:spTree>
    <p:extLst>
      <p:ext uri="{BB962C8B-B14F-4D97-AF65-F5344CB8AC3E}">
        <p14:creationId xmlns:p14="http://schemas.microsoft.com/office/powerpoint/2010/main" val="657988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2FE92D8-799D-4D1B-8FD8-D5B96FA9B3B4}"/>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Sad dismissed worker quit a job, Resignation concept.">
            <a:extLst>
              <a:ext uri="{FF2B5EF4-FFF2-40B4-BE49-F238E27FC236}">
                <a16:creationId xmlns:a16="http://schemas.microsoft.com/office/drawing/2014/main" id="{90CBF847-7F04-43E8-961B-B3F95F88BFC8}"/>
              </a:ext>
            </a:extLst>
          </p:cNvPr>
          <p:cNvPicPr>
            <a:picLocks noGrp="1" noChangeAspect="1"/>
          </p:cNvPicPr>
          <p:nvPr>
            <p:ph sz="quarter" idx="16"/>
          </p:nvPr>
        </p:nvPicPr>
        <p:blipFill>
          <a:blip r:embed="rId5"/>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56CDF41D-FA21-4DBB-804A-E2FE581DA6B8}"/>
              </a:ext>
            </a:extLst>
          </p:cNvPr>
          <p:cNvSpPr txBox="1"/>
          <p:nvPr/>
        </p:nvSpPr>
        <p:spPr>
          <a:xfrm>
            <a:off x="7200900" y="581025"/>
            <a:ext cx="4391025" cy="670321"/>
          </a:xfrm>
          <a:prstGeom prst="rect">
            <a:avLst/>
          </a:prstGeom>
          <a:noFill/>
        </p:spPr>
        <p:txBody>
          <a:bodyPr wrap="square" rtlCol="0">
            <a:normAutofit/>
          </a:bodyPr>
          <a:lstStyle/>
          <a:p>
            <a:pPr marL="0" algn="l">
              <a:buNone/>
            </a:pPr>
            <a:r>
              <a:rPr>
                <a:solidFill>
                  <a:srgbClr val="1B334D"/>
                </a:solidFill>
                <a:effectLst/>
                <a:latin typeface="Daytona Bold" panose="020B0804030500040204" pitchFamily="34" charset="0"/>
              </a:rPr>
              <a:t>The Strategy Problem: Why Mass Applying Fails </a:t>
            </a:r>
            <a:endParaRPr lang="en-US"/>
          </a:p>
        </p:txBody>
      </p:sp>
      <p:sp>
        <p:nvSpPr>
          <p:cNvPr id="8" name="TextBox 7">
            <a:extLst>
              <a:ext uri="{FF2B5EF4-FFF2-40B4-BE49-F238E27FC236}">
                <a16:creationId xmlns:a16="http://schemas.microsoft.com/office/drawing/2014/main" id="{C156E47B-40F2-434C-A060-CA3EB7B2FB23}"/>
              </a:ext>
            </a:extLst>
          </p:cNvPr>
          <p:cNvSpPr txBox="1"/>
          <p:nvPr/>
        </p:nvSpPr>
        <p:spPr>
          <a:xfrm>
            <a:off x="7200900" y="1518046"/>
            <a:ext cx="4391025" cy="214312"/>
          </a:xfrm>
          <a:prstGeom prst="rect">
            <a:avLst/>
          </a:prstGeom>
          <a:noFill/>
        </p:spPr>
        <p:txBody>
          <a:bodyPr wrap="square" rtlCol="0">
            <a:normAutofit/>
          </a:bodyPr>
          <a:lstStyle/>
          <a:p>
            <a:pPr marL="0" algn="l">
              <a:buNone/>
            </a:pPr>
            <a:r>
              <a:rPr sz="1350" b="1">
                <a:solidFill>
                  <a:srgbClr val="1B334D"/>
                </a:solidFill>
                <a:effectLst/>
                <a:latin typeface="Daytona Bold" panose="020B0804030500040204" pitchFamily="34" charset="0"/>
              </a:rPr>
              <a:t>Effort–response gap is growing </a:t>
            </a:r>
            <a:endParaRPr lang="en-US"/>
          </a:p>
        </p:txBody>
      </p:sp>
      <p:sp>
        <p:nvSpPr>
          <p:cNvPr id="9" name="TextBox 8">
            <a:extLst>
              <a:ext uri="{FF2B5EF4-FFF2-40B4-BE49-F238E27FC236}">
                <a16:creationId xmlns:a16="http://schemas.microsoft.com/office/drawing/2014/main" id="{B80A563D-C479-4FEA-844C-5F0568F21686}"/>
              </a:ext>
            </a:extLst>
          </p:cNvPr>
          <p:cNvSpPr txBox="1"/>
          <p:nvPr/>
        </p:nvSpPr>
        <p:spPr>
          <a:xfrm>
            <a:off x="7200900" y="1827609"/>
            <a:ext cx="4391025" cy="694283"/>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Higher application volume since 2022 hasn’t produced more offers; mass applying mostly drives silence and automated rejections. </a:t>
            </a:r>
            <a:endParaRPr lang="en-US"/>
          </a:p>
        </p:txBody>
      </p:sp>
      <p:sp>
        <p:nvSpPr>
          <p:cNvPr id="10" name="TextBox 9">
            <a:extLst>
              <a:ext uri="{FF2B5EF4-FFF2-40B4-BE49-F238E27FC236}">
                <a16:creationId xmlns:a16="http://schemas.microsoft.com/office/drawing/2014/main" id="{C5912802-4296-464B-9E24-386CA674A957}"/>
              </a:ext>
            </a:extLst>
          </p:cNvPr>
          <p:cNvSpPr txBox="1"/>
          <p:nvPr/>
        </p:nvSpPr>
        <p:spPr>
          <a:xfrm>
            <a:off x="7200900" y="2693342"/>
            <a:ext cx="4391025" cy="214312"/>
          </a:xfrm>
          <a:prstGeom prst="rect">
            <a:avLst/>
          </a:prstGeom>
          <a:noFill/>
        </p:spPr>
        <p:txBody>
          <a:bodyPr wrap="square" rtlCol="0">
            <a:normAutofit/>
          </a:bodyPr>
          <a:lstStyle/>
          <a:p>
            <a:pPr marL="0" marR="0" algn="l">
              <a:spcBef>
                <a:spcPts val="1350"/>
              </a:spcBef>
              <a:buNone/>
            </a:pPr>
            <a:r>
              <a:rPr sz="1350" b="1">
                <a:solidFill>
                  <a:srgbClr val="1B334D"/>
                </a:solidFill>
                <a:effectLst/>
                <a:latin typeface="Daytona Bold" panose="020B0804030500040204" pitchFamily="34" charset="0"/>
              </a:rPr>
              <a:t>Targeted applications win </a:t>
            </a:r>
            <a:endParaRPr lang="en-US"/>
          </a:p>
        </p:txBody>
      </p:sp>
      <p:sp>
        <p:nvSpPr>
          <p:cNvPr id="11" name="TextBox 10">
            <a:extLst>
              <a:ext uri="{FF2B5EF4-FFF2-40B4-BE49-F238E27FC236}">
                <a16:creationId xmlns:a16="http://schemas.microsoft.com/office/drawing/2014/main" id="{CE687064-0AB1-4D0B-947C-6C0E3B1EE5BB}"/>
              </a:ext>
            </a:extLst>
          </p:cNvPr>
          <p:cNvSpPr txBox="1"/>
          <p:nvPr/>
        </p:nvSpPr>
        <p:spPr>
          <a:xfrm>
            <a:off x="7200900" y="3002905"/>
            <a:ext cx="4391025" cy="694283"/>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Tailored submissions generate ~3–5× more responses. Track response rate or interviews per 10 to create feedback loops. </a:t>
            </a:r>
            <a:endParaRPr lang="en-US"/>
          </a:p>
        </p:txBody>
      </p:sp>
      <p:sp>
        <p:nvSpPr>
          <p:cNvPr id="12" name="TextBox 11">
            <a:extLst>
              <a:ext uri="{FF2B5EF4-FFF2-40B4-BE49-F238E27FC236}">
                <a16:creationId xmlns:a16="http://schemas.microsoft.com/office/drawing/2014/main" id="{E37E22F9-3D7C-4B8A-B8E9-5FE8D3996080}"/>
              </a:ext>
            </a:extLst>
          </p:cNvPr>
          <p:cNvSpPr txBox="1"/>
          <p:nvPr/>
        </p:nvSpPr>
        <p:spPr>
          <a:xfrm>
            <a:off x="7200900" y="3868638"/>
            <a:ext cx="4391025" cy="214312"/>
          </a:xfrm>
          <a:prstGeom prst="rect">
            <a:avLst/>
          </a:prstGeom>
          <a:noFill/>
        </p:spPr>
        <p:txBody>
          <a:bodyPr wrap="square" rtlCol="0">
            <a:normAutofit/>
          </a:bodyPr>
          <a:lstStyle/>
          <a:p>
            <a:pPr marL="0" marR="0" algn="l">
              <a:spcBef>
                <a:spcPts val="1350"/>
              </a:spcBef>
              <a:buNone/>
            </a:pPr>
            <a:r>
              <a:rPr sz="1350" b="1">
                <a:solidFill>
                  <a:srgbClr val="01615A"/>
                </a:solidFill>
                <a:effectLst/>
                <a:latin typeface="Daytona Bold" panose="020B0804030500040204" pitchFamily="34" charset="0"/>
              </a:rPr>
              <a:t>Key reframe </a:t>
            </a:r>
            <a:endParaRPr lang="en-US"/>
          </a:p>
        </p:txBody>
      </p:sp>
      <p:sp>
        <p:nvSpPr>
          <p:cNvPr id="13" name="TextBox 12">
            <a:extLst>
              <a:ext uri="{FF2B5EF4-FFF2-40B4-BE49-F238E27FC236}">
                <a16:creationId xmlns:a16="http://schemas.microsoft.com/office/drawing/2014/main" id="{B8F40B09-62B6-45A3-ACB5-5F4B6A2A7C6C}"/>
              </a:ext>
            </a:extLst>
          </p:cNvPr>
          <p:cNvSpPr txBox="1"/>
          <p:nvPr/>
        </p:nvSpPr>
        <p:spPr>
          <a:xfrm>
            <a:off x="7200900" y="4178200"/>
            <a:ext cx="4391025" cy="462855"/>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Silence is usually a strategy signal—not a verdict on your value. </a:t>
            </a:r>
            <a:endParaRPr lang="en-US"/>
          </a:p>
        </p:txBody>
      </p:sp>
    </p:spTree>
    <p:extLst>
      <p:ext uri="{BB962C8B-B14F-4D97-AF65-F5344CB8AC3E}">
        <p14:creationId xmlns:p14="http://schemas.microsoft.com/office/powerpoint/2010/main" val="2763756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72D5E6E-EFB0-498A-9FEE-3A1DB1791D85}"/>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Man working from home on the desk with laptop and coffee mug. Freelancers and business concepts">
            <a:extLst>
              <a:ext uri="{FF2B5EF4-FFF2-40B4-BE49-F238E27FC236}">
                <a16:creationId xmlns:a16="http://schemas.microsoft.com/office/drawing/2014/main" id="{7C33649B-42CB-4EBF-B612-91665A408F9B}"/>
              </a:ext>
            </a:extLst>
          </p:cNvPr>
          <p:cNvPicPr>
            <a:picLocks noGrp="1" noChangeAspect="1"/>
          </p:cNvPicPr>
          <p:nvPr>
            <p:ph sz="quarter" idx="16"/>
          </p:nvPr>
        </p:nvPicPr>
        <p:blipFill>
          <a:blip r:embed="rId5"/>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2F5ED49C-593D-4874-867A-69E4DA76AA33}"/>
              </a:ext>
            </a:extLst>
          </p:cNvPr>
          <p:cNvSpPr txBox="1"/>
          <p:nvPr/>
        </p:nvSpPr>
        <p:spPr>
          <a:xfrm>
            <a:off x="619125" y="581025"/>
            <a:ext cx="4391025" cy="335160"/>
          </a:xfrm>
          <a:prstGeom prst="rect">
            <a:avLst/>
          </a:prstGeom>
          <a:noFill/>
        </p:spPr>
        <p:txBody>
          <a:bodyPr wrap="square" rtlCol="0">
            <a:normAutofit/>
          </a:bodyPr>
          <a:lstStyle/>
          <a:p>
            <a:pPr marL="0" algn="l">
              <a:buNone/>
            </a:pPr>
            <a:r>
              <a:rPr>
                <a:solidFill>
                  <a:srgbClr val="1B334D"/>
                </a:solidFill>
                <a:effectLst/>
                <a:latin typeface="Daytona Bold" panose="020B0804030500040204" pitchFamily="34" charset="0"/>
              </a:rPr>
              <a:t>Rejection Is Data, Not a Verdict </a:t>
            </a:r>
            <a:endParaRPr lang="en-US"/>
          </a:p>
        </p:txBody>
      </p:sp>
      <p:sp>
        <p:nvSpPr>
          <p:cNvPr id="8" name="TextBox 7">
            <a:extLst>
              <a:ext uri="{FF2B5EF4-FFF2-40B4-BE49-F238E27FC236}">
                <a16:creationId xmlns:a16="http://schemas.microsoft.com/office/drawing/2014/main" id="{BE8F8C9C-A1CF-40F2-84DA-AB8E82F96846}"/>
              </a:ext>
            </a:extLst>
          </p:cNvPr>
          <p:cNvSpPr txBox="1"/>
          <p:nvPr/>
        </p:nvSpPr>
        <p:spPr>
          <a:xfrm>
            <a:off x="619125" y="1201935"/>
            <a:ext cx="4391025" cy="217140"/>
          </a:xfrm>
          <a:prstGeom prst="rect">
            <a:avLst/>
          </a:prstGeom>
          <a:noFill/>
        </p:spPr>
        <p:txBody>
          <a:bodyPr wrap="square" rtlCol="0">
            <a:normAutofit/>
          </a:bodyPr>
          <a:lstStyle/>
          <a:p>
            <a:pPr marL="0" algn="l">
              <a:buNone/>
            </a:pPr>
            <a:r>
              <a:rPr sz="1425" b="1">
                <a:solidFill>
                  <a:srgbClr val="1B334D"/>
                </a:solidFill>
                <a:effectLst/>
                <a:latin typeface="Daytona Bold" panose="020B0804030500040204" pitchFamily="34" charset="0"/>
              </a:rPr>
              <a:t>What rejection reflects </a:t>
            </a:r>
            <a:endParaRPr lang="en-US"/>
          </a:p>
        </p:txBody>
      </p:sp>
      <p:sp>
        <p:nvSpPr>
          <p:cNvPr id="9" name="TextBox 8">
            <a:extLst>
              <a:ext uri="{FF2B5EF4-FFF2-40B4-BE49-F238E27FC236}">
                <a16:creationId xmlns:a16="http://schemas.microsoft.com/office/drawing/2014/main" id="{00DDB012-FF5B-4148-AE91-8E6CB48E7358}"/>
              </a:ext>
            </a:extLst>
          </p:cNvPr>
          <p:cNvSpPr txBox="1"/>
          <p:nvPr/>
        </p:nvSpPr>
        <p:spPr>
          <a:xfrm>
            <a:off x="619125" y="1514326"/>
            <a:ext cx="4391025" cy="428625"/>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Fit, timing, competition, and tactics in a specific moment—not your worth or long‑term potential. </a:t>
            </a:r>
            <a:endParaRPr lang="en-US"/>
          </a:p>
        </p:txBody>
      </p:sp>
      <p:sp>
        <p:nvSpPr>
          <p:cNvPr id="10" name="TextBox 9">
            <a:extLst>
              <a:ext uri="{FF2B5EF4-FFF2-40B4-BE49-F238E27FC236}">
                <a16:creationId xmlns:a16="http://schemas.microsoft.com/office/drawing/2014/main" id="{BA871EAF-9888-4BBB-954C-ED8CDEA3D6F3}"/>
              </a:ext>
            </a:extLst>
          </p:cNvPr>
          <p:cNvSpPr txBox="1"/>
          <p:nvPr/>
        </p:nvSpPr>
        <p:spPr>
          <a:xfrm>
            <a:off x="619125" y="2114401"/>
            <a:ext cx="4391025" cy="217140"/>
          </a:xfrm>
          <a:prstGeom prst="rect">
            <a:avLst/>
          </a:prstGeom>
          <a:noFill/>
        </p:spPr>
        <p:txBody>
          <a:bodyPr wrap="square" rtlCol="0">
            <a:normAutofit/>
          </a:bodyPr>
          <a:lstStyle/>
          <a:p>
            <a:pPr marL="0" marR="0" algn="l">
              <a:spcBef>
                <a:spcPts val="1350"/>
              </a:spcBef>
              <a:buNone/>
            </a:pPr>
            <a:r>
              <a:rPr sz="1425" b="1">
                <a:solidFill>
                  <a:srgbClr val="1B334D"/>
                </a:solidFill>
                <a:effectLst/>
                <a:latin typeface="Daytona Bold" panose="020B0804030500040204" pitchFamily="34" charset="0"/>
              </a:rPr>
              <a:t>Reframe for persistence </a:t>
            </a:r>
            <a:endParaRPr lang="en-US"/>
          </a:p>
        </p:txBody>
      </p:sp>
      <p:sp>
        <p:nvSpPr>
          <p:cNvPr id="11" name="TextBox 10">
            <a:extLst>
              <a:ext uri="{FF2B5EF4-FFF2-40B4-BE49-F238E27FC236}">
                <a16:creationId xmlns:a16="http://schemas.microsoft.com/office/drawing/2014/main" id="{B99A8841-A8D5-471F-8B9D-06D1E8093ECB}"/>
              </a:ext>
            </a:extLst>
          </p:cNvPr>
          <p:cNvSpPr txBox="1"/>
          <p:nvPr/>
        </p:nvSpPr>
        <p:spPr>
          <a:xfrm>
            <a:off x="619125" y="2426791"/>
            <a:ext cx="4391025" cy="642937"/>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Global stories (“I’m not good enough”) reduce effort; specific stories (“this didn’t align”) keep you adjusting and moving. </a:t>
            </a:r>
            <a:endParaRPr lang="en-US"/>
          </a:p>
        </p:txBody>
      </p:sp>
      <p:sp>
        <p:nvSpPr>
          <p:cNvPr id="12" name="TextBox 11">
            <a:extLst>
              <a:ext uri="{FF2B5EF4-FFF2-40B4-BE49-F238E27FC236}">
                <a16:creationId xmlns:a16="http://schemas.microsoft.com/office/drawing/2014/main" id="{5FB40684-5DDC-4E17-B266-919FC78B7F0D}"/>
              </a:ext>
            </a:extLst>
          </p:cNvPr>
          <p:cNvSpPr txBox="1"/>
          <p:nvPr/>
        </p:nvSpPr>
        <p:spPr>
          <a:xfrm>
            <a:off x="619125" y="3241178"/>
            <a:ext cx="4391025" cy="217140"/>
          </a:xfrm>
          <a:prstGeom prst="rect">
            <a:avLst/>
          </a:prstGeom>
          <a:noFill/>
        </p:spPr>
        <p:txBody>
          <a:bodyPr wrap="square" rtlCol="0">
            <a:normAutofit/>
          </a:bodyPr>
          <a:lstStyle/>
          <a:p>
            <a:pPr marL="0" marR="0" algn="l">
              <a:spcBef>
                <a:spcPts val="1350"/>
              </a:spcBef>
              <a:buNone/>
            </a:pPr>
            <a:r>
              <a:rPr sz="1425" b="1">
                <a:solidFill>
                  <a:srgbClr val="1B334D"/>
                </a:solidFill>
                <a:effectLst/>
                <a:latin typeface="Daytona Bold" panose="020B0804030500040204" pitchFamily="34" charset="0"/>
              </a:rPr>
              <a:t>Use it as feedback </a:t>
            </a:r>
            <a:endParaRPr lang="en-US"/>
          </a:p>
        </p:txBody>
      </p:sp>
      <p:sp>
        <p:nvSpPr>
          <p:cNvPr id="13" name="TextBox 12">
            <a:extLst>
              <a:ext uri="{FF2B5EF4-FFF2-40B4-BE49-F238E27FC236}">
                <a16:creationId xmlns:a16="http://schemas.microsoft.com/office/drawing/2014/main" id="{BF6C3933-38F6-4F86-9B2C-7D14FC621818}"/>
              </a:ext>
            </a:extLst>
          </p:cNvPr>
          <p:cNvSpPr txBox="1"/>
          <p:nvPr/>
        </p:nvSpPr>
        <p:spPr>
          <a:xfrm>
            <a:off x="619125" y="3553569"/>
            <a:ext cx="4391025" cy="642937"/>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Label it “not the right fit, at this moment,” then note controllables: targeting, networking, interview prep. Write one learning. </a:t>
            </a:r>
            <a:endParaRPr lang="en-US"/>
          </a:p>
        </p:txBody>
      </p:sp>
      <p:sp>
        <p:nvSpPr>
          <p:cNvPr id="14" name="TextBox 13">
            <a:extLst>
              <a:ext uri="{FF2B5EF4-FFF2-40B4-BE49-F238E27FC236}">
                <a16:creationId xmlns:a16="http://schemas.microsoft.com/office/drawing/2014/main" id="{FAF7F320-941A-4B19-88C4-D8449CAD809A}"/>
              </a:ext>
            </a:extLst>
          </p:cNvPr>
          <p:cNvSpPr txBox="1"/>
          <p:nvPr/>
        </p:nvSpPr>
        <p:spPr>
          <a:xfrm>
            <a:off x="619125" y="4406056"/>
            <a:ext cx="4391025" cy="685800"/>
          </a:xfrm>
          <a:prstGeom prst="rect">
            <a:avLst/>
          </a:prstGeom>
          <a:noFill/>
        </p:spPr>
        <p:txBody>
          <a:bodyPr wrap="square" rtlCol="0">
            <a:normAutofit/>
          </a:bodyPr>
          <a:lstStyle/>
          <a:p>
            <a:pPr marL="0" marR="0" algn="l">
              <a:spcBef>
                <a:spcPts val="1650"/>
              </a:spcBef>
              <a:buNone/>
            </a:pPr>
            <a:r>
              <a:rPr sz="1500" b="1">
                <a:solidFill>
                  <a:srgbClr val="01615A"/>
                </a:solidFill>
                <a:effectLst/>
                <a:latin typeface="Daytona Bold" panose="020B0804030500040204" pitchFamily="34" charset="0"/>
              </a:rPr>
              <a:t>Rejection is feedback about strategy and fit, not a statement about who you are or what you’re worth. </a:t>
            </a:r>
            <a:endParaRPr lang="en-US"/>
          </a:p>
        </p:txBody>
      </p:sp>
    </p:spTree>
    <p:extLst>
      <p:ext uri="{BB962C8B-B14F-4D97-AF65-F5344CB8AC3E}">
        <p14:creationId xmlns:p14="http://schemas.microsoft.com/office/powerpoint/2010/main" val="2310283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E5B7202-53F3-49EC-A473-549F37B88AA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Charming Italian writes a love note to her husband and invites him to a date. Mixed media. &quot;Je t'aime&quot; - I love you.">
            <a:extLst>
              <a:ext uri="{FF2B5EF4-FFF2-40B4-BE49-F238E27FC236}">
                <a16:creationId xmlns:a16="http://schemas.microsoft.com/office/drawing/2014/main" id="{48654579-EFF5-4E2D-9067-DAA37AF69453}"/>
              </a:ext>
            </a:extLst>
          </p:cNvPr>
          <p:cNvPicPr>
            <a:picLocks noGrp="1" noChangeAspect="1"/>
          </p:cNvPicPr>
          <p:nvPr>
            <p:ph sz="quarter" idx="16"/>
          </p:nvPr>
        </p:nvPicPr>
        <p:blipFill>
          <a:blip r:embed="rId5"/>
          <a:stretch>
            <a:fillRect/>
          </a:stretch>
        </p:blipFill>
        <p:spPr>
          <a:xfrm>
            <a:off x="8165306" y="619125"/>
            <a:ext cx="3407419" cy="5638800"/>
          </a:xfrm>
          <a:prstGeom prst="rect">
            <a:avLst/>
          </a:prstGeom>
        </p:spPr>
      </p:pic>
      <p:sp>
        <p:nvSpPr>
          <p:cNvPr id="7" name="TextBox 6">
            <a:extLst>
              <a:ext uri="{FF2B5EF4-FFF2-40B4-BE49-F238E27FC236}">
                <a16:creationId xmlns:a16="http://schemas.microsoft.com/office/drawing/2014/main" id="{3694DEAD-5782-447A-8BF0-9D80B5567E1D}"/>
              </a:ext>
            </a:extLst>
          </p:cNvPr>
          <p:cNvSpPr txBox="1"/>
          <p:nvPr/>
        </p:nvSpPr>
        <p:spPr>
          <a:xfrm>
            <a:off x="619125" y="885825"/>
            <a:ext cx="6936581" cy="469255"/>
          </a:xfrm>
          <a:prstGeom prst="rect">
            <a:avLst/>
          </a:prstGeom>
          <a:noFill/>
        </p:spPr>
        <p:txBody>
          <a:bodyPr wrap="square" rtlCol="0">
            <a:normAutofit/>
          </a:bodyPr>
          <a:lstStyle/>
          <a:p>
            <a:pPr marL="0" algn="l">
              <a:buNone/>
            </a:pPr>
            <a:r>
              <a:rPr b="1">
                <a:solidFill>
                  <a:srgbClr val="1B334D"/>
                </a:solidFill>
                <a:effectLst/>
                <a:latin typeface="Daytona Bold" panose="020B0804030500040204" pitchFamily="34" charset="0"/>
              </a:rPr>
              <a:t>The Rejection Ritual: Three Parts </a:t>
            </a:r>
            <a:endParaRPr lang="en-US"/>
          </a:p>
        </p:txBody>
      </p:sp>
      <p:sp>
        <p:nvSpPr>
          <p:cNvPr id="8" name="TextBox 7">
            <a:extLst>
              <a:ext uri="{FF2B5EF4-FFF2-40B4-BE49-F238E27FC236}">
                <a16:creationId xmlns:a16="http://schemas.microsoft.com/office/drawing/2014/main" id="{7E73185D-A828-4830-AD43-B7ECB1E1AA52}"/>
              </a:ext>
            </a:extLst>
          </p:cNvPr>
          <p:cNvSpPr txBox="1"/>
          <p:nvPr/>
        </p:nvSpPr>
        <p:spPr>
          <a:xfrm>
            <a:off x="619125" y="1971675"/>
            <a:ext cx="6936581" cy="4246512"/>
          </a:xfrm>
          <a:prstGeom prst="rect">
            <a:avLst/>
          </a:prstGeom>
          <a:noFill/>
        </p:spPr>
        <p:txBody>
          <a:bodyPr wrap="square" rtlCol="0">
            <a:normAutofit/>
          </a:bodyPr>
          <a:lstStyle/>
          <a:p>
            <a:pPr marL="0" marR="0" algn="l">
              <a:buNone/>
            </a:pPr>
            <a:r>
              <a:rPr sz="1350" b="0">
                <a:solidFill>
                  <a:srgbClr val="1B334D"/>
                </a:solidFill>
                <a:effectLst/>
                <a:latin typeface="Daytona Regular"/>
              </a:rPr>
              <a:t>A brief, time‑bounded reflection turns rejection into a learning loop—not a stress loop. </a:t>
            </a:r>
            <a:endParaRPr>
              <a:effectLst/>
            </a:endParaRPr>
          </a:p>
          <a:p>
            <a:pPr marL="0" marR="0" algn="l">
              <a:spcBef>
                <a:spcPts val="1650"/>
              </a:spcBef>
              <a:buNone/>
            </a:pPr>
            <a:r>
              <a:rPr sz="1350" b="1">
                <a:solidFill>
                  <a:srgbClr val="1B334D"/>
                </a:solidFill>
                <a:effectLst/>
                <a:latin typeface="Daytona Bold" panose="020B0804030500040204" pitchFamily="34" charset="0"/>
              </a:rPr>
              <a:t>1) What did you learn? </a:t>
            </a:r>
            <a:endParaRPr>
              <a:effectLst/>
            </a:endParaRPr>
          </a:p>
          <a:p>
            <a:pPr marL="0" marR="0" algn="l">
              <a:spcBef>
                <a:spcPts val="450"/>
              </a:spcBef>
              <a:buNone/>
            </a:pPr>
            <a:r>
              <a:rPr sz="1350" b="0">
                <a:solidFill>
                  <a:srgbClr val="1B334D"/>
                </a:solidFill>
                <a:effectLst/>
                <a:latin typeface="Daytona Regular"/>
              </a:rPr>
              <a:t>Notice patterns: roles responding, feedback themes, or where progress stalls. </a:t>
            </a:r>
            <a:endParaRPr>
              <a:effectLst/>
            </a:endParaRPr>
          </a:p>
          <a:p>
            <a:pPr marL="0" marR="0" algn="l">
              <a:spcBef>
                <a:spcPts val="1200"/>
              </a:spcBef>
              <a:buNone/>
            </a:pPr>
            <a:r>
              <a:rPr sz="1350" b="1">
                <a:solidFill>
                  <a:srgbClr val="1B334D"/>
                </a:solidFill>
                <a:effectLst/>
                <a:latin typeface="Daytona Bold" panose="020B0804030500040204" pitchFamily="34" charset="0"/>
              </a:rPr>
              <a:t>2) What will you adjust next time? </a:t>
            </a:r>
            <a:endParaRPr>
              <a:effectLst/>
            </a:endParaRPr>
          </a:p>
          <a:p>
            <a:pPr marL="0" marR="0" algn="l">
              <a:spcBef>
                <a:spcPts val="450"/>
              </a:spcBef>
              <a:buNone/>
            </a:pPr>
            <a:r>
              <a:rPr sz="1350" b="0">
                <a:solidFill>
                  <a:srgbClr val="1B334D"/>
                </a:solidFill>
                <a:effectLst/>
                <a:latin typeface="Daytona Regular"/>
              </a:rPr>
              <a:t>Choose controllable inputs: tailoring, networking, or skill development. </a:t>
            </a:r>
            <a:endParaRPr>
              <a:effectLst/>
            </a:endParaRPr>
          </a:p>
          <a:p>
            <a:pPr marL="0" marR="0" algn="l">
              <a:spcBef>
                <a:spcPts val="1200"/>
              </a:spcBef>
              <a:buNone/>
            </a:pPr>
            <a:r>
              <a:rPr sz="1350" b="1">
                <a:solidFill>
                  <a:srgbClr val="1B334D"/>
                </a:solidFill>
                <a:effectLst/>
                <a:latin typeface="Daytona Bold" panose="020B0804030500040204" pitchFamily="34" charset="0"/>
              </a:rPr>
              <a:t>3) Name one thing you did well </a:t>
            </a:r>
            <a:endParaRPr>
              <a:effectLst/>
            </a:endParaRPr>
          </a:p>
          <a:p>
            <a:pPr marL="0" marR="0" algn="l">
              <a:spcBef>
                <a:spcPts val="450"/>
              </a:spcBef>
              <a:buNone/>
            </a:pPr>
            <a:r>
              <a:rPr sz="1350" b="0">
                <a:solidFill>
                  <a:srgbClr val="1B334D"/>
                </a:solidFill>
                <a:effectLst/>
                <a:latin typeface="Daytona Regular"/>
              </a:rPr>
              <a:t>This protects self‑efficacy; mastery acknowledgments strengthen confidence and persistence. </a:t>
            </a:r>
            <a:endParaRPr>
              <a:effectLst/>
            </a:endParaRPr>
          </a:p>
          <a:p>
            <a:pPr marL="0" marR="0" algn="l">
              <a:spcBef>
                <a:spcPts val="1650"/>
              </a:spcBef>
              <a:buNone/>
            </a:pPr>
            <a:r>
              <a:rPr sz="1350" b="0">
                <a:solidFill>
                  <a:srgbClr val="1B334D"/>
                </a:solidFill>
                <a:effectLst/>
                <a:latin typeface="Daytona Regular"/>
              </a:rPr>
              <a:t>CBT‑based unemployment studies show structured reflection improves attribution style and reduces rumination—then move straight to one next action. </a:t>
            </a:r>
            <a:endParaRPr>
              <a:effectLst/>
            </a:endParaRPr>
          </a:p>
          <a:p>
            <a:pPr marL="0" marR="0" algn="l">
              <a:spcBef>
                <a:spcPts val="1350"/>
              </a:spcBef>
              <a:buNone/>
            </a:pPr>
            <a:r>
              <a:rPr sz="1350" b="1">
                <a:solidFill>
                  <a:srgbClr val="01615A"/>
                </a:solidFill>
                <a:effectLst/>
                <a:latin typeface="Daytona Bold" panose="020B0804030500040204" pitchFamily="34" charset="0"/>
              </a:rPr>
              <a:t>Reframe: Every no can become a small step forward if it ends with a decision, not a judgment. </a:t>
            </a:r>
            <a:endParaRPr lang="en-US"/>
          </a:p>
        </p:txBody>
      </p:sp>
    </p:spTree>
    <p:extLst>
      <p:ext uri="{BB962C8B-B14F-4D97-AF65-F5344CB8AC3E}">
        <p14:creationId xmlns:p14="http://schemas.microsoft.com/office/powerpoint/2010/main" val="447789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4095545-2BE7-4F02-A658-EC01F104B463}"/>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Bishkek, Kyrgyzstan - June 6, 2019: Asus Chromebook. Smart young businessman working on computer laptop in office. Smiling and looking at camera">
            <a:extLst>
              <a:ext uri="{FF2B5EF4-FFF2-40B4-BE49-F238E27FC236}">
                <a16:creationId xmlns:a16="http://schemas.microsoft.com/office/drawing/2014/main" id="{F243B5A2-2858-4B7D-8A69-87D99F95129D}"/>
              </a:ext>
            </a:extLst>
          </p:cNvPr>
          <p:cNvPicPr>
            <a:picLocks noGrp="1" noChangeAspect="1"/>
          </p:cNvPicPr>
          <p:nvPr>
            <p:ph sz="quarter" idx="16"/>
          </p:nvPr>
        </p:nvPicPr>
        <p:blipFill>
          <a:blip r:embed="rId5"/>
          <a:stretch>
            <a:fillRect/>
          </a:stretch>
        </p:blipFill>
        <p:spPr>
          <a:xfrm>
            <a:off x="8165306" y="9525"/>
            <a:ext cx="4017019" cy="6858000"/>
          </a:xfrm>
          <a:prstGeom prst="rect">
            <a:avLst/>
          </a:prstGeom>
        </p:spPr>
      </p:pic>
      <p:sp>
        <p:nvSpPr>
          <p:cNvPr id="7" name="TextBox 6">
            <a:extLst>
              <a:ext uri="{FF2B5EF4-FFF2-40B4-BE49-F238E27FC236}">
                <a16:creationId xmlns:a16="http://schemas.microsoft.com/office/drawing/2014/main" id="{77964F3C-1A18-4151-B91B-DD0BB29C064E}"/>
              </a:ext>
            </a:extLst>
          </p:cNvPr>
          <p:cNvSpPr txBox="1"/>
          <p:nvPr/>
        </p:nvSpPr>
        <p:spPr>
          <a:xfrm>
            <a:off x="619125" y="923925"/>
            <a:ext cx="6936581" cy="1005780"/>
          </a:xfrm>
          <a:prstGeom prst="rect">
            <a:avLst/>
          </a:prstGeom>
          <a:noFill/>
        </p:spPr>
        <p:txBody>
          <a:bodyPr wrap="square" rtlCol="0">
            <a:normAutofit/>
          </a:bodyPr>
          <a:lstStyle/>
          <a:p>
            <a:pPr marL="0" marR="0" algn="l">
              <a:buNone/>
            </a:pPr>
            <a:r>
              <a:rPr sz="3600" b="0">
                <a:solidFill>
                  <a:srgbClr val="1B334D"/>
                </a:solidFill>
                <a:effectLst/>
                <a:latin typeface="Daytona Bold" panose="020B0804030500040204" pitchFamily="34" charset="0"/>
              </a:rPr>
              <a:t>Process Goals vs. Outcome Goals</a:t>
            </a:r>
            <a:r>
              <a:rPr>
                <a:effectLst/>
              </a:rPr>
              <a:t> </a:t>
            </a:r>
            <a:endParaRPr lang="en-US"/>
          </a:p>
        </p:txBody>
      </p:sp>
      <p:sp>
        <p:nvSpPr>
          <p:cNvPr id="8" name="TextBox 7">
            <a:extLst>
              <a:ext uri="{FF2B5EF4-FFF2-40B4-BE49-F238E27FC236}">
                <a16:creationId xmlns:a16="http://schemas.microsoft.com/office/drawing/2014/main" id="{8E38BEDB-5AD3-4EFC-B8CF-CCEC74806AF8}"/>
              </a:ext>
            </a:extLst>
          </p:cNvPr>
          <p:cNvSpPr txBox="1"/>
          <p:nvPr/>
        </p:nvSpPr>
        <p:spPr>
          <a:xfrm>
            <a:off x="619125" y="2196405"/>
            <a:ext cx="6936581" cy="3246536"/>
          </a:xfrm>
          <a:prstGeom prst="rect">
            <a:avLst/>
          </a:prstGeom>
          <a:noFill/>
        </p:spPr>
        <p:txBody>
          <a:bodyPr wrap="square" rtlCol="0">
            <a:normAutofit/>
          </a:bodyPr>
          <a:lstStyle/>
          <a:p>
            <a:pPr marL="0" marR="0" algn="l">
              <a:buNone/>
            </a:pPr>
            <a:r>
              <a:rPr sz="1350" b="0">
                <a:solidFill>
                  <a:srgbClr val="1B334D"/>
                </a:solidFill>
                <a:effectLst/>
                <a:latin typeface="Daytona Regular"/>
              </a:rPr>
              <a:t>A key resilience finding is separating what you can control from what you can’t. Outcome goals (interviews, offers, timelines) can motivate, but over-fixating increases anxiety and helplessness. </a:t>
            </a:r>
            <a:endParaRPr>
              <a:effectLst/>
            </a:endParaRPr>
          </a:p>
          <a:p>
            <a:pPr marL="0" marR="0" algn="l">
              <a:spcBef>
                <a:spcPts val="1050"/>
              </a:spcBef>
              <a:buNone/>
            </a:pPr>
            <a:r>
              <a:rPr sz="1350" b="0">
                <a:solidFill>
                  <a:srgbClr val="1B334D"/>
                </a:solidFill>
                <a:effectLst/>
                <a:latin typeface="Daytona Regular"/>
              </a:rPr>
              <a:t>Process goals focus on controllable actions—tailored applications, networking conversations, and practice sessions each week. Confidence rises as people build mastery over these tasks. </a:t>
            </a:r>
            <a:endParaRPr>
              <a:effectLst/>
            </a:endParaRPr>
          </a:p>
          <a:p>
            <a:pPr marL="0" marR="0" algn="l">
              <a:spcBef>
                <a:spcPts val="1050"/>
              </a:spcBef>
              <a:buNone/>
            </a:pPr>
            <a:r>
              <a:rPr sz="1350" b="0">
                <a:solidFill>
                  <a:srgbClr val="1B334D"/>
                </a:solidFill>
                <a:effectLst/>
                <a:latin typeface="Daytona Regular"/>
              </a:rPr>
              <a:t>Process goals also create daily structure, which reviews link to protection against the mental-health impacts of unemployment. Outcomes still matter—but they’re lagging indicators. </a:t>
            </a:r>
            <a:endParaRPr>
              <a:effectLst/>
            </a:endParaRPr>
          </a:p>
          <a:p>
            <a:pPr marL="0" marR="0" algn="l">
              <a:spcBef>
                <a:spcPts val="1350"/>
              </a:spcBef>
              <a:buNone/>
            </a:pPr>
            <a:r>
              <a:rPr sz="1800" b="0">
                <a:solidFill>
                  <a:srgbClr val="01615A"/>
                </a:solidFill>
                <a:effectLst/>
                <a:latin typeface="Daytona Bold" panose="020B0804030500040204" pitchFamily="34" charset="0"/>
              </a:rPr>
              <a:t>You can’t control when someone hires, but you can control how skillfully you show up to the search. </a:t>
            </a:r>
            <a:endParaRPr lang="en-US"/>
          </a:p>
        </p:txBody>
      </p:sp>
    </p:spTree>
    <p:extLst>
      <p:ext uri="{BB962C8B-B14F-4D97-AF65-F5344CB8AC3E}">
        <p14:creationId xmlns:p14="http://schemas.microsoft.com/office/powerpoint/2010/main" val="3348073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8072AA4-AF08-4594-92E2-D50F4964B9C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Charming Italian writes a love note to her husband and invites him to a date. Mixed media. &quot;Je t'aime&quot; - I love you.">
            <a:extLst>
              <a:ext uri="{FF2B5EF4-FFF2-40B4-BE49-F238E27FC236}">
                <a16:creationId xmlns:a16="http://schemas.microsoft.com/office/drawing/2014/main" id="{99993B08-F344-4FD7-B259-DDB89C2F6A39}"/>
              </a:ext>
            </a:extLst>
          </p:cNvPr>
          <p:cNvPicPr>
            <a:picLocks noGrp="1" noChangeAspect="1"/>
          </p:cNvPicPr>
          <p:nvPr>
            <p:ph sz="quarter" idx="16"/>
          </p:nvPr>
        </p:nvPicPr>
        <p:blipFill>
          <a:blip r:embed="rId5"/>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C2A1C53D-8F45-4CC7-9049-B60796D1F156}"/>
              </a:ext>
            </a:extLst>
          </p:cNvPr>
          <p:cNvSpPr txBox="1"/>
          <p:nvPr/>
        </p:nvSpPr>
        <p:spPr>
          <a:xfrm>
            <a:off x="619125" y="581025"/>
            <a:ext cx="4391025" cy="938510"/>
          </a:xfrm>
          <a:prstGeom prst="rect">
            <a:avLst/>
          </a:prstGeom>
          <a:noFill/>
        </p:spPr>
        <p:txBody>
          <a:bodyPr wrap="square" rtlCol="0">
            <a:normAutofit/>
          </a:bodyPr>
          <a:lstStyle/>
          <a:p>
            <a:pPr marL="0" algn="l">
              <a:buNone/>
            </a:pPr>
            <a:r>
              <a:rPr>
                <a:solidFill>
                  <a:srgbClr val="1B334D"/>
                </a:solidFill>
                <a:effectLst/>
                <a:latin typeface="Daytona Bold" panose="020B0804030500040204" pitchFamily="34" charset="0"/>
              </a:rPr>
              <a:t>Mindset Shifts That Work </a:t>
            </a:r>
            <a:endParaRPr lang="en-US"/>
          </a:p>
        </p:txBody>
      </p:sp>
      <p:sp>
        <p:nvSpPr>
          <p:cNvPr id="8" name="TextBox 7">
            <a:extLst>
              <a:ext uri="{FF2B5EF4-FFF2-40B4-BE49-F238E27FC236}">
                <a16:creationId xmlns:a16="http://schemas.microsoft.com/office/drawing/2014/main" id="{93EBF7D1-B2FA-4E69-8FC5-94F4CB520C9A}"/>
              </a:ext>
            </a:extLst>
          </p:cNvPr>
          <p:cNvSpPr txBox="1"/>
          <p:nvPr/>
        </p:nvSpPr>
        <p:spPr>
          <a:xfrm>
            <a:off x="619125" y="1805285"/>
            <a:ext cx="4391025" cy="3975348"/>
          </a:xfrm>
          <a:prstGeom prst="rect">
            <a:avLst/>
          </a:prstGeom>
          <a:noFill/>
        </p:spPr>
        <p:txBody>
          <a:bodyPr wrap="square" rtlCol="0">
            <a:normAutofit/>
          </a:bodyPr>
          <a:lstStyle/>
          <a:p>
            <a:pPr marL="0" algn="l">
              <a:buNone/>
            </a:pPr>
            <a:r>
              <a:rPr sz="1800">
                <a:solidFill>
                  <a:srgbClr val="01615A"/>
                </a:solidFill>
                <a:effectLst/>
                <a:latin typeface="Daytona Bold" panose="020B0804030500040204" pitchFamily="34" charset="0"/>
              </a:rPr>
              <a:t>Evidence over “positivity”</a:t>
            </a:r>
            <a:r>
              <a:rPr>
                <a:effectLst/>
              </a:rPr>
              <a:t> </a:t>
            </a:r>
          </a:p>
          <a:p>
            <a:pPr marL="0" algn="l">
              <a:spcBef>
                <a:spcPts val="750"/>
              </a:spcBef>
              <a:buNone/>
            </a:pPr>
            <a:r>
              <a:rPr sz="1350">
                <a:solidFill>
                  <a:srgbClr val="1B334D"/>
                </a:solidFill>
                <a:effectLst/>
                <a:latin typeface="Daytona Regular"/>
              </a:rPr>
              <a:t>Research separates unhelpful cheerleading from science-backed practices that restore regulation and widen attention. </a:t>
            </a:r>
            <a:endParaRPr>
              <a:effectLst/>
            </a:endParaRPr>
          </a:p>
          <a:p>
            <a:pPr marL="0" algn="l">
              <a:spcBef>
                <a:spcPts val="1350"/>
              </a:spcBef>
              <a:buNone/>
            </a:pPr>
            <a:r>
              <a:rPr sz="1800">
                <a:solidFill>
                  <a:srgbClr val="01615A"/>
                </a:solidFill>
                <a:effectLst/>
                <a:latin typeface="Daytona Bold" panose="020B0804030500040204" pitchFamily="34" charset="0"/>
              </a:rPr>
              <a:t>Micro-habits that build resilience</a:t>
            </a:r>
            <a:r>
              <a:rPr>
                <a:effectLst/>
              </a:rPr>
              <a:t> </a:t>
            </a:r>
          </a:p>
          <a:p>
            <a:pPr marL="0" algn="l">
              <a:spcBef>
                <a:spcPts val="750"/>
              </a:spcBef>
              <a:buNone/>
            </a:pPr>
            <a:r>
              <a:rPr sz="1350">
                <a:solidFill>
                  <a:srgbClr val="1B334D"/>
                </a:solidFill>
                <a:effectLst/>
                <a:latin typeface="Daytona Regular"/>
              </a:rPr>
              <a:t>Time-box rumination, schedule restorative activities, and use gratitude/kindness exercises to rebuild efficacy. </a:t>
            </a:r>
            <a:endParaRPr>
              <a:effectLst/>
            </a:endParaRPr>
          </a:p>
          <a:p>
            <a:pPr marL="0" algn="l">
              <a:spcBef>
                <a:spcPts val="1350"/>
              </a:spcBef>
              <a:buNone/>
            </a:pPr>
            <a:r>
              <a:rPr sz="1800">
                <a:solidFill>
                  <a:srgbClr val="01615A"/>
                </a:solidFill>
                <a:effectLst/>
                <a:latin typeface="Daytona Bold" panose="020B0804030500040204" pitchFamily="34" charset="0"/>
              </a:rPr>
              <a:t>CBT-style thought tracking + action</a:t>
            </a:r>
            <a:r>
              <a:rPr>
                <a:effectLst/>
              </a:rPr>
              <a:t> </a:t>
            </a:r>
          </a:p>
          <a:p>
            <a:pPr marL="0" algn="l">
              <a:spcBef>
                <a:spcPts val="750"/>
              </a:spcBef>
              <a:buNone/>
            </a:pPr>
            <a:r>
              <a:rPr sz="1350">
                <a:solidFill>
                  <a:srgbClr val="1B334D"/>
                </a:solidFill>
                <a:effectLst/>
                <a:latin typeface="Daytona Regular"/>
              </a:rPr>
              <a:t>Write automatic thoughts, test them with evidence, and pair reframing with small wins that grow hope, self-efficacy, and resilience. </a:t>
            </a:r>
            <a:endParaRPr>
              <a:effectLst/>
            </a:endParaRPr>
          </a:p>
          <a:p>
            <a:pPr marL="0" algn="l">
              <a:spcBef>
                <a:spcPts val="1650"/>
              </a:spcBef>
              <a:buNone/>
            </a:pPr>
            <a:r>
              <a:rPr sz="1350">
                <a:solidFill>
                  <a:srgbClr val="1B334D"/>
                </a:solidFill>
                <a:effectLst/>
                <a:latin typeface="Daytona Bold" panose="020B0804030500040204" pitchFamily="34" charset="0"/>
              </a:rPr>
              <a:t>Reframe: </a:t>
            </a:r>
            <a:r>
              <a:rPr sz="1350">
                <a:solidFill>
                  <a:srgbClr val="01615A"/>
                </a:solidFill>
                <a:effectLst/>
                <a:latin typeface="Daytona Bold" panose="020B0804030500040204" pitchFamily="34" charset="0"/>
              </a:rPr>
              <a:t>Resilience is built through habits and evidence, not slogans. </a:t>
            </a:r>
            <a:endParaRPr lang="en-US"/>
          </a:p>
        </p:txBody>
      </p:sp>
    </p:spTree>
    <p:extLst>
      <p:ext uri="{BB962C8B-B14F-4D97-AF65-F5344CB8AC3E}">
        <p14:creationId xmlns:p14="http://schemas.microsoft.com/office/powerpoint/2010/main" val="2262430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7D36A4E-A3AA-44C3-87AB-DE3D74148C87}"/>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path in nature. Geometric landscape concept.">
            <a:extLst>
              <a:ext uri="{FF2B5EF4-FFF2-40B4-BE49-F238E27FC236}">
                <a16:creationId xmlns:a16="http://schemas.microsoft.com/office/drawing/2014/main" id="{32452C52-F8CA-44C7-9048-5879C37679F5}"/>
              </a:ext>
            </a:extLst>
          </p:cNvPr>
          <p:cNvPicPr>
            <a:picLocks noGrp="1" noChangeAspect="1"/>
          </p:cNvPicPr>
          <p:nvPr>
            <p:ph sz="quarter" idx="16"/>
          </p:nvPr>
        </p:nvPicPr>
        <p:blipFill>
          <a:blip r:embed="rId5"/>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82F27E08-0D4A-45BB-9C15-7BC285EA6729}"/>
              </a:ext>
            </a:extLst>
          </p:cNvPr>
          <p:cNvSpPr txBox="1"/>
          <p:nvPr/>
        </p:nvSpPr>
        <p:spPr>
          <a:xfrm>
            <a:off x="7200900" y="581025"/>
            <a:ext cx="4391025" cy="938510"/>
          </a:xfrm>
          <a:prstGeom prst="rect">
            <a:avLst/>
          </a:prstGeom>
          <a:noFill/>
        </p:spPr>
        <p:txBody>
          <a:bodyPr wrap="square" rtlCol="0">
            <a:normAutofit/>
          </a:bodyPr>
          <a:lstStyle/>
          <a:p>
            <a:pPr marL="0" algn="l">
              <a:buNone/>
            </a:pPr>
            <a:r>
              <a:rPr>
                <a:solidFill>
                  <a:srgbClr val="1B334D"/>
                </a:solidFill>
                <a:effectLst/>
                <a:latin typeface="Daytona Bold" panose="020B0804030500040204" pitchFamily="34" charset="0"/>
              </a:rPr>
              <a:t>The Long Game Perspective</a:t>
            </a:r>
            <a:r>
              <a:rPr>
                <a:effectLst/>
              </a:rPr>
              <a:t> </a:t>
            </a:r>
            <a:endParaRPr lang="en-US"/>
          </a:p>
        </p:txBody>
      </p:sp>
      <p:sp>
        <p:nvSpPr>
          <p:cNvPr id="8" name="TextBox 7">
            <a:extLst>
              <a:ext uri="{FF2B5EF4-FFF2-40B4-BE49-F238E27FC236}">
                <a16:creationId xmlns:a16="http://schemas.microsoft.com/office/drawing/2014/main" id="{20928B85-0C11-4F57-97D2-8C5F3262C4F5}"/>
              </a:ext>
            </a:extLst>
          </p:cNvPr>
          <p:cNvSpPr txBox="1"/>
          <p:nvPr/>
        </p:nvSpPr>
        <p:spPr>
          <a:xfrm>
            <a:off x="7200900" y="1786235"/>
            <a:ext cx="4391025" cy="214312"/>
          </a:xfrm>
          <a:prstGeom prst="rect">
            <a:avLst/>
          </a:prstGeom>
          <a:noFill/>
        </p:spPr>
        <p:txBody>
          <a:bodyPr wrap="square" rtlCol="0">
            <a:normAutofit/>
          </a:bodyPr>
          <a:lstStyle/>
          <a:p>
            <a:pPr marL="0" algn="l">
              <a:buNone/>
            </a:pPr>
            <a:r>
              <a:rPr sz="1350" b="1">
                <a:solidFill>
                  <a:srgbClr val="1B334D"/>
                </a:solidFill>
                <a:effectLst/>
                <a:latin typeface="Daytona Bold" panose="020B0804030500040204" pitchFamily="34" charset="0"/>
              </a:rPr>
              <a:t>Reframe the job search</a:t>
            </a:r>
            <a:r>
              <a:rPr>
                <a:effectLst/>
              </a:rPr>
              <a:t> </a:t>
            </a:r>
            <a:endParaRPr lang="en-US"/>
          </a:p>
        </p:txBody>
      </p:sp>
      <p:sp>
        <p:nvSpPr>
          <p:cNvPr id="9" name="TextBox 8">
            <a:extLst>
              <a:ext uri="{FF2B5EF4-FFF2-40B4-BE49-F238E27FC236}">
                <a16:creationId xmlns:a16="http://schemas.microsoft.com/office/drawing/2014/main" id="{DCFF010A-2AC5-4B93-B315-E2A61BA74E3D}"/>
              </a:ext>
            </a:extLst>
          </p:cNvPr>
          <p:cNvSpPr txBox="1"/>
          <p:nvPr/>
        </p:nvSpPr>
        <p:spPr>
          <a:xfrm>
            <a:off x="7200900" y="2095797"/>
            <a:ext cx="4391025" cy="462855"/>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Treat it as one chapter in a decades-long career—lowering distress and widening choices.</a:t>
            </a:r>
            <a:r>
              <a:rPr>
                <a:effectLst/>
              </a:rPr>
              <a:t> </a:t>
            </a:r>
            <a:endParaRPr lang="en-US"/>
          </a:p>
        </p:txBody>
      </p:sp>
      <p:sp>
        <p:nvSpPr>
          <p:cNvPr id="10" name="TextBox 9">
            <a:extLst>
              <a:ext uri="{FF2B5EF4-FFF2-40B4-BE49-F238E27FC236}">
                <a16:creationId xmlns:a16="http://schemas.microsoft.com/office/drawing/2014/main" id="{6392F45C-5B7D-4A99-B6C0-992BD33ACFFE}"/>
              </a:ext>
            </a:extLst>
          </p:cNvPr>
          <p:cNvSpPr txBox="1"/>
          <p:nvPr/>
        </p:nvSpPr>
        <p:spPr>
          <a:xfrm>
            <a:off x="7200900" y="2711053"/>
            <a:ext cx="4391025" cy="214312"/>
          </a:xfrm>
          <a:prstGeom prst="rect">
            <a:avLst/>
          </a:prstGeom>
          <a:noFill/>
        </p:spPr>
        <p:txBody>
          <a:bodyPr wrap="square" rtlCol="0">
            <a:normAutofit/>
          </a:bodyPr>
          <a:lstStyle/>
          <a:p>
            <a:pPr marL="0" marR="0" algn="l">
              <a:spcBef>
                <a:spcPts val="1200"/>
              </a:spcBef>
              <a:buNone/>
            </a:pPr>
            <a:r>
              <a:rPr sz="1350" b="1">
                <a:solidFill>
                  <a:srgbClr val="1B334D"/>
                </a:solidFill>
                <a:effectLst/>
                <a:latin typeface="Daytona Bold" panose="020B0804030500040204" pitchFamily="34" charset="0"/>
              </a:rPr>
              <a:t>Use staged, realistic goals</a:t>
            </a:r>
            <a:r>
              <a:rPr>
                <a:effectLst/>
              </a:rPr>
              <a:t> </a:t>
            </a:r>
            <a:endParaRPr lang="en-US"/>
          </a:p>
        </p:txBody>
      </p:sp>
      <p:sp>
        <p:nvSpPr>
          <p:cNvPr id="11" name="TextBox 10">
            <a:extLst>
              <a:ext uri="{FF2B5EF4-FFF2-40B4-BE49-F238E27FC236}">
                <a16:creationId xmlns:a16="http://schemas.microsoft.com/office/drawing/2014/main" id="{35396206-2721-4A65-A9DB-44F8F9F2FDBB}"/>
              </a:ext>
            </a:extLst>
          </p:cNvPr>
          <p:cNvSpPr txBox="1"/>
          <p:nvPr/>
        </p:nvSpPr>
        <p:spPr>
          <a:xfrm>
            <a:off x="7200900" y="3020615"/>
            <a:ext cx="4391025" cy="462855"/>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Hope and resilience grow when you pursue 2–3 broad directions and see each role as a stepping stone.</a:t>
            </a:r>
            <a:r>
              <a:rPr>
                <a:effectLst/>
              </a:rPr>
              <a:t> </a:t>
            </a:r>
            <a:endParaRPr lang="en-US"/>
          </a:p>
        </p:txBody>
      </p:sp>
      <p:sp>
        <p:nvSpPr>
          <p:cNvPr id="12" name="TextBox 11">
            <a:extLst>
              <a:ext uri="{FF2B5EF4-FFF2-40B4-BE49-F238E27FC236}">
                <a16:creationId xmlns:a16="http://schemas.microsoft.com/office/drawing/2014/main" id="{5857D80C-0C80-4511-8909-E3373FD0B3EE}"/>
              </a:ext>
            </a:extLst>
          </p:cNvPr>
          <p:cNvSpPr txBox="1"/>
          <p:nvPr/>
        </p:nvSpPr>
        <p:spPr>
          <a:xfrm>
            <a:off x="7200900" y="3635871"/>
            <a:ext cx="4391025" cy="214312"/>
          </a:xfrm>
          <a:prstGeom prst="rect">
            <a:avLst/>
          </a:prstGeom>
          <a:noFill/>
        </p:spPr>
        <p:txBody>
          <a:bodyPr wrap="square" rtlCol="0">
            <a:normAutofit/>
          </a:bodyPr>
          <a:lstStyle/>
          <a:p>
            <a:pPr marL="0" marR="0" algn="l">
              <a:spcBef>
                <a:spcPts val="1200"/>
              </a:spcBef>
              <a:buNone/>
            </a:pPr>
            <a:r>
              <a:rPr sz="1350" b="1">
                <a:solidFill>
                  <a:srgbClr val="1B334D"/>
                </a:solidFill>
                <a:effectLst/>
                <a:latin typeface="Daytona Bold" panose="020B0804030500040204" pitchFamily="34" charset="0"/>
              </a:rPr>
              <a:t>Adjust with evidence</a:t>
            </a:r>
            <a:r>
              <a:rPr>
                <a:effectLst/>
              </a:rPr>
              <a:t> </a:t>
            </a:r>
            <a:endParaRPr lang="en-US"/>
          </a:p>
        </p:txBody>
      </p:sp>
      <p:sp>
        <p:nvSpPr>
          <p:cNvPr id="13" name="TextBox 12">
            <a:extLst>
              <a:ext uri="{FF2B5EF4-FFF2-40B4-BE49-F238E27FC236}">
                <a16:creationId xmlns:a16="http://schemas.microsoft.com/office/drawing/2014/main" id="{31DDC653-5135-4DC6-A89E-C4F347A371AA}"/>
              </a:ext>
            </a:extLst>
          </p:cNvPr>
          <p:cNvSpPr txBox="1"/>
          <p:nvPr/>
        </p:nvSpPr>
        <p:spPr>
          <a:xfrm>
            <a:off x="7200900" y="3945433"/>
            <a:ext cx="4391025" cy="462855"/>
          </a:xfrm>
          <a:prstGeom prst="rect">
            <a:avLst/>
          </a:prstGeom>
          <a:noFill/>
        </p:spPr>
        <p:txBody>
          <a:bodyPr wrap="square" rtlCol="0">
            <a:normAutofit/>
          </a:bodyPr>
          <a:lstStyle/>
          <a:p>
            <a:pPr marL="0" marR="0" algn="l">
              <a:spcBef>
                <a:spcPts val="750"/>
              </a:spcBef>
              <a:buNone/>
            </a:pPr>
            <a:r>
              <a:rPr sz="1350" b="0">
                <a:solidFill>
                  <a:srgbClr val="1B334D"/>
                </a:solidFill>
                <a:effectLst/>
                <a:latin typeface="Daytona Regular"/>
              </a:rPr>
              <a:t>After each cycle, refine tactics based on results—not self-judgment—to reinforce learning and agency.</a:t>
            </a:r>
            <a:r>
              <a:rPr>
                <a:effectLst/>
              </a:rPr>
              <a:t> </a:t>
            </a:r>
            <a:endParaRPr lang="en-US"/>
          </a:p>
        </p:txBody>
      </p:sp>
      <p:sp>
        <p:nvSpPr>
          <p:cNvPr id="14" name="TextBox 13">
            <a:extLst>
              <a:ext uri="{FF2B5EF4-FFF2-40B4-BE49-F238E27FC236}">
                <a16:creationId xmlns:a16="http://schemas.microsoft.com/office/drawing/2014/main" id="{4863D031-AFCB-49BF-8C63-B371DAB6717D}"/>
              </a:ext>
            </a:extLst>
          </p:cNvPr>
          <p:cNvSpPr txBox="1"/>
          <p:nvPr/>
        </p:nvSpPr>
        <p:spPr>
          <a:xfrm>
            <a:off x="7200900" y="4579739"/>
            <a:ext cx="4391025" cy="231427"/>
          </a:xfrm>
          <a:prstGeom prst="rect">
            <a:avLst/>
          </a:prstGeom>
          <a:noFill/>
        </p:spPr>
        <p:txBody>
          <a:bodyPr wrap="square" rtlCol="0">
            <a:normAutofit/>
          </a:bodyPr>
          <a:lstStyle/>
          <a:p>
            <a:pPr marL="0" marR="0" algn="l">
              <a:spcBef>
                <a:spcPts val="1350"/>
              </a:spcBef>
              <a:buNone/>
            </a:pPr>
            <a:r>
              <a:rPr sz="1350" b="1">
                <a:solidFill>
                  <a:srgbClr val="01615A"/>
                </a:solidFill>
                <a:effectLst/>
                <a:latin typeface="Daytona Bold" panose="020B0804030500040204" pitchFamily="34" charset="0"/>
              </a:rPr>
              <a:t>This search is part of your story, not the whole plot.</a:t>
            </a:r>
            <a:r>
              <a:rPr>
                <a:effectLst/>
              </a:rPr>
              <a:t> </a:t>
            </a:r>
            <a:endParaRPr lang="en-US"/>
          </a:p>
        </p:txBody>
      </p:sp>
    </p:spTree>
    <p:extLst>
      <p:ext uri="{BB962C8B-B14F-4D97-AF65-F5344CB8AC3E}">
        <p14:creationId xmlns:p14="http://schemas.microsoft.com/office/powerpoint/2010/main" val="1824796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AD94825-D310-46C6-BB53-5455D7F3E54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Christians  and Bible study concept. Group of discipleship Studying the Word Of God in church and Christians holding each others hand praying together">
            <a:extLst>
              <a:ext uri="{FF2B5EF4-FFF2-40B4-BE49-F238E27FC236}">
                <a16:creationId xmlns:a16="http://schemas.microsoft.com/office/drawing/2014/main" id="{C9448D67-0BB6-4674-BAD5-B7718EEB1AB5}"/>
              </a:ext>
            </a:extLst>
          </p:cNvPr>
          <p:cNvPicPr>
            <a:picLocks noGrp="1" noChangeAspect="1"/>
          </p:cNvPicPr>
          <p:nvPr>
            <p:ph sz="quarter" idx="16"/>
          </p:nvPr>
        </p:nvPicPr>
        <p:blipFill>
          <a:blip r:embed="rId5"/>
          <a:stretch>
            <a:fillRect/>
          </a:stretch>
        </p:blipFill>
        <p:spPr>
          <a:xfrm>
            <a:off x="8165306" y="619125"/>
            <a:ext cx="3407419" cy="5638800"/>
          </a:xfrm>
          <a:prstGeom prst="rect">
            <a:avLst/>
          </a:prstGeom>
        </p:spPr>
      </p:pic>
      <p:sp>
        <p:nvSpPr>
          <p:cNvPr id="7" name="TextBox 6">
            <a:extLst>
              <a:ext uri="{FF2B5EF4-FFF2-40B4-BE49-F238E27FC236}">
                <a16:creationId xmlns:a16="http://schemas.microsoft.com/office/drawing/2014/main" id="{C02A1447-6DB4-47B2-AFD4-AD5B4BF219A0}"/>
              </a:ext>
            </a:extLst>
          </p:cNvPr>
          <p:cNvSpPr txBox="1"/>
          <p:nvPr/>
        </p:nvSpPr>
        <p:spPr>
          <a:xfrm>
            <a:off x="619125" y="1038225"/>
            <a:ext cx="6936581" cy="502890"/>
          </a:xfrm>
          <a:prstGeom prst="rect">
            <a:avLst/>
          </a:prstGeom>
          <a:noFill/>
        </p:spPr>
        <p:txBody>
          <a:bodyPr wrap="square" rtlCol="0">
            <a:normAutofit/>
          </a:bodyPr>
          <a:lstStyle/>
          <a:p>
            <a:pPr marL="0" algn="l">
              <a:buNone/>
            </a:pPr>
            <a:r>
              <a:rPr sz="3600" b="1">
                <a:solidFill>
                  <a:srgbClr val="1B334D"/>
                </a:solidFill>
                <a:effectLst/>
                <a:latin typeface="Daytona Bold" panose="020B0804030500040204" pitchFamily="34" charset="0"/>
              </a:rPr>
              <a:t>When to Get Real Support </a:t>
            </a:r>
            <a:endParaRPr lang="en-US"/>
          </a:p>
        </p:txBody>
      </p:sp>
      <p:sp>
        <p:nvSpPr>
          <p:cNvPr id="8" name="TextBox 7">
            <a:extLst>
              <a:ext uri="{FF2B5EF4-FFF2-40B4-BE49-F238E27FC236}">
                <a16:creationId xmlns:a16="http://schemas.microsoft.com/office/drawing/2014/main" id="{9A36C8DB-0E3B-47E2-A70B-261FEBFA989A}"/>
              </a:ext>
            </a:extLst>
          </p:cNvPr>
          <p:cNvSpPr txBox="1"/>
          <p:nvPr/>
        </p:nvSpPr>
        <p:spPr>
          <a:xfrm>
            <a:off x="619125" y="1541115"/>
            <a:ext cx="6936581" cy="4395341"/>
          </a:xfrm>
          <a:prstGeom prst="rect">
            <a:avLst/>
          </a:prstGeom>
          <a:noFill/>
        </p:spPr>
        <p:txBody>
          <a:bodyPr wrap="square" rtlCol="0">
            <a:normAutofit/>
          </a:bodyPr>
          <a:lstStyle/>
          <a:p>
            <a:pPr marL="0" marR="0" algn="l">
              <a:spcBef>
                <a:spcPts val="2700"/>
              </a:spcBef>
              <a:buNone/>
            </a:pPr>
            <a:r>
              <a:rPr sz="1350" b="1">
                <a:solidFill>
                  <a:srgbClr val="1B334D"/>
                </a:solidFill>
                <a:effectLst/>
                <a:latin typeface="Daytona Bold" panose="020B0804030500040204" pitchFamily="34" charset="0"/>
              </a:rPr>
              <a:t>Why support helps </a:t>
            </a:r>
            <a:endParaRPr>
              <a:effectLst/>
            </a:endParaRPr>
          </a:p>
          <a:p>
            <a:pPr marL="0" marR="0" algn="l">
              <a:spcBef>
                <a:spcPts val="450"/>
              </a:spcBef>
              <a:buNone/>
            </a:pPr>
            <a:r>
              <a:rPr sz="1350" b="0">
                <a:solidFill>
                  <a:srgbClr val="1B334D"/>
                </a:solidFill>
                <a:effectLst/>
                <a:latin typeface="Daytona Regular"/>
              </a:rPr>
              <a:t>Prolonged job searching can meaningfully impact mood and daily functioning. Seeking help is a protective, evidence-based step—reviews recommend screening for depression and anxiety in long-term job seekers. </a:t>
            </a:r>
            <a:endParaRPr>
              <a:effectLst/>
            </a:endParaRPr>
          </a:p>
          <a:p>
            <a:pPr marL="0" marR="0" algn="l">
              <a:spcBef>
                <a:spcPts val="1500"/>
              </a:spcBef>
              <a:buNone/>
            </a:pPr>
            <a:r>
              <a:rPr sz="1350" b="1">
                <a:solidFill>
                  <a:srgbClr val="1B334D"/>
                </a:solidFill>
                <a:effectLst/>
                <a:latin typeface="Daytona Bold" panose="020B0804030500040204" pitchFamily="34" charset="0"/>
              </a:rPr>
              <a:t>Signals to reach out </a:t>
            </a:r>
            <a:endParaRPr>
              <a:effectLst/>
            </a:endParaRPr>
          </a:p>
          <a:p>
            <a:pPr marL="0" marR="0" algn="l">
              <a:spcBef>
                <a:spcPts val="450"/>
              </a:spcBef>
              <a:buNone/>
            </a:pPr>
            <a:r>
              <a:rPr sz="1350" b="0">
                <a:solidFill>
                  <a:srgbClr val="1B334D"/>
                </a:solidFill>
                <a:effectLst/>
                <a:latin typeface="Daytona Regular"/>
              </a:rPr>
              <a:t>Persistent low mood or hopelessness, trouble completing daily tasks, or withdrawing from social contact are strong indicators to seek support. </a:t>
            </a:r>
            <a:endParaRPr>
              <a:effectLst/>
            </a:endParaRPr>
          </a:p>
          <a:p>
            <a:pPr marL="0" marR="0" algn="l">
              <a:spcBef>
                <a:spcPts val="1500"/>
              </a:spcBef>
              <a:buNone/>
            </a:pPr>
            <a:r>
              <a:rPr sz="1350" b="1">
                <a:solidFill>
                  <a:srgbClr val="1B334D"/>
                </a:solidFill>
                <a:effectLst/>
                <a:latin typeface="Daytona Bold" panose="020B0804030500040204" pitchFamily="34" charset="0"/>
              </a:rPr>
              <a:t>What works (and who can help) </a:t>
            </a:r>
            <a:endParaRPr>
              <a:effectLst/>
            </a:endParaRPr>
          </a:p>
          <a:p>
            <a:pPr marL="0" marR="0" algn="l">
              <a:spcBef>
                <a:spcPts val="450"/>
              </a:spcBef>
              <a:buNone/>
            </a:pPr>
            <a:r>
              <a:rPr sz="1350" b="0">
                <a:solidFill>
                  <a:srgbClr val="1B334D"/>
                </a:solidFill>
                <a:effectLst/>
                <a:latin typeface="Daytona Regular"/>
              </a:rPr>
              <a:t>Targeted supports—often CBT-based—reduce symptoms and can indirectly improve job outcomes. Group programs or coaching that combine emotional skills with job-search strategy boost well-being and re-employment; career services, peer groups, coaches, and mental health professionals all count. </a:t>
            </a:r>
            <a:endParaRPr>
              <a:effectLst/>
            </a:endParaRPr>
          </a:p>
          <a:p>
            <a:pPr marL="0" marR="0" algn="l">
              <a:spcBef>
                <a:spcPts val="1650"/>
              </a:spcBef>
              <a:buNone/>
            </a:pPr>
            <a:r>
              <a:rPr sz="1350" b="1">
                <a:solidFill>
                  <a:srgbClr val="01615A"/>
                </a:solidFill>
                <a:effectLst/>
                <a:latin typeface="Daytona Bold" panose="020B0804030500040204" pitchFamily="34" charset="0"/>
              </a:rPr>
              <a:t>Reframe: Needing support means the situation is heavy, not that you are weak. </a:t>
            </a:r>
            <a:endParaRPr lang="en-US"/>
          </a:p>
        </p:txBody>
      </p:sp>
    </p:spTree>
    <p:extLst>
      <p:ext uri="{BB962C8B-B14F-4D97-AF65-F5344CB8AC3E}">
        <p14:creationId xmlns:p14="http://schemas.microsoft.com/office/powerpoint/2010/main" val="990333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BBEDC0C-34DD-40CC-9E04-7BA6FDC20C03}"/>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Gen Z female professional working in calm home office setup, CU of hands. The new normal.">
            <a:extLst>
              <a:ext uri="{FF2B5EF4-FFF2-40B4-BE49-F238E27FC236}">
                <a16:creationId xmlns:a16="http://schemas.microsoft.com/office/drawing/2014/main" id="{D73B6FBE-B503-4921-966A-EC1766EEF1F6}"/>
              </a:ext>
            </a:extLst>
          </p:cNvPr>
          <p:cNvPicPr>
            <a:picLocks noGrp="1" noChangeAspect="1"/>
          </p:cNvPicPr>
          <p:nvPr>
            <p:ph sz="quarter" idx="16"/>
          </p:nvPr>
        </p:nvPicPr>
        <p:blipFill>
          <a:blip r:embed="rId5"/>
          <a:stretch>
            <a:fillRect/>
          </a:stretch>
        </p:blipFill>
        <p:spPr>
          <a:xfrm>
            <a:off x="8165306" y="9525"/>
            <a:ext cx="4017019" cy="6858000"/>
          </a:xfrm>
          <a:prstGeom prst="rect">
            <a:avLst/>
          </a:prstGeom>
        </p:spPr>
      </p:pic>
      <p:sp>
        <p:nvSpPr>
          <p:cNvPr id="7" name="TextBox 6">
            <a:extLst>
              <a:ext uri="{FF2B5EF4-FFF2-40B4-BE49-F238E27FC236}">
                <a16:creationId xmlns:a16="http://schemas.microsoft.com/office/drawing/2014/main" id="{A7EC08AC-AEF7-4F09-A244-57207DEDC6F0}"/>
              </a:ext>
            </a:extLst>
          </p:cNvPr>
          <p:cNvSpPr txBox="1"/>
          <p:nvPr/>
        </p:nvSpPr>
        <p:spPr>
          <a:xfrm>
            <a:off x="619125" y="885825"/>
            <a:ext cx="6936581" cy="335160"/>
          </a:xfrm>
          <a:prstGeom prst="rect">
            <a:avLst/>
          </a:prstGeom>
          <a:noFill/>
        </p:spPr>
        <p:txBody>
          <a:bodyPr wrap="square" rtlCol="0">
            <a:normAutofit/>
          </a:bodyPr>
          <a:lstStyle/>
          <a:p>
            <a:pPr marL="0" marR="0" algn="l">
              <a:buNone/>
            </a:pPr>
            <a:r>
              <a:rPr b="1">
                <a:solidFill>
                  <a:srgbClr val="1B334D"/>
                </a:solidFill>
                <a:effectLst/>
                <a:latin typeface="Daytona Bold" panose="020B0804030500040204" pitchFamily="34" charset="0"/>
              </a:rPr>
              <a:t>Your Action Step This Week </a:t>
            </a:r>
            <a:endParaRPr lang="en-US"/>
          </a:p>
        </p:txBody>
      </p:sp>
      <p:sp>
        <p:nvSpPr>
          <p:cNvPr id="8" name="TextBox 7">
            <a:extLst>
              <a:ext uri="{FF2B5EF4-FFF2-40B4-BE49-F238E27FC236}">
                <a16:creationId xmlns:a16="http://schemas.microsoft.com/office/drawing/2014/main" id="{6B9C3EFB-B665-4ABA-9E26-7F6173B40D45}"/>
              </a:ext>
            </a:extLst>
          </p:cNvPr>
          <p:cNvSpPr txBox="1"/>
          <p:nvPr/>
        </p:nvSpPr>
        <p:spPr>
          <a:xfrm>
            <a:off x="619125" y="1952625"/>
            <a:ext cx="6936581" cy="2982664"/>
          </a:xfrm>
          <a:prstGeom prst="rect">
            <a:avLst/>
          </a:prstGeom>
          <a:noFill/>
        </p:spPr>
        <p:txBody>
          <a:bodyPr wrap="square" rtlCol="0">
            <a:normAutofit/>
          </a:bodyPr>
          <a:lstStyle/>
          <a:p>
            <a:pPr marL="0" marR="0" algn="l">
              <a:buNone/>
            </a:pPr>
            <a:r>
              <a:rPr sz="1350" b="0">
                <a:solidFill>
                  <a:srgbClr val="1B334D"/>
                </a:solidFill>
                <a:effectLst/>
                <a:latin typeface="Daytona Regular"/>
              </a:rPr>
              <a:t>After your next rejection, commit to one simple, repeatable step: complete a three-part rejection ritual—write what you learned, what you will adjust, and one thing you did well. </a:t>
            </a:r>
            <a:endParaRPr>
              <a:effectLst/>
            </a:endParaRPr>
          </a:p>
          <a:p>
            <a:pPr marL="0" marR="0" algn="l">
              <a:spcBef>
                <a:spcPts val="1200"/>
              </a:spcBef>
              <a:buNone/>
            </a:pPr>
            <a:r>
              <a:rPr sz="1350" b="0">
                <a:solidFill>
                  <a:srgbClr val="1B334D"/>
                </a:solidFill>
                <a:effectLst/>
                <a:latin typeface="Daytona Regular"/>
              </a:rPr>
              <a:t>Then pick one concrete next action within your control (e.g., refine one application bullet, reach out to one contact, or schedule one practice session) and place it in a defined calendar block. </a:t>
            </a:r>
            <a:endParaRPr>
              <a:effectLst/>
            </a:endParaRPr>
          </a:p>
          <a:p>
            <a:pPr marL="0" marR="0" algn="l">
              <a:spcBef>
                <a:spcPts val="1200"/>
              </a:spcBef>
              <a:buNone/>
            </a:pPr>
            <a:r>
              <a:rPr sz="1350" b="0">
                <a:solidFill>
                  <a:srgbClr val="1B334D"/>
                </a:solidFill>
                <a:effectLst/>
                <a:latin typeface="Daytona Regular"/>
              </a:rPr>
              <a:t>Small mastery experiences rebuild confidence and persistence over time; the calendar block protects follow-through and reduces rumination—so improvement and resilience compound. </a:t>
            </a:r>
            <a:endParaRPr>
              <a:effectLst/>
            </a:endParaRPr>
          </a:p>
          <a:p>
            <a:pPr marL="0" marR="0" algn="l">
              <a:spcBef>
                <a:spcPts val="1650"/>
              </a:spcBef>
              <a:buNone/>
            </a:pPr>
            <a:r>
              <a:rPr sz="1350" b="1">
                <a:solidFill>
                  <a:srgbClr val="01615A"/>
                </a:solidFill>
                <a:effectLst/>
                <a:latin typeface="Daytona Bold" panose="020B0804030500040204" pitchFamily="34" charset="0"/>
              </a:rPr>
              <a:t>Keep the loop moving forward—reflection, adjustment, action. </a:t>
            </a:r>
            <a:endParaRPr lang="en-US"/>
          </a:p>
        </p:txBody>
      </p:sp>
    </p:spTree>
    <p:extLst>
      <p:ext uri="{BB962C8B-B14F-4D97-AF65-F5344CB8AC3E}">
        <p14:creationId xmlns:p14="http://schemas.microsoft.com/office/powerpoint/2010/main" val="1676389991"/>
      </p:ext>
    </p:extLst>
  </p:cSld>
  <p:clrMapOvr>
    <a:masterClrMapping/>
  </p:clrMapOvr>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286F105BDD214FA81D4A6BFB238CC4" ma:contentTypeVersion="19" ma:contentTypeDescription="Create a new document." ma:contentTypeScope="" ma:versionID="fe64a8a06ac5abb6f1946da17dd894f6">
  <xsd:schema xmlns:xsd="http://www.w3.org/2001/XMLSchema" xmlns:xs="http://www.w3.org/2001/XMLSchema" xmlns:p="http://schemas.microsoft.com/office/2006/metadata/properties" xmlns:ns2="991a20c6-7779-4c7e-8e3a-acf878330878" xmlns:ns3="194603e3-38c2-4ee5-8f94-33c99f98e49d" targetNamespace="http://schemas.microsoft.com/office/2006/metadata/properties" ma:root="true" ma:fieldsID="39ee7167373acdab14387c30e3645137" ns2:_="" ns3:_="">
    <xsd:import namespace="991a20c6-7779-4c7e-8e3a-acf878330878"/>
    <xsd:import namespace="194603e3-38c2-4ee5-8f94-33c99f98e49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lcf76f155ced4ddcb4097134ff3c332f" minOccurs="0"/>
                <xsd:element ref="ns2:TaxCatchAll" minOccurs="0"/>
                <xsd:element ref="ns3:MediaServiceSearchProperties" minOccurs="0"/>
                <xsd:element ref="ns3:MediaLengthInSeconds" minOccurs="0"/>
                <xsd:element ref="ns3:Videoinfo"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a20c6-7779-4c7e-8e3a-acf87833087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d07b50ae-e15c-491e-9502-aec67d0a10f6}" ma:internalName="TaxCatchAll" ma:showField="CatchAllData" ma:web="991a20c6-7779-4c7e-8e3a-acf87833087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94603e3-38c2-4ee5-8f94-33c99f98e49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0468a54d-6a37-4c52-9176-b0e2c72a8f97"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element name="Videoinfo" ma:index="24" nillable="true" ma:displayName="Video info" ma:format="Dropdown" ma:internalName="Videoinfo">
      <xsd:simpleType>
        <xsd:restriction base="dms:Text">
          <xsd:maxLength value="255"/>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91a20c6-7779-4c7e-8e3a-acf878330878" xsi:nil="true"/>
    <MediaServiceKeyPoints xmlns="194603e3-38c2-4ee5-8f94-33c99f98e49d" xsi:nil="true"/>
    <lcf76f155ced4ddcb4097134ff3c332f xmlns="194603e3-38c2-4ee5-8f94-33c99f98e49d">
      <Terms xmlns="http://schemas.microsoft.com/office/infopath/2007/PartnerControls"/>
    </lcf76f155ced4ddcb4097134ff3c332f>
    <Videoinfo xmlns="194603e3-38c2-4ee5-8f94-33c99f98e49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9A6D224-046D-492F-A310-8963251DFB6B}"/>
</file>

<file path=customXml/itemProps2.xml><?xml version="1.0" encoding="utf-8"?>
<ds:datastoreItem xmlns:ds="http://schemas.openxmlformats.org/officeDocument/2006/customXml" ds:itemID="{5604CAC9-4DB9-48D9-8A6F-3675D14127D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E753F6F-88D8-493D-A089-0923419088E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GradientRise</Template>
  <TotalTime>124</TotalTime>
  <Words>3582</Words>
  <Application>Microsoft Office PowerPoint</Application>
  <PresentationFormat>Widescreen</PresentationFormat>
  <Paragraphs>101</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Avenir Next LT Pro</vt:lpstr>
      <vt:lpstr>Avenir Next LT Pro Light</vt:lpstr>
      <vt:lpstr>Calibri</vt:lpstr>
      <vt:lpstr>Daytona Bold</vt:lpstr>
      <vt:lpstr>Daytona Regular</vt:lpstr>
      <vt:lpstr>Neue Haas Grotesk Text Pro</vt:lpstr>
      <vt:lpstr>GradientRise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K</dc:creator>
  <cp:lastModifiedBy>Matthew Kohlmorgen</cp:lastModifiedBy>
  <cp:revision>2</cp:revision>
  <dcterms:created xsi:type="dcterms:W3CDTF">2025-08-21T17:09:02Z</dcterms:created>
  <dcterms:modified xsi:type="dcterms:W3CDTF">2026-03-16T15:09:06Z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0x010100AD286F105BDD214FA81D4A6BFB238CC4</vt:lpwstr>
  </property>
  <property fmtid="{D5CDD505-2E9C-101B-9397-08002B2CF9AE}" pid="3" name="MediaServiceImageTags">
    <vt:lpwstr/>
  </property>
</Properties>
</file>